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71" r:id="rId9"/>
    <p:sldId id="265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3" r:id="rId41"/>
    <p:sldId id="304" r:id="rId42"/>
    <p:sldId id="306" r:id="rId43"/>
    <p:sldId id="307" r:id="rId44"/>
    <p:sldId id="308" r:id="rId45"/>
    <p:sldId id="309" r:id="rId46"/>
    <p:sldId id="311" r:id="rId47"/>
    <p:sldId id="312" r:id="rId48"/>
    <p:sldId id="313" r:id="rId49"/>
    <p:sldId id="314" r:id="rId50"/>
    <p:sldId id="315" r:id="rId51"/>
    <p:sldId id="316" r:id="rId52"/>
    <p:sldId id="318" r:id="rId53"/>
    <p:sldId id="319" r:id="rId54"/>
    <p:sldId id="320" r:id="rId55"/>
    <p:sldId id="322" r:id="rId56"/>
    <p:sldId id="321" r:id="rId57"/>
    <p:sldId id="323" r:id="rId58"/>
    <p:sldId id="324" r:id="rId59"/>
    <p:sldId id="326" r:id="rId60"/>
    <p:sldId id="328" r:id="rId61"/>
    <p:sldId id="329" r:id="rId62"/>
    <p:sldId id="330" r:id="rId63"/>
    <p:sldId id="327" r:id="rId64"/>
    <p:sldId id="331" r:id="rId65"/>
    <p:sldId id="332" r:id="rId66"/>
    <p:sldId id="333" r:id="rId67"/>
    <p:sldId id="334" r:id="rId68"/>
    <p:sldId id="335" r:id="rId69"/>
    <p:sldId id="336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2433"/>
    <a:srgbClr val="92D050"/>
    <a:srgbClr val="A02B93"/>
    <a:srgbClr val="E8E8E8"/>
    <a:srgbClr val="7F7F7F"/>
    <a:srgbClr val="156082"/>
    <a:srgbClr val="FFDB69"/>
    <a:srgbClr val="FF0000"/>
    <a:srgbClr val="A27B00"/>
    <a:srgbClr val="7D7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6" autoAdjust="0"/>
    <p:restoredTop sz="95698" autoAdjust="0"/>
  </p:normalViewPr>
  <p:slideViewPr>
    <p:cSldViewPr snapToGrid="0">
      <p:cViewPr>
        <p:scale>
          <a:sx n="100" d="100"/>
          <a:sy n="100" d="100"/>
        </p:scale>
        <p:origin x="22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850294-6F83-48BA-94BA-9B3425BC7B44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6DA7FA-7762-4CD1-B808-0AFDDC0A83D7}">
      <dgm:prSet phldrT="[Text]" phldr="0"/>
      <dgm:spPr/>
      <dgm:t>
        <a:bodyPr/>
        <a:lstStyle/>
        <a:p>
          <a:endParaRPr lang="en-US" dirty="0"/>
        </a:p>
      </dgm:t>
    </dgm:pt>
    <dgm:pt modelId="{6F5F6CCB-A354-49B1-8511-BF530AC3477E}" type="parTrans" cxnId="{35421D1E-3160-49AD-9991-A6A8717EABDB}">
      <dgm:prSet/>
      <dgm:spPr/>
      <dgm:t>
        <a:bodyPr/>
        <a:lstStyle/>
        <a:p>
          <a:endParaRPr lang="en-US"/>
        </a:p>
      </dgm:t>
    </dgm:pt>
    <dgm:pt modelId="{4E5866E5-ECE9-4934-9323-1FB0FF285EAA}" type="sibTrans" cxnId="{35421D1E-3160-49AD-9991-A6A8717EABDB}">
      <dgm:prSet/>
      <dgm:spPr/>
      <dgm:t>
        <a:bodyPr/>
        <a:lstStyle/>
        <a:p>
          <a:endParaRPr lang="en-US"/>
        </a:p>
      </dgm:t>
    </dgm:pt>
    <dgm:pt modelId="{D5147973-FE0B-49E8-B9F5-657906E73343}">
      <dgm:prSet phldrT="[Text]" phldr="0"/>
      <dgm:spPr/>
      <dgm:t>
        <a:bodyPr/>
        <a:lstStyle/>
        <a:p>
          <a:endParaRPr lang="en-US" dirty="0"/>
        </a:p>
      </dgm:t>
    </dgm:pt>
    <dgm:pt modelId="{ED8655DE-DFEF-48EA-860B-FB86FBD63E6F}" type="parTrans" cxnId="{4D91E495-C37F-49CA-AEBB-3F6F9982E108}">
      <dgm:prSet/>
      <dgm:spPr/>
      <dgm:t>
        <a:bodyPr/>
        <a:lstStyle/>
        <a:p>
          <a:endParaRPr lang="en-US"/>
        </a:p>
      </dgm:t>
    </dgm:pt>
    <dgm:pt modelId="{FD18D592-DC4C-4901-B9BF-3FD262DE5CB8}" type="sibTrans" cxnId="{4D91E495-C37F-49CA-AEBB-3F6F9982E108}">
      <dgm:prSet/>
      <dgm:spPr/>
      <dgm:t>
        <a:bodyPr/>
        <a:lstStyle/>
        <a:p>
          <a:endParaRPr lang="en-US"/>
        </a:p>
      </dgm:t>
    </dgm:pt>
    <dgm:pt modelId="{3810DA7C-EF6A-44FA-BB07-98B2D1B39310}">
      <dgm:prSet phldrT="[Text]" phldr="0"/>
      <dgm:spPr/>
      <dgm:t>
        <a:bodyPr/>
        <a:lstStyle/>
        <a:p>
          <a:endParaRPr lang="en-US" dirty="0"/>
        </a:p>
      </dgm:t>
    </dgm:pt>
    <dgm:pt modelId="{A1658B1A-86FC-4DDF-8B4B-425E8A1F7ECA}" type="parTrans" cxnId="{7803C3C5-E54E-4448-AAF8-FFE1FEEAE200}">
      <dgm:prSet/>
      <dgm:spPr/>
      <dgm:t>
        <a:bodyPr/>
        <a:lstStyle/>
        <a:p>
          <a:endParaRPr lang="en-US"/>
        </a:p>
      </dgm:t>
    </dgm:pt>
    <dgm:pt modelId="{324E9F63-154C-4A00-9804-B814780F88B0}" type="sibTrans" cxnId="{7803C3C5-E54E-4448-AAF8-FFE1FEEAE200}">
      <dgm:prSet/>
      <dgm:spPr/>
      <dgm:t>
        <a:bodyPr/>
        <a:lstStyle/>
        <a:p>
          <a:endParaRPr lang="en-US"/>
        </a:p>
      </dgm:t>
    </dgm:pt>
    <dgm:pt modelId="{EEE28C64-A72B-440E-9565-39EF4FE2F3A8}">
      <dgm:prSet phldrT="[Text]" phldr="0"/>
      <dgm:spPr/>
      <dgm:t>
        <a:bodyPr/>
        <a:lstStyle/>
        <a:p>
          <a:endParaRPr lang="en-US" dirty="0"/>
        </a:p>
      </dgm:t>
    </dgm:pt>
    <dgm:pt modelId="{D0FEFEF3-6F43-4147-9A22-DB910CE5A7DB}" type="parTrans" cxnId="{B0D2EAB9-95D6-4348-A79D-C5762078EFD3}">
      <dgm:prSet/>
      <dgm:spPr/>
      <dgm:t>
        <a:bodyPr/>
        <a:lstStyle/>
        <a:p>
          <a:endParaRPr lang="en-US"/>
        </a:p>
      </dgm:t>
    </dgm:pt>
    <dgm:pt modelId="{E1D2D39D-C722-43C9-B999-631AB026D583}" type="sibTrans" cxnId="{B0D2EAB9-95D6-4348-A79D-C5762078EFD3}">
      <dgm:prSet/>
      <dgm:spPr/>
      <dgm:t>
        <a:bodyPr/>
        <a:lstStyle/>
        <a:p>
          <a:endParaRPr lang="en-US"/>
        </a:p>
      </dgm:t>
    </dgm:pt>
    <dgm:pt modelId="{44A17C9B-D923-4A1B-85EE-3D40EDAF3564}">
      <dgm:prSet phldrT="[Text]" phldr="0"/>
      <dgm:spPr/>
      <dgm:t>
        <a:bodyPr/>
        <a:lstStyle/>
        <a:p>
          <a:endParaRPr lang="en-US" dirty="0"/>
        </a:p>
      </dgm:t>
    </dgm:pt>
    <dgm:pt modelId="{9014D04D-DEDE-492C-ADF1-DB0506532556}" type="parTrans" cxnId="{9714E932-ACE4-4062-A488-24E867D1D7D3}">
      <dgm:prSet/>
      <dgm:spPr/>
      <dgm:t>
        <a:bodyPr/>
        <a:lstStyle/>
        <a:p>
          <a:endParaRPr lang="en-US"/>
        </a:p>
      </dgm:t>
    </dgm:pt>
    <dgm:pt modelId="{6E9E5C68-8EC8-415F-8FCB-B8FB09F30228}" type="sibTrans" cxnId="{9714E932-ACE4-4062-A488-24E867D1D7D3}">
      <dgm:prSet/>
      <dgm:spPr/>
      <dgm:t>
        <a:bodyPr/>
        <a:lstStyle/>
        <a:p>
          <a:endParaRPr lang="en-US"/>
        </a:p>
      </dgm:t>
    </dgm:pt>
    <dgm:pt modelId="{9453C7D6-529C-429A-A669-CC4470030E4D}">
      <dgm:prSet/>
      <dgm:spPr/>
      <dgm:t>
        <a:bodyPr/>
        <a:lstStyle/>
        <a:p>
          <a:endParaRPr lang="en-US" dirty="0"/>
        </a:p>
      </dgm:t>
    </dgm:pt>
    <dgm:pt modelId="{EC009DE6-3BE0-420A-902D-BD9ABCF0C38D}" type="parTrans" cxnId="{6299197F-BDB0-4722-8747-3338B7E74B7B}">
      <dgm:prSet/>
      <dgm:spPr/>
      <dgm:t>
        <a:bodyPr/>
        <a:lstStyle/>
        <a:p>
          <a:endParaRPr lang="en-US"/>
        </a:p>
      </dgm:t>
    </dgm:pt>
    <dgm:pt modelId="{4E5E324F-A2FE-42E4-B3E4-2785CF27D2C1}" type="sibTrans" cxnId="{6299197F-BDB0-4722-8747-3338B7E74B7B}">
      <dgm:prSet/>
      <dgm:spPr/>
      <dgm:t>
        <a:bodyPr/>
        <a:lstStyle/>
        <a:p>
          <a:endParaRPr lang="en-US"/>
        </a:p>
      </dgm:t>
    </dgm:pt>
    <dgm:pt modelId="{3DF896A6-3FCA-4FD7-971F-3AE83684B91F}">
      <dgm:prSet/>
      <dgm:spPr/>
      <dgm:t>
        <a:bodyPr/>
        <a:lstStyle/>
        <a:p>
          <a:endParaRPr lang="en-US"/>
        </a:p>
      </dgm:t>
    </dgm:pt>
    <dgm:pt modelId="{D2D45F1F-3B69-4036-8D3E-A4228DF41CCB}" type="parTrans" cxnId="{AB813512-88C7-48E6-B5DE-490915E6189A}">
      <dgm:prSet/>
      <dgm:spPr/>
      <dgm:t>
        <a:bodyPr/>
        <a:lstStyle/>
        <a:p>
          <a:endParaRPr lang="en-US"/>
        </a:p>
      </dgm:t>
    </dgm:pt>
    <dgm:pt modelId="{0A2B3335-D5E9-40BC-92CF-F747BA6400E3}" type="sibTrans" cxnId="{AB813512-88C7-48E6-B5DE-490915E6189A}">
      <dgm:prSet/>
      <dgm:spPr/>
      <dgm:t>
        <a:bodyPr/>
        <a:lstStyle/>
        <a:p>
          <a:endParaRPr lang="en-US"/>
        </a:p>
      </dgm:t>
    </dgm:pt>
    <dgm:pt modelId="{1F24304C-2A7F-49E6-9A29-9E302B9D7A3F}" type="pres">
      <dgm:prSet presAssocID="{33850294-6F83-48BA-94BA-9B3425BC7B44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CD70E0-3BBB-4F43-ACD0-534C4F4CAEB5}" type="pres">
      <dgm:prSet presAssocID="{676DA7FA-7762-4CD1-B808-0AFDDC0A83D7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09C866-066D-4EF5-A1B0-B3E494A82886}" type="pres">
      <dgm:prSet presAssocID="{4E5866E5-ECE9-4934-9323-1FB0FF285EAA}" presName="sibTrans" presStyleLbl="sibTrans2D1" presStyleIdx="0" presStyleCnt="7"/>
      <dgm:spPr/>
      <dgm:t>
        <a:bodyPr/>
        <a:lstStyle/>
        <a:p>
          <a:endParaRPr lang="en-US"/>
        </a:p>
      </dgm:t>
    </dgm:pt>
    <dgm:pt modelId="{0E03C334-521B-4EEF-8663-D76F5A3DECCB}" type="pres">
      <dgm:prSet presAssocID="{4E5866E5-ECE9-4934-9323-1FB0FF285EAA}" presName="connectorText" presStyleLbl="sibTrans2D1" presStyleIdx="0" presStyleCnt="7"/>
      <dgm:spPr/>
      <dgm:t>
        <a:bodyPr/>
        <a:lstStyle/>
        <a:p>
          <a:endParaRPr lang="en-US"/>
        </a:p>
      </dgm:t>
    </dgm:pt>
    <dgm:pt modelId="{3D1AB869-C81E-46FE-80E3-A91E5B753E2A}" type="pres">
      <dgm:prSet presAssocID="{D5147973-FE0B-49E8-B9F5-657906E73343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84C9FD-E1EC-4877-B49A-30872C3FA575}" type="pres">
      <dgm:prSet presAssocID="{FD18D592-DC4C-4901-B9BF-3FD262DE5CB8}" presName="sibTrans" presStyleLbl="sibTrans2D1" presStyleIdx="1" presStyleCnt="7"/>
      <dgm:spPr/>
      <dgm:t>
        <a:bodyPr/>
        <a:lstStyle/>
        <a:p>
          <a:endParaRPr lang="en-US"/>
        </a:p>
      </dgm:t>
    </dgm:pt>
    <dgm:pt modelId="{FF4E306A-CCA0-4E34-81A6-21EEC40B43A3}" type="pres">
      <dgm:prSet presAssocID="{FD18D592-DC4C-4901-B9BF-3FD262DE5CB8}" presName="connectorText" presStyleLbl="sibTrans2D1" presStyleIdx="1" presStyleCnt="7"/>
      <dgm:spPr/>
      <dgm:t>
        <a:bodyPr/>
        <a:lstStyle/>
        <a:p>
          <a:endParaRPr lang="en-US"/>
        </a:p>
      </dgm:t>
    </dgm:pt>
    <dgm:pt modelId="{C344B4E1-616F-49FB-B03A-2474DF412D2E}" type="pres">
      <dgm:prSet presAssocID="{3810DA7C-EF6A-44FA-BB07-98B2D1B39310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09F032-CA82-4E86-8BFE-BB5A0B5A43B4}" type="pres">
      <dgm:prSet presAssocID="{324E9F63-154C-4A00-9804-B814780F88B0}" presName="sibTrans" presStyleLbl="sibTrans2D1" presStyleIdx="2" presStyleCnt="7"/>
      <dgm:spPr/>
      <dgm:t>
        <a:bodyPr/>
        <a:lstStyle/>
        <a:p>
          <a:endParaRPr lang="en-US"/>
        </a:p>
      </dgm:t>
    </dgm:pt>
    <dgm:pt modelId="{11AE863D-299B-47E3-824E-0939FFE7C413}" type="pres">
      <dgm:prSet presAssocID="{324E9F63-154C-4A00-9804-B814780F88B0}" presName="connectorText" presStyleLbl="sibTrans2D1" presStyleIdx="2" presStyleCnt="7"/>
      <dgm:spPr/>
      <dgm:t>
        <a:bodyPr/>
        <a:lstStyle/>
        <a:p>
          <a:endParaRPr lang="en-US"/>
        </a:p>
      </dgm:t>
    </dgm:pt>
    <dgm:pt modelId="{EEFF49E5-40FA-41E7-B7BA-8E012FBF04F7}" type="pres">
      <dgm:prSet presAssocID="{EEE28C64-A72B-440E-9565-39EF4FE2F3A8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05131D-574E-4D08-B096-06C93437C485}" type="pres">
      <dgm:prSet presAssocID="{E1D2D39D-C722-43C9-B999-631AB026D583}" presName="sibTrans" presStyleLbl="sibTrans2D1" presStyleIdx="3" presStyleCnt="7"/>
      <dgm:spPr/>
      <dgm:t>
        <a:bodyPr/>
        <a:lstStyle/>
        <a:p>
          <a:endParaRPr lang="en-US"/>
        </a:p>
      </dgm:t>
    </dgm:pt>
    <dgm:pt modelId="{5ED91A2E-2AF2-4D04-BF44-479EAB5E1273}" type="pres">
      <dgm:prSet presAssocID="{E1D2D39D-C722-43C9-B999-631AB026D583}" presName="connectorText" presStyleLbl="sibTrans2D1" presStyleIdx="3" presStyleCnt="7"/>
      <dgm:spPr/>
      <dgm:t>
        <a:bodyPr/>
        <a:lstStyle/>
        <a:p>
          <a:endParaRPr lang="en-US"/>
        </a:p>
      </dgm:t>
    </dgm:pt>
    <dgm:pt modelId="{0CC4F3A5-FEE8-4698-BEA4-D566B0E6E719}" type="pres">
      <dgm:prSet presAssocID="{44A17C9B-D923-4A1B-85EE-3D40EDAF3564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02BD0D-33F3-48FC-89F1-74761BCA849C}" type="pres">
      <dgm:prSet presAssocID="{6E9E5C68-8EC8-415F-8FCB-B8FB09F30228}" presName="sibTrans" presStyleLbl="sibTrans2D1" presStyleIdx="4" presStyleCnt="7"/>
      <dgm:spPr/>
      <dgm:t>
        <a:bodyPr/>
        <a:lstStyle/>
        <a:p>
          <a:endParaRPr lang="en-US"/>
        </a:p>
      </dgm:t>
    </dgm:pt>
    <dgm:pt modelId="{FA3C59F9-7D83-4BDB-8D1B-6EAAD07CD6A5}" type="pres">
      <dgm:prSet presAssocID="{6E9E5C68-8EC8-415F-8FCB-B8FB09F30228}" presName="connectorText" presStyleLbl="sibTrans2D1" presStyleIdx="4" presStyleCnt="7"/>
      <dgm:spPr/>
      <dgm:t>
        <a:bodyPr/>
        <a:lstStyle/>
        <a:p>
          <a:endParaRPr lang="en-US"/>
        </a:p>
      </dgm:t>
    </dgm:pt>
    <dgm:pt modelId="{B9C92011-8BFC-4EBE-BC60-1C60BF8C5F85}" type="pres">
      <dgm:prSet presAssocID="{9453C7D6-529C-429A-A669-CC4470030E4D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701F6C-9227-4B85-A27D-BE681938A613}" type="pres">
      <dgm:prSet presAssocID="{4E5E324F-A2FE-42E4-B3E4-2785CF27D2C1}" presName="sibTrans" presStyleLbl="sibTrans2D1" presStyleIdx="5" presStyleCnt="7"/>
      <dgm:spPr/>
      <dgm:t>
        <a:bodyPr/>
        <a:lstStyle/>
        <a:p>
          <a:endParaRPr lang="en-US"/>
        </a:p>
      </dgm:t>
    </dgm:pt>
    <dgm:pt modelId="{1C743BB8-F8A8-48CD-AD8E-18DFA79C0B12}" type="pres">
      <dgm:prSet presAssocID="{4E5E324F-A2FE-42E4-B3E4-2785CF27D2C1}" presName="connectorText" presStyleLbl="sibTrans2D1" presStyleIdx="5" presStyleCnt="7"/>
      <dgm:spPr/>
      <dgm:t>
        <a:bodyPr/>
        <a:lstStyle/>
        <a:p>
          <a:endParaRPr lang="en-US"/>
        </a:p>
      </dgm:t>
    </dgm:pt>
    <dgm:pt modelId="{4C03B01C-4CD8-4336-8BDC-880361BC041E}" type="pres">
      <dgm:prSet presAssocID="{3DF896A6-3FCA-4FD7-971F-3AE83684B91F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84A183-C187-40B8-B8CD-3921BC9ACA44}" type="pres">
      <dgm:prSet presAssocID="{0A2B3335-D5E9-40BC-92CF-F747BA6400E3}" presName="sibTrans" presStyleLbl="sibTrans2D1" presStyleIdx="6" presStyleCnt="7"/>
      <dgm:spPr/>
      <dgm:t>
        <a:bodyPr/>
        <a:lstStyle/>
        <a:p>
          <a:endParaRPr lang="en-US"/>
        </a:p>
      </dgm:t>
    </dgm:pt>
    <dgm:pt modelId="{49730A01-8FED-4C36-ACD0-84D3204D95BF}" type="pres">
      <dgm:prSet presAssocID="{0A2B3335-D5E9-40BC-92CF-F747BA6400E3}" presName="connectorText" presStyleLbl="sibTrans2D1" presStyleIdx="6" presStyleCnt="7"/>
      <dgm:spPr/>
      <dgm:t>
        <a:bodyPr/>
        <a:lstStyle/>
        <a:p>
          <a:endParaRPr lang="en-US"/>
        </a:p>
      </dgm:t>
    </dgm:pt>
  </dgm:ptLst>
  <dgm:cxnLst>
    <dgm:cxn modelId="{52847472-4A68-4957-98CD-EC85F536BC38}" type="presOf" srcId="{4E5E324F-A2FE-42E4-B3E4-2785CF27D2C1}" destId="{1C743BB8-F8A8-48CD-AD8E-18DFA79C0B12}" srcOrd="1" destOrd="0" presId="urn:microsoft.com/office/officeart/2005/8/layout/cycle2"/>
    <dgm:cxn modelId="{14B47948-4D1C-4725-9EEF-7BF7549583AA}" type="presOf" srcId="{EEE28C64-A72B-440E-9565-39EF4FE2F3A8}" destId="{EEFF49E5-40FA-41E7-B7BA-8E012FBF04F7}" srcOrd="0" destOrd="0" presId="urn:microsoft.com/office/officeart/2005/8/layout/cycle2"/>
    <dgm:cxn modelId="{8FDA2F47-AA4A-40D0-8A78-BD741FEF0A80}" type="presOf" srcId="{3810DA7C-EF6A-44FA-BB07-98B2D1B39310}" destId="{C344B4E1-616F-49FB-B03A-2474DF412D2E}" srcOrd="0" destOrd="0" presId="urn:microsoft.com/office/officeart/2005/8/layout/cycle2"/>
    <dgm:cxn modelId="{B0D2EAB9-95D6-4348-A79D-C5762078EFD3}" srcId="{33850294-6F83-48BA-94BA-9B3425BC7B44}" destId="{EEE28C64-A72B-440E-9565-39EF4FE2F3A8}" srcOrd="3" destOrd="0" parTransId="{D0FEFEF3-6F43-4147-9A22-DB910CE5A7DB}" sibTransId="{E1D2D39D-C722-43C9-B999-631AB026D583}"/>
    <dgm:cxn modelId="{99F4C992-4B4A-4A55-BC8D-45695A558481}" type="presOf" srcId="{E1D2D39D-C722-43C9-B999-631AB026D583}" destId="{5ED91A2E-2AF2-4D04-BF44-479EAB5E1273}" srcOrd="1" destOrd="0" presId="urn:microsoft.com/office/officeart/2005/8/layout/cycle2"/>
    <dgm:cxn modelId="{0DB10A0E-6339-49AA-A7F6-92D42AEF6D2B}" type="presOf" srcId="{0A2B3335-D5E9-40BC-92CF-F747BA6400E3}" destId="{6784A183-C187-40B8-B8CD-3921BC9ACA44}" srcOrd="0" destOrd="0" presId="urn:microsoft.com/office/officeart/2005/8/layout/cycle2"/>
    <dgm:cxn modelId="{3A0F8F23-00C4-42D1-B9F6-8E7000595EF6}" type="presOf" srcId="{3DF896A6-3FCA-4FD7-971F-3AE83684B91F}" destId="{4C03B01C-4CD8-4336-8BDC-880361BC041E}" srcOrd="0" destOrd="0" presId="urn:microsoft.com/office/officeart/2005/8/layout/cycle2"/>
    <dgm:cxn modelId="{39811CA0-0411-4330-8ADD-ADDC16207610}" type="presOf" srcId="{33850294-6F83-48BA-94BA-9B3425BC7B44}" destId="{1F24304C-2A7F-49E6-9A29-9E302B9D7A3F}" srcOrd="0" destOrd="0" presId="urn:microsoft.com/office/officeart/2005/8/layout/cycle2"/>
    <dgm:cxn modelId="{AB813512-88C7-48E6-B5DE-490915E6189A}" srcId="{33850294-6F83-48BA-94BA-9B3425BC7B44}" destId="{3DF896A6-3FCA-4FD7-971F-3AE83684B91F}" srcOrd="6" destOrd="0" parTransId="{D2D45F1F-3B69-4036-8D3E-A4228DF41CCB}" sibTransId="{0A2B3335-D5E9-40BC-92CF-F747BA6400E3}"/>
    <dgm:cxn modelId="{DFB6C26B-5CFD-43DD-A3B8-69C6F0728B6D}" type="presOf" srcId="{0A2B3335-D5E9-40BC-92CF-F747BA6400E3}" destId="{49730A01-8FED-4C36-ACD0-84D3204D95BF}" srcOrd="1" destOrd="0" presId="urn:microsoft.com/office/officeart/2005/8/layout/cycle2"/>
    <dgm:cxn modelId="{4C8BCD5E-A199-46A4-A6FB-D163EED0EBB1}" type="presOf" srcId="{324E9F63-154C-4A00-9804-B814780F88B0}" destId="{11AE863D-299B-47E3-824E-0939FFE7C413}" srcOrd="1" destOrd="0" presId="urn:microsoft.com/office/officeart/2005/8/layout/cycle2"/>
    <dgm:cxn modelId="{C73FA231-2177-4AEB-98F7-1B49B25C5D81}" type="presOf" srcId="{676DA7FA-7762-4CD1-B808-0AFDDC0A83D7}" destId="{79CD70E0-3BBB-4F43-ACD0-534C4F4CAEB5}" srcOrd="0" destOrd="0" presId="urn:microsoft.com/office/officeart/2005/8/layout/cycle2"/>
    <dgm:cxn modelId="{D898B56E-056C-45A3-BB0D-06DB7D604D7E}" type="presOf" srcId="{D5147973-FE0B-49E8-B9F5-657906E73343}" destId="{3D1AB869-C81E-46FE-80E3-A91E5B753E2A}" srcOrd="0" destOrd="0" presId="urn:microsoft.com/office/officeart/2005/8/layout/cycle2"/>
    <dgm:cxn modelId="{5E80823D-BF8E-4D74-8986-2F442E901D80}" type="presOf" srcId="{4E5866E5-ECE9-4934-9323-1FB0FF285EAA}" destId="{0E03C334-521B-4EEF-8663-D76F5A3DECCB}" srcOrd="1" destOrd="0" presId="urn:microsoft.com/office/officeart/2005/8/layout/cycle2"/>
    <dgm:cxn modelId="{9714E932-ACE4-4062-A488-24E867D1D7D3}" srcId="{33850294-6F83-48BA-94BA-9B3425BC7B44}" destId="{44A17C9B-D923-4A1B-85EE-3D40EDAF3564}" srcOrd="4" destOrd="0" parTransId="{9014D04D-DEDE-492C-ADF1-DB0506532556}" sibTransId="{6E9E5C68-8EC8-415F-8FCB-B8FB09F30228}"/>
    <dgm:cxn modelId="{6299197F-BDB0-4722-8747-3338B7E74B7B}" srcId="{33850294-6F83-48BA-94BA-9B3425BC7B44}" destId="{9453C7D6-529C-429A-A669-CC4470030E4D}" srcOrd="5" destOrd="0" parTransId="{EC009DE6-3BE0-420A-902D-BD9ABCF0C38D}" sibTransId="{4E5E324F-A2FE-42E4-B3E4-2785CF27D2C1}"/>
    <dgm:cxn modelId="{0DD8BB8B-246F-4738-BAA0-7FEDF407D1BE}" type="presOf" srcId="{6E9E5C68-8EC8-415F-8FCB-B8FB09F30228}" destId="{FA3C59F9-7D83-4BDB-8D1B-6EAAD07CD6A5}" srcOrd="1" destOrd="0" presId="urn:microsoft.com/office/officeart/2005/8/layout/cycle2"/>
    <dgm:cxn modelId="{35421D1E-3160-49AD-9991-A6A8717EABDB}" srcId="{33850294-6F83-48BA-94BA-9B3425BC7B44}" destId="{676DA7FA-7762-4CD1-B808-0AFDDC0A83D7}" srcOrd="0" destOrd="0" parTransId="{6F5F6CCB-A354-49B1-8511-BF530AC3477E}" sibTransId="{4E5866E5-ECE9-4934-9323-1FB0FF285EAA}"/>
    <dgm:cxn modelId="{161C48B1-9E1A-44C3-AD32-0D21CE2FD272}" type="presOf" srcId="{4E5E324F-A2FE-42E4-B3E4-2785CF27D2C1}" destId="{DF701F6C-9227-4B85-A27D-BE681938A613}" srcOrd="0" destOrd="0" presId="urn:microsoft.com/office/officeart/2005/8/layout/cycle2"/>
    <dgm:cxn modelId="{E864B82A-8FB0-4A9F-836C-C28D747EFA1F}" type="presOf" srcId="{FD18D592-DC4C-4901-B9BF-3FD262DE5CB8}" destId="{FF4E306A-CCA0-4E34-81A6-21EEC40B43A3}" srcOrd="1" destOrd="0" presId="urn:microsoft.com/office/officeart/2005/8/layout/cycle2"/>
    <dgm:cxn modelId="{161DD768-548F-4AA6-8BC5-82AE2E810DBF}" type="presOf" srcId="{4E5866E5-ECE9-4934-9323-1FB0FF285EAA}" destId="{FF09C866-066D-4EF5-A1B0-B3E494A82886}" srcOrd="0" destOrd="0" presId="urn:microsoft.com/office/officeart/2005/8/layout/cycle2"/>
    <dgm:cxn modelId="{4D91E495-C37F-49CA-AEBB-3F6F9982E108}" srcId="{33850294-6F83-48BA-94BA-9B3425BC7B44}" destId="{D5147973-FE0B-49E8-B9F5-657906E73343}" srcOrd="1" destOrd="0" parTransId="{ED8655DE-DFEF-48EA-860B-FB86FBD63E6F}" sibTransId="{FD18D592-DC4C-4901-B9BF-3FD262DE5CB8}"/>
    <dgm:cxn modelId="{24158FDB-78DC-4F5B-A751-FA83777DFC6F}" type="presOf" srcId="{FD18D592-DC4C-4901-B9BF-3FD262DE5CB8}" destId="{DC84C9FD-E1EC-4877-B49A-30872C3FA575}" srcOrd="0" destOrd="0" presId="urn:microsoft.com/office/officeart/2005/8/layout/cycle2"/>
    <dgm:cxn modelId="{CB8525A6-C1BE-46F9-A811-B3C7A3DC01B5}" type="presOf" srcId="{44A17C9B-D923-4A1B-85EE-3D40EDAF3564}" destId="{0CC4F3A5-FEE8-4698-BEA4-D566B0E6E719}" srcOrd="0" destOrd="0" presId="urn:microsoft.com/office/officeart/2005/8/layout/cycle2"/>
    <dgm:cxn modelId="{714BA25A-5047-4FE5-8075-65A828D7948A}" type="presOf" srcId="{9453C7D6-529C-429A-A669-CC4470030E4D}" destId="{B9C92011-8BFC-4EBE-BC60-1C60BF8C5F85}" srcOrd="0" destOrd="0" presId="urn:microsoft.com/office/officeart/2005/8/layout/cycle2"/>
    <dgm:cxn modelId="{82B43352-D335-4A45-AE5D-8DFC5E2A85A3}" type="presOf" srcId="{324E9F63-154C-4A00-9804-B814780F88B0}" destId="{F809F032-CA82-4E86-8BFE-BB5A0B5A43B4}" srcOrd="0" destOrd="0" presId="urn:microsoft.com/office/officeart/2005/8/layout/cycle2"/>
    <dgm:cxn modelId="{7803C3C5-E54E-4448-AAF8-FFE1FEEAE200}" srcId="{33850294-6F83-48BA-94BA-9B3425BC7B44}" destId="{3810DA7C-EF6A-44FA-BB07-98B2D1B39310}" srcOrd="2" destOrd="0" parTransId="{A1658B1A-86FC-4DDF-8B4B-425E8A1F7ECA}" sibTransId="{324E9F63-154C-4A00-9804-B814780F88B0}"/>
    <dgm:cxn modelId="{3654ACB0-D604-45E5-A058-FCF159CC5601}" type="presOf" srcId="{E1D2D39D-C722-43C9-B999-631AB026D583}" destId="{3005131D-574E-4D08-B096-06C93437C485}" srcOrd="0" destOrd="0" presId="urn:microsoft.com/office/officeart/2005/8/layout/cycle2"/>
    <dgm:cxn modelId="{751C6BEF-4D1C-4302-B4FF-695AFEA77539}" type="presOf" srcId="{6E9E5C68-8EC8-415F-8FCB-B8FB09F30228}" destId="{4E02BD0D-33F3-48FC-89F1-74761BCA849C}" srcOrd="0" destOrd="0" presId="urn:microsoft.com/office/officeart/2005/8/layout/cycle2"/>
    <dgm:cxn modelId="{7BC15494-15F1-4C98-B16C-9F02B7551FE3}" type="presParOf" srcId="{1F24304C-2A7F-49E6-9A29-9E302B9D7A3F}" destId="{79CD70E0-3BBB-4F43-ACD0-534C4F4CAEB5}" srcOrd="0" destOrd="0" presId="urn:microsoft.com/office/officeart/2005/8/layout/cycle2"/>
    <dgm:cxn modelId="{28DD1DCF-5CB1-44F5-AF10-FAE301176372}" type="presParOf" srcId="{1F24304C-2A7F-49E6-9A29-9E302B9D7A3F}" destId="{FF09C866-066D-4EF5-A1B0-B3E494A82886}" srcOrd="1" destOrd="0" presId="urn:microsoft.com/office/officeart/2005/8/layout/cycle2"/>
    <dgm:cxn modelId="{C7405871-156A-4F96-A13D-E532714BA171}" type="presParOf" srcId="{FF09C866-066D-4EF5-A1B0-B3E494A82886}" destId="{0E03C334-521B-4EEF-8663-D76F5A3DECCB}" srcOrd="0" destOrd="0" presId="urn:microsoft.com/office/officeart/2005/8/layout/cycle2"/>
    <dgm:cxn modelId="{DCE7AD79-BB63-4EDE-B465-28F193BCD9D4}" type="presParOf" srcId="{1F24304C-2A7F-49E6-9A29-9E302B9D7A3F}" destId="{3D1AB869-C81E-46FE-80E3-A91E5B753E2A}" srcOrd="2" destOrd="0" presId="urn:microsoft.com/office/officeart/2005/8/layout/cycle2"/>
    <dgm:cxn modelId="{EFD01150-6F13-4A2F-9474-CCCC8974B2E1}" type="presParOf" srcId="{1F24304C-2A7F-49E6-9A29-9E302B9D7A3F}" destId="{DC84C9FD-E1EC-4877-B49A-30872C3FA575}" srcOrd="3" destOrd="0" presId="urn:microsoft.com/office/officeart/2005/8/layout/cycle2"/>
    <dgm:cxn modelId="{1B7E4798-AEB8-44BB-A691-81E6F367331D}" type="presParOf" srcId="{DC84C9FD-E1EC-4877-B49A-30872C3FA575}" destId="{FF4E306A-CCA0-4E34-81A6-21EEC40B43A3}" srcOrd="0" destOrd="0" presId="urn:microsoft.com/office/officeart/2005/8/layout/cycle2"/>
    <dgm:cxn modelId="{B132ED9C-83B8-40F5-ABB3-CE0AB3A072E2}" type="presParOf" srcId="{1F24304C-2A7F-49E6-9A29-9E302B9D7A3F}" destId="{C344B4E1-616F-49FB-B03A-2474DF412D2E}" srcOrd="4" destOrd="0" presId="urn:microsoft.com/office/officeart/2005/8/layout/cycle2"/>
    <dgm:cxn modelId="{ACB58CF6-BB86-45E5-81DB-503F09C52E58}" type="presParOf" srcId="{1F24304C-2A7F-49E6-9A29-9E302B9D7A3F}" destId="{F809F032-CA82-4E86-8BFE-BB5A0B5A43B4}" srcOrd="5" destOrd="0" presId="urn:microsoft.com/office/officeart/2005/8/layout/cycle2"/>
    <dgm:cxn modelId="{C748038C-7FAA-4514-8DDD-3A439181859C}" type="presParOf" srcId="{F809F032-CA82-4E86-8BFE-BB5A0B5A43B4}" destId="{11AE863D-299B-47E3-824E-0939FFE7C413}" srcOrd="0" destOrd="0" presId="urn:microsoft.com/office/officeart/2005/8/layout/cycle2"/>
    <dgm:cxn modelId="{40AA1BEF-A54A-461C-A503-E4C9AF99220F}" type="presParOf" srcId="{1F24304C-2A7F-49E6-9A29-9E302B9D7A3F}" destId="{EEFF49E5-40FA-41E7-B7BA-8E012FBF04F7}" srcOrd="6" destOrd="0" presId="urn:microsoft.com/office/officeart/2005/8/layout/cycle2"/>
    <dgm:cxn modelId="{CE11309B-14E2-4ED4-ACCB-384D06FFC371}" type="presParOf" srcId="{1F24304C-2A7F-49E6-9A29-9E302B9D7A3F}" destId="{3005131D-574E-4D08-B096-06C93437C485}" srcOrd="7" destOrd="0" presId="urn:microsoft.com/office/officeart/2005/8/layout/cycle2"/>
    <dgm:cxn modelId="{7D0D02DA-E566-4566-BFFA-7A7EE8C4397D}" type="presParOf" srcId="{3005131D-574E-4D08-B096-06C93437C485}" destId="{5ED91A2E-2AF2-4D04-BF44-479EAB5E1273}" srcOrd="0" destOrd="0" presId="urn:microsoft.com/office/officeart/2005/8/layout/cycle2"/>
    <dgm:cxn modelId="{9DE1A6C2-498C-4716-8E08-EBEF5CFF9F33}" type="presParOf" srcId="{1F24304C-2A7F-49E6-9A29-9E302B9D7A3F}" destId="{0CC4F3A5-FEE8-4698-BEA4-D566B0E6E719}" srcOrd="8" destOrd="0" presId="urn:microsoft.com/office/officeart/2005/8/layout/cycle2"/>
    <dgm:cxn modelId="{C5A30BB5-7533-4F6E-834D-65A7A0C6439E}" type="presParOf" srcId="{1F24304C-2A7F-49E6-9A29-9E302B9D7A3F}" destId="{4E02BD0D-33F3-48FC-89F1-74761BCA849C}" srcOrd="9" destOrd="0" presId="urn:microsoft.com/office/officeart/2005/8/layout/cycle2"/>
    <dgm:cxn modelId="{3DFB1B94-9648-4885-999B-FBFBC7AD0A5F}" type="presParOf" srcId="{4E02BD0D-33F3-48FC-89F1-74761BCA849C}" destId="{FA3C59F9-7D83-4BDB-8D1B-6EAAD07CD6A5}" srcOrd="0" destOrd="0" presId="urn:microsoft.com/office/officeart/2005/8/layout/cycle2"/>
    <dgm:cxn modelId="{FBC187F9-1361-45C2-9B3F-4291BE18AC98}" type="presParOf" srcId="{1F24304C-2A7F-49E6-9A29-9E302B9D7A3F}" destId="{B9C92011-8BFC-4EBE-BC60-1C60BF8C5F85}" srcOrd="10" destOrd="0" presId="urn:microsoft.com/office/officeart/2005/8/layout/cycle2"/>
    <dgm:cxn modelId="{01B28F02-225C-45FD-B5B8-7B582B2BB70C}" type="presParOf" srcId="{1F24304C-2A7F-49E6-9A29-9E302B9D7A3F}" destId="{DF701F6C-9227-4B85-A27D-BE681938A613}" srcOrd="11" destOrd="0" presId="urn:microsoft.com/office/officeart/2005/8/layout/cycle2"/>
    <dgm:cxn modelId="{F297ED13-708F-4CAB-83D4-E7A2862E4222}" type="presParOf" srcId="{DF701F6C-9227-4B85-A27D-BE681938A613}" destId="{1C743BB8-F8A8-48CD-AD8E-18DFA79C0B12}" srcOrd="0" destOrd="0" presId="urn:microsoft.com/office/officeart/2005/8/layout/cycle2"/>
    <dgm:cxn modelId="{6C87F9CE-CCC8-4697-A327-22BC60573510}" type="presParOf" srcId="{1F24304C-2A7F-49E6-9A29-9E302B9D7A3F}" destId="{4C03B01C-4CD8-4336-8BDC-880361BC041E}" srcOrd="12" destOrd="0" presId="urn:microsoft.com/office/officeart/2005/8/layout/cycle2"/>
    <dgm:cxn modelId="{1C8DA277-E16C-4273-B9DA-A81074CFC979}" type="presParOf" srcId="{1F24304C-2A7F-49E6-9A29-9E302B9D7A3F}" destId="{6784A183-C187-40B8-B8CD-3921BC9ACA44}" srcOrd="13" destOrd="0" presId="urn:microsoft.com/office/officeart/2005/8/layout/cycle2"/>
    <dgm:cxn modelId="{3BC40804-218A-47FA-9AE5-04FB52C0E4A3}" type="presParOf" srcId="{6784A183-C187-40B8-B8CD-3921BC9ACA44}" destId="{49730A01-8FED-4C36-ACD0-84D3204D95B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D70E0-3BBB-4F43-ACD0-534C4F4CAEB5}">
      <dsp:nvSpPr>
        <dsp:cNvPr id="0" name=""/>
        <dsp:cNvSpPr/>
      </dsp:nvSpPr>
      <dsp:spPr>
        <a:xfrm>
          <a:off x="1955182" y="122"/>
          <a:ext cx="718784" cy="7187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/>
        </a:p>
      </dsp:txBody>
      <dsp:txXfrm>
        <a:off x="2060445" y="105385"/>
        <a:ext cx="508258" cy="508258"/>
      </dsp:txXfrm>
    </dsp:sp>
    <dsp:sp modelId="{FF09C866-066D-4EF5-A1B0-B3E494A82886}">
      <dsp:nvSpPr>
        <dsp:cNvPr id="0" name=""/>
        <dsp:cNvSpPr/>
      </dsp:nvSpPr>
      <dsp:spPr>
        <a:xfrm rot="1542857">
          <a:off x="2700586" y="470279"/>
          <a:ext cx="191728" cy="242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2703434" y="506319"/>
        <a:ext cx="134210" cy="145553"/>
      </dsp:txXfrm>
    </dsp:sp>
    <dsp:sp modelId="{3D1AB869-C81E-46FE-80E3-A91E5B753E2A}">
      <dsp:nvSpPr>
        <dsp:cNvPr id="0" name=""/>
        <dsp:cNvSpPr/>
      </dsp:nvSpPr>
      <dsp:spPr>
        <a:xfrm>
          <a:off x="2928713" y="468950"/>
          <a:ext cx="718784" cy="7187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/>
        </a:p>
      </dsp:txBody>
      <dsp:txXfrm>
        <a:off x="3033976" y="574213"/>
        <a:ext cx="508258" cy="508258"/>
      </dsp:txXfrm>
    </dsp:sp>
    <dsp:sp modelId="{DC84C9FD-E1EC-4877-B49A-30872C3FA575}">
      <dsp:nvSpPr>
        <dsp:cNvPr id="0" name=""/>
        <dsp:cNvSpPr/>
      </dsp:nvSpPr>
      <dsp:spPr>
        <a:xfrm rot="4628571">
          <a:off x="3311254" y="1228479"/>
          <a:ext cx="191728" cy="242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3333614" y="1248959"/>
        <a:ext cx="134210" cy="145553"/>
      </dsp:txXfrm>
    </dsp:sp>
    <dsp:sp modelId="{C344B4E1-616F-49FB-B03A-2474DF412D2E}">
      <dsp:nvSpPr>
        <dsp:cNvPr id="0" name=""/>
        <dsp:cNvSpPr/>
      </dsp:nvSpPr>
      <dsp:spPr>
        <a:xfrm>
          <a:off x="3169155" y="1522395"/>
          <a:ext cx="718784" cy="7187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/>
        </a:p>
      </dsp:txBody>
      <dsp:txXfrm>
        <a:off x="3274418" y="1627658"/>
        <a:ext cx="508258" cy="508258"/>
      </dsp:txXfrm>
    </dsp:sp>
    <dsp:sp modelId="{F809F032-CA82-4E86-8BFE-BB5A0B5A43B4}">
      <dsp:nvSpPr>
        <dsp:cNvPr id="0" name=""/>
        <dsp:cNvSpPr/>
      </dsp:nvSpPr>
      <dsp:spPr>
        <a:xfrm rot="7714286">
          <a:off x="3099214" y="2178649"/>
          <a:ext cx="191728" cy="242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 rot="10800000">
        <a:off x="3145904" y="2204682"/>
        <a:ext cx="134210" cy="145553"/>
      </dsp:txXfrm>
    </dsp:sp>
    <dsp:sp modelId="{EEFF49E5-40FA-41E7-B7BA-8E012FBF04F7}">
      <dsp:nvSpPr>
        <dsp:cNvPr id="0" name=""/>
        <dsp:cNvSpPr/>
      </dsp:nvSpPr>
      <dsp:spPr>
        <a:xfrm>
          <a:off x="2495451" y="2367193"/>
          <a:ext cx="718784" cy="7187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/>
        </a:p>
      </dsp:txBody>
      <dsp:txXfrm>
        <a:off x="2600714" y="2472456"/>
        <a:ext cx="508258" cy="508258"/>
      </dsp:txXfrm>
    </dsp:sp>
    <dsp:sp modelId="{3005131D-574E-4D08-B096-06C93437C485}">
      <dsp:nvSpPr>
        <dsp:cNvPr id="0" name=""/>
        <dsp:cNvSpPr/>
      </dsp:nvSpPr>
      <dsp:spPr>
        <a:xfrm rot="10800000">
          <a:off x="2224136" y="2605290"/>
          <a:ext cx="191728" cy="242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 rot="10800000">
        <a:off x="2281654" y="2653808"/>
        <a:ext cx="134210" cy="145553"/>
      </dsp:txXfrm>
    </dsp:sp>
    <dsp:sp modelId="{0CC4F3A5-FEE8-4698-BEA4-D566B0E6E719}">
      <dsp:nvSpPr>
        <dsp:cNvPr id="0" name=""/>
        <dsp:cNvSpPr/>
      </dsp:nvSpPr>
      <dsp:spPr>
        <a:xfrm>
          <a:off x="1414914" y="2367193"/>
          <a:ext cx="718784" cy="7187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/>
        </a:p>
      </dsp:txBody>
      <dsp:txXfrm>
        <a:off x="1520177" y="2472456"/>
        <a:ext cx="508258" cy="508258"/>
      </dsp:txXfrm>
    </dsp:sp>
    <dsp:sp modelId="{4E02BD0D-33F3-48FC-89F1-74761BCA849C}">
      <dsp:nvSpPr>
        <dsp:cNvPr id="0" name=""/>
        <dsp:cNvSpPr/>
      </dsp:nvSpPr>
      <dsp:spPr>
        <a:xfrm rot="13885714">
          <a:off x="1344973" y="2187134"/>
          <a:ext cx="191728" cy="242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 rot="10800000">
        <a:off x="1391663" y="2258137"/>
        <a:ext cx="134210" cy="145553"/>
      </dsp:txXfrm>
    </dsp:sp>
    <dsp:sp modelId="{B9C92011-8BFC-4EBE-BC60-1C60BF8C5F85}">
      <dsp:nvSpPr>
        <dsp:cNvPr id="0" name=""/>
        <dsp:cNvSpPr/>
      </dsp:nvSpPr>
      <dsp:spPr>
        <a:xfrm>
          <a:off x="741210" y="1522395"/>
          <a:ext cx="718784" cy="7187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/>
        </a:p>
      </dsp:txBody>
      <dsp:txXfrm>
        <a:off x="846473" y="1627658"/>
        <a:ext cx="508258" cy="508258"/>
      </dsp:txXfrm>
    </dsp:sp>
    <dsp:sp modelId="{DF701F6C-9227-4B85-A27D-BE681938A613}">
      <dsp:nvSpPr>
        <dsp:cNvPr id="0" name=""/>
        <dsp:cNvSpPr/>
      </dsp:nvSpPr>
      <dsp:spPr>
        <a:xfrm rot="16971429">
          <a:off x="1123751" y="1239060"/>
          <a:ext cx="191728" cy="242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1146111" y="1315616"/>
        <a:ext cx="134210" cy="145553"/>
      </dsp:txXfrm>
    </dsp:sp>
    <dsp:sp modelId="{4C03B01C-4CD8-4336-8BDC-880361BC041E}">
      <dsp:nvSpPr>
        <dsp:cNvPr id="0" name=""/>
        <dsp:cNvSpPr/>
      </dsp:nvSpPr>
      <dsp:spPr>
        <a:xfrm>
          <a:off x="981652" y="468950"/>
          <a:ext cx="718784" cy="7187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1086915" y="574213"/>
        <a:ext cx="508258" cy="508258"/>
      </dsp:txXfrm>
    </dsp:sp>
    <dsp:sp modelId="{6784A183-C187-40B8-B8CD-3921BC9ACA44}">
      <dsp:nvSpPr>
        <dsp:cNvPr id="0" name=""/>
        <dsp:cNvSpPr/>
      </dsp:nvSpPr>
      <dsp:spPr>
        <a:xfrm rot="20057143">
          <a:off x="1727056" y="474987"/>
          <a:ext cx="191728" cy="242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1729904" y="535983"/>
        <a:ext cx="134210" cy="145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6FFDE-E53E-418F-B763-A2D7AD62D6FB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D9F54-D2BA-4293-94A7-477689B4B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0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D9F54-D2BA-4293-94A7-477689B4B3E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12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D9F54-D2BA-4293-94A7-477689B4B3E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09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D9F54-D2BA-4293-94A7-477689B4B3E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1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D9F54-D2BA-4293-94A7-477689B4B3E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30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D9F54-D2BA-4293-94A7-477689B4B3E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15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D9F54-D2BA-4293-94A7-477689B4B3E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0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D9F54-D2BA-4293-94A7-477689B4B3E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04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D9F54-D2BA-4293-94A7-477689B4B3E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7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3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1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5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0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40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13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5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30C76EB-0303-4CE2-8797-5807A183F1D0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F12B5E1-D3B4-4391-887B-C7B1CD8A4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A0B4-B06C-A3ED-EAA1-852620241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 Constructible Numbers in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07C24-D03A-1E8F-AE12-08F7EB1B9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KinuTheDragon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78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2281-A987-05DF-ECF7-6D0B4ED9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 of the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3C5FA-1DCF-09AB-B758-8B15B85B3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Perfect tools </a:t>
            </a:r>
            <a:r>
              <a:rPr lang="en-US" dirty="0" smtClean="0"/>
              <a:t>– </a:t>
            </a:r>
            <a:r>
              <a:rPr lang="en-US" dirty="0"/>
              <a:t>Assume that PowerPoint is mathematically exact</a:t>
            </a:r>
          </a:p>
          <a:p>
            <a:pPr lvl="1"/>
            <a:r>
              <a:rPr lang="en-US" dirty="0"/>
              <a:t>Example: Holding SHIFT while drawing an oval produces a perfect circle</a:t>
            </a:r>
          </a:p>
          <a:p>
            <a:pPr lvl="1"/>
            <a:r>
              <a:rPr lang="en-US" dirty="0"/>
              <a:t>Example: Elements snap to one another exactly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 eyeballing </a:t>
            </a:r>
            <a:r>
              <a:rPr lang="en-US" dirty="0" smtClean="0"/>
              <a:t>– </a:t>
            </a:r>
            <a:r>
              <a:rPr lang="en-US" dirty="0"/>
              <a:t>Mathematical exactness is required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 measuring </a:t>
            </a:r>
            <a:r>
              <a:rPr lang="en-US" dirty="0" smtClean="0"/>
              <a:t>– </a:t>
            </a:r>
            <a:r>
              <a:rPr lang="en-US" dirty="0"/>
              <a:t>No manual inputting of numbers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729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9E0F-9F05-BE6E-76B4-074DD7168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</a:t>
            </a:r>
            <a:r>
              <a:rPr lang="en-US" dirty="0" smtClean="0"/>
              <a:t>Constructability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22BBB-8DC0-F860-D72D-9970CB060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number </a:t>
            </a:r>
            <a:r>
              <a:rPr lang="en-US" i="1" dirty="0"/>
              <a:t>x</a:t>
            </a:r>
            <a:r>
              <a:rPr lang="en-US" dirty="0"/>
              <a:t> is constructible if and only if there exists a finite sequence of legal moves in PowerPoint starting from an axis-aligned square of side length 1 that results in an axis-aligned square of side length |</a:t>
            </a:r>
            <a:r>
              <a:rPr lang="en-US" i="1" dirty="0"/>
              <a:t>x</a:t>
            </a:r>
            <a:r>
              <a:rPr lang="en-US" dirty="0"/>
              <a:t>|.</a:t>
            </a:r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b="1" dirty="0"/>
              <a:t>C</a:t>
            </a:r>
            <a:r>
              <a:rPr lang="en-US" dirty="0"/>
              <a:t> be the set of all constructible numbers.</a:t>
            </a:r>
          </a:p>
        </p:txBody>
      </p:sp>
    </p:spTree>
    <p:extLst>
      <p:ext uri="{BB962C8B-B14F-4D97-AF65-F5344CB8AC3E}">
        <p14:creationId xmlns:p14="http://schemas.microsoft.com/office/powerpoint/2010/main" val="336082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5034-2486-78C4-9E3A-16C87FB57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00669-106D-F1AF-F11F-DFE351909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this construction, if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are constructible, then their sum is also constructible. Therefore, every natural number is constructible through repeated addition of 1s </a:t>
            </a:r>
            <a:r>
              <a:rPr lang="en-US" dirty="0" smtClean="0"/>
              <a:t>– </a:t>
            </a:r>
            <a:r>
              <a:rPr lang="en-US" dirty="0"/>
              <a:t>ℕ ⊆ </a:t>
            </a:r>
            <a:r>
              <a:rPr lang="en-US" b="1" dirty="0"/>
              <a:t>C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Snap </a:t>
            </a:r>
            <a:r>
              <a:rPr lang="en-US" i="1" dirty="0"/>
              <a:t>y</a:t>
            </a:r>
            <a:r>
              <a:rPr lang="en-US" dirty="0"/>
              <a:t> to </a:t>
            </a:r>
            <a:r>
              <a:rPr lang="en-US" i="1" dirty="0"/>
              <a:t>x</a:t>
            </a:r>
            <a:r>
              <a:rPr lang="en-US" dirty="0"/>
              <a:t>, then create</a:t>
            </a:r>
            <a:br>
              <a:rPr lang="en-US" dirty="0"/>
            </a:br>
            <a:r>
              <a:rPr lang="en-US" dirty="0"/>
              <a:t>a new square and snap</a:t>
            </a:r>
            <a:br>
              <a:rPr lang="en-US" dirty="0"/>
            </a:br>
            <a:r>
              <a:rPr lang="en-US" dirty="0"/>
              <a:t>that to </a:t>
            </a:r>
            <a:r>
              <a:rPr lang="en-US" i="1" dirty="0"/>
              <a:t>x</a:t>
            </a:r>
            <a:r>
              <a:rPr lang="en-US" dirty="0"/>
              <a:t> before scaling it</a:t>
            </a:r>
            <a:br>
              <a:rPr lang="en-US" dirty="0"/>
            </a:br>
            <a:r>
              <a:rPr lang="en-US" dirty="0"/>
              <a:t>to snap to </a:t>
            </a:r>
            <a:r>
              <a:rPr lang="en-US" i="1" dirty="0"/>
              <a:t>y</a:t>
            </a:r>
            <a:r>
              <a:rPr lang="en-US" dirty="0"/>
              <a:t> as well.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47484D-06BD-F2A7-DB62-61CA7E4248A7}"/>
              </a:ext>
            </a:extLst>
          </p:cNvPr>
          <p:cNvSpPr/>
          <p:nvPr/>
        </p:nvSpPr>
        <p:spPr>
          <a:xfrm>
            <a:off x="5108773" y="3591586"/>
            <a:ext cx="791581" cy="791581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A8B353-867C-F34C-C79E-0AFC9CB63484}"/>
              </a:ext>
            </a:extLst>
          </p:cNvPr>
          <p:cNvSpPr/>
          <p:nvPr/>
        </p:nvSpPr>
        <p:spPr>
          <a:xfrm>
            <a:off x="5900354" y="3200293"/>
            <a:ext cx="1182873" cy="1182873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FCEC96-40C8-9A75-D252-8B24E03759D6}"/>
              </a:ext>
            </a:extLst>
          </p:cNvPr>
          <p:cNvSpPr/>
          <p:nvPr/>
        </p:nvSpPr>
        <p:spPr>
          <a:xfrm>
            <a:off x="5108773" y="4383166"/>
            <a:ext cx="1974454" cy="1974454"/>
          </a:xfrm>
          <a:prstGeom prst="rect">
            <a:avLst/>
          </a:prstGeom>
          <a:solidFill>
            <a:schemeClr val="accent3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636275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4BFB-CF1D-3788-199B-2BDCC65D4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Subtraction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B1B0-9159-5007-0CB7-0C7079829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are constructible, then their difference is also constructible. This is why we use the absolute value in the definition of </a:t>
            </a:r>
            <a:r>
              <a:rPr lang="en-US" dirty="0" smtClean="0"/>
              <a:t>Constructability.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6DA9A-82BE-EFB9-BDA8-F054224E5880}"/>
              </a:ext>
            </a:extLst>
          </p:cNvPr>
          <p:cNvSpPr/>
          <p:nvPr/>
        </p:nvSpPr>
        <p:spPr>
          <a:xfrm>
            <a:off x="5253034" y="3428999"/>
            <a:ext cx="1685932" cy="1685932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6ED02-6AD5-15F6-6AD8-44E5E2936D36}"/>
              </a:ext>
            </a:extLst>
          </p:cNvPr>
          <p:cNvSpPr/>
          <p:nvPr/>
        </p:nvSpPr>
        <p:spPr>
          <a:xfrm>
            <a:off x="5253034" y="5114931"/>
            <a:ext cx="1040425" cy="1040425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A0A081-3569-E676-D447-D450643C104E}"/>
              </a:ext>
            </a:extLst>
          </p:cNvPr>
          <p:cNvSpPr/>
          <p:nvPr/>
        </p:nvSpPr>
        <p:spPr>
          <a:xfrm>
            <a:off x="6293459" y="5114931"/>
            <a:ext cx="645507" cy="645507"/>
          </a:xfrm>
          <a:prstGeom prst="rect">
            <a:avLst/>
          </a:prstGeom>
          <a:solidFill>
            <a:schemeClr val="accent3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  <a:r>
              <a:rPr lang="en-US" dirty="0"/>
              <a:t> - </a:t>
            </a:r>
            <a:r>
              <a:rPr lang="en-US" i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94791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1A0A-7424-0B57-5639-BC94F74D2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1B0CF-2D2B-C99C-E692-8130F745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are constructible, then their product is also constructible. In this construction, we select both the square of size 1 and the square of size </a:t>
            </a:r>
            <a:r>
              <a:rPr lang="en-US" i="1" dirty="0"/>
              <a:t>y</a:t>
            </a:r>
            <a:r>
              <a:rPr lang="en-US" dirty="0"/>
              <a:t> before resizing both in tandem until the former snaps to match size </a:t>
            </a:r>
            <a:r>
              <a:rPr lang="en-US" i="1" dirty="0"/>
              <a:t>x</a:t>
            </a:r>
            <a:r>
              <a:rPr lang="en-US" dirty="0"/>
              <a:t>, holding SHIFT to keep them square.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D8FAFC-6293-B699-0436-E86EBF39F121}"/>
              </a:ext>
            </a:extLst>
          </p:cNvPr>
          <p:cNvSpPr/>
          <p:nvPr/>
        </p:nvSpPr>
        <p:spPr>
          <a:xfrm>
            <a:off x="2430872" y="5441282"/>
            <a:ext cx="1166005" cy="116600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46755-ABDB-E842-785B-14F1F5E151AE}"/>
              </a:ext>
            </a:extLst>
          </p:cNvPr>
          <p:cNvSpPr/>
          <p:nvPr/>
        </p:nvSpPr>
        <p:spPr>
          <a:xfrm>
            <a:off x="3596877" y="3890349"/>
            <a:ext cx="1550933" cy="1550933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69CF12-CFEF-4B84-C1AA-6709FB1AA812}"/>
              </a:ext>
            </a:extLst>
          </p:cNvPr>
          <p:cNvSpPr/>
          <p:nvPr/>
        </p:nvSpPr>
        <p:spPr>
          <a:xfrm>
            <a:off x="2624968" y="4469373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895CD9-396C-D402-BEB8-7C685C7BBA4B}"/>
              </a:ext>
            </a:extLst>
          </p:cNvPr>
          <p:cNvSpPr/>
          <p:nvPr/>
        </p:nvSpPr>
        <p:spPr>
          <a:xfrm>
            <a:off x="6242552" y="5441282"/>
            <a:ext cx="1166005" cy="116600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FAF96F-2305-C3B7-96CC-F5496F066E2C}"/>
              </a:ext>
            </a:extLst>
          </p:cNvPr>
          <p:cNvSpPr/>
          <p:nvPr/>
        </p:nvSpPr>
        <p:spPr>
          <a:xfrm>
            <a:off x="7408557" y="3580619"/>
            <a:ext cx="1860664" cy="1860664"/>
          </a:xfrm>
          <a:prstGeom prst="rect">
            <a:avLst/>
          </a:prstGeom>
          <a:solidFill>
            <a:schemeClr val="accent3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xy</a:t>
            </a:r>
            <a:endParaRPr lang="en-US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2CD025-DA84-3833-FDF3-0F3DF7EAFFE3}"/>
              </a:ext>
            </a:extLst>
          </p:cNvPr>
          <p:cNvSpPr/>
          <p:nvPr/>
        </p:nvSpPr>
        <p:spPr>
          <a:xfrm>
            <a:off x="6242552" y="4275278"/>
            <a:ext cx="1166005" cy="1166005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i="1" dirty="0"/>
              <a:t>x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505254" y="5441282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15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76E1-8444-794E-8AC8-1ED2DD7E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AA177-A39D-FB34-5AA5-37F65CE11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are constructible, then their ratio is also constructible. This is similar to the construction of a product, but here, we resize the </a:t>
            </a:r>
            <a:r>
              <a:rPr lang="en-US" i="1" dirty="0"/>
              <a:t>y</a:t>
            </a:r>
            <a:r>
              <a:rPr lang="en-US" dirty="0"/>
              <a:t> square to match the 1 square instead, selecting </a:t>
            </a:r>
            <a:r>
              <a:rPr lang="en-US" i="1" dirty="0"/>
              <a:t>x</a:t>
            </a:r>
            <a:r>
              <a:rPr lang="en-US" dirty="0"/>
              <a:t> as well. Therefore, all rational numbers are constructible </a:t>
            </a:r>
            <a:r>
              <a:rPr lang="en-US" dirty="0" smtClean="0"/>
              <a:t>– </a:t>
            </a:r>
            <a:r>
              <a:rPr lang="en-US" dirty="0"/>
              <a:t>ℚ ⊆ </a:t>
            </a:r>
            <a:r>
              <a:rPr lang="en-US" b="1" dirty="0"/>
              <a:t>C</a:t>
            </a:r>
            <a:r>
              <a:rPr lang="en-US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113A8C-8B1E-6380-945C-8114A5B603CA}"/>
              </a:ext>
            </a:extLst>
          </p:cNvPr>
          <p:cNvSpPr/>
          <p:nvPr/>
        </p:nvSpPr>
        <p:spPr>
          <a:xfrm>
            <a:off x="4389845" y="4039048"/>
            <a:ext cx="1166005" cy="116600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6DE1D-C7A2-ADA1-FC2B-EBC1D58AE308}"/>
              </a:ext>
            </a:extLst>
          </p:cNvPr>
          <p:cNvSpPr/>
          <p:nvPr/>
        </p:nvSpPr>
        <p:spPr>
          <a:xfrm>
            <a:off x="2838912" y="3654119"/>
            <a:ext cx="1550933" cy="1550933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D832F-82ED-8E0F-2AB7-EBFEB87D319D}"/>
              </a:ext>
            </a:extLst>
          </p:cNvPr>
          <p:cNvSpPr/>
          <p:nvPr/>
        </p:nvSpPr>
        <p:spPr>
          <a:xfrm>
            <a:off x="2838912" y="5205054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19B159-18FA-042B-077A-959A61344B4B}"/>
              </a:ext>
            </a:extLst>
          </p:cNvPr>
          <p:cNvSpPr/>
          <p:nvPr/>
        </p:nvSpPr>
        <p:spPr>
          <a:xfrm>
            <a:off x="7853900" y="4474363"/>
            <a:ext cx="730690" cy="730690"/>
          </a:xfrm>
          <a:prstGeom prst="rect">
            <a:avLst/>
          </a:prstGeom>
          <a:solidFill>
            <a:schemeClr val="accent3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  <a:r>
              <a:rPr lang="en-US" dirty="0"/>
              <a:t>/</a:t>
            </a:r>
            <a:r>
              <a:rPr lang="en-US" i="1" dirty="0"/>
              <a:t>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7AE4D5-D766-4AE7-D83B-29F9AE0089E8}"/>
              </a:ext>
            </a:extLst>
          </p:cNvPr>
          <p:cNvSpPr/>
          <p:nvPr/>
        </p:nvSpPr>
        <p:spPr>
          <a:xfrm>
            <a:off x="6891115" y="4233143"/>
            <a:ext cx="971909" cy="971909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y</a:t>
            </a:r>
            <a:r>
              <a:rPr lang="en-US" dirty="0"/>
              <a:t>/</a:t>
            </a:r>
            <a:r>
              <a:rPr lang="en-US" i="1" dirty="0"/>
              <a:t>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07D698-7829-4E56-4874-1C1EBB1E7686}"/>
              </a:ext>
            </a:extLst>
          </p:cNvPr>
          <p:cNvSpPr/>
          <p:nvPr/>
        </p:nvSpPr>
        <p:spPr>
          <a:xfrm>
            <a:off x="6891115" y="5205054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995448" y="5169359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96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E783F-2A10-13A1-0059-E6EFE709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220D-4782-4DA5-799C-F2D9B7496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Since addition, subtraction, multiplication, and division are closed on the constructible numbers, they form a field.</a:t>
            </a:r>
          </a:p>
        </p:txBody>
      </p:sp>
    </p:spTree>
    <p:extLst>
      <p:ext uri="{BB962C8B-B14F-4D97-AF65-F5344CB8AC3E}">
        <p14:creationId xmlns:p14="http://schemas.microsoft.com/office/powerpoint/2010/main" val="299559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6FE3-99ED-B427-888F-FF0320162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</a:t>
            </a:r>
            <a:r>
              <a:rPr lang="en-US" dirty="0" err="1"/>
              <a:t>Green_Eclipse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x</a:t>
            </a:r>
            <a:r>
              <a:rPr lang="en-US" dirty="0"/>
              <a:t> is constructible, then √</a:t>
            </a:r>
            <a:r>
              <a:rPr lang="en-US" i="1" dirty="0"/>
              <a:t>x</a:t>
            </a:r>
            <a:r>
              <a:rPr lang="en-US" dirty="0"/>
              <a:t> is constructible.</a:t>
            </a:r>
          </a:p>
          <a:p>
            <a:pPr marL="0" indent="0">
              <a:buNone/>
            </a:pPr>
            <a:r>
              <a:rPr lang="en-US" dirty="0"/>
              <a:t>Stretch the smaller square upwards to form a rectangle.</a:t>
            </a:r>
          </a:p>
          <a:p>
            <a:pPr marL="0" indent="0">
              <a:buNone/>
            </a:pPr>
            <a:r>
              <a:rPr lang="en-US" dirty="0"/>
              <a:t>Center the shown circle on the bottom edge.</a:t>
            </a:r>
          </a:p>
          <a:p>
            <a:pPr marL="0" indent="0">
              <a:buNone/>
            </a:pPr>
            <a:r>
              <a:rPr lang="en-US" dirty="0"/>
              <a:t>Apply Merge Shapes &gt; Intersect on the circle and the stretched square and snap a square to the resulting length.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44B6F-FFB0-F0BE-CF9C-4215A79E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Square Roots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FB9E58-931B-757D-442C-12CDCC3927B4}"/>
              </a:ext>
            </a:extLst>
          </p:cNvPr>
          <p:cNvSpPr/>
          <p:nvPr/>
        </p:nvSpPr>
        <p:spPr>
          <a:xfrm>
            <a:off x="3400074" y="4959365"/>
            <a:ext cx="791581" cy="791581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1471D1-10BB-CC6C-2B75-E0D1064A3F97}"/>
              </a:ext>
            </a:extLst>
          </p:cNvPr>
          <p:cNvSpPr/>
          <p:nvPr/>
        </p:nvSpPr>
        <p:spPr>
          <a:xfrm>
            <a:off x="2428165" y="4779037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ABD6E0-8BE6-C2DE-51E7-90784FE72CC2}"/>
              </a:ext>
            </a:extLst>
          </p:cNvPr>
          <p:cNvSpPr/>
          <p:nvPr/>
        </p:nvSpPr>
        <p:spPr>
          <a:xfrm>
            <a:off x="6234103" y="4779037"/>
            <a:ext cx="791581" cy="971909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E07D5A-0081-5A42-DA55-960F3621ECB8}"/>
              </a:ext>
            </a:extLst>
          </p:cNvPr>
          <p:cNvSpPr/>
          <p:nvPr/>
        </p:nvSpPr>
        <p:spPr>
          <a:xfrm>
            <a:off x="5262194" y="4779037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3A58359-A556-11F7-E1F6-821F8A1DB411}"/>
              </a:ext>
            </a:extLst>
          </p:cNvPr>
          <p:cNvSpPr/>
          <p:nvPr/>
        </p:nvSpPr>
        <p:spPr>
          <a:xfrm>
            <a:off x="5264637" y="4870422"/>
            <a:ext cx="1761047" cy="1761047"/>
          </a:xfrm>
          <a:prstGeom prst="ellipse">
            <a:avLst/>
          </a:prstGeom>
          <a:solidFill>
            <a:srgbClr val="92D05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C1EC0D4-E7DA-F1C2-879D-A51C41A8A35D}"/>
              </a:ext>
            </a:extLst>
          </p:cNvPr>
          <p:cNvSpPr/>
          <p:nvPr/>
        </p:nvSpPr>
        <p:spPr>
          <a:xfrm>
            <a:off x="8096223" y="4870422"/>
            <a:ext cx="791581" cy="876033"/>
          </a:xfrm>
          <a:custGeom>
            <a:avLst/>
            <a:gdLst>
              <a:gd name="connsiteX0" fmla="*/ 0 w 791581"/>
              <a:gd name="connsiteY0" fmla="*/ 0 h 876033"/>
              <a:gd name="connsiteX1" fmla="*/ 1087 w 791581"/>
              <a:gd name="connsiteY1" fmla="*/ 55 h 876033"/>
              <a:gd name="connsiteX2" fmla="*/ 787036 w 791581"/>
              <a:gd name="connsiteY2" fmla="*/ 786005 h 876033"/>
              <a:gd name="connsiteX3" fmla="*/ 791581 w 791581"/>
              <a:gd name="connsiteY3" fmla="*/ 876014 h 876033"/>
              <a:gd name="connsiteX4" fmla="*/ 791581 w 791581"/>
              <a:gd name="connsiteY4" fmla="*/ 876033 h 876033"/>
              <a:gd name="connsiteX5" fmla="*/ 0 w 791581"/>
              <a:gd name="connsiteY5" fmla="*/ 876033 h 876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1581" h="876033">
                <a:moveTo>
                  <a:pt x="0" y="0"/>
                </a:moveTo>
                <a:lnTo>
                  <a:pt x="1087" y="55"/>
                </a:lnTo>
                <a:cubicBezTo>
                  <a:pt x="415496" y="42141"/>
                  <a:pt x="744951" y="371596"/>
                  <a:pt x="787036" y="786005"/>
                </a:cubicBezTo>
                <a:lnTo>
                  <a:pt x="791581" y="876014"/>
                </a:lnTo>
                <a:lnTo>
                  <a:pt x="791581" y="876033"/>
                </a:lnTo>
                <a:lnTo>
                  <a:pt x="0" y="876033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773799-C6E4-451A-1FD9-2C661A4A7201}"/>
              </a:ext>
            </a:extLst>
          </p:cNvPr>
          <p:cNvSpPr/>
          <p:nvPr/>
        </p:nvSpPr>
        <p:spPr>
          <a:xfrm>
            <a:off x="8887803" y="4870422"/>
            <a:ext cx="876033" cy="876033"/>
          </a:xfrm>
          <a:prstGeom prst="rect">
            <a:avLst/>
          </a:prstGeom>
          <a:solidFill>
            <a:schemeClr val="accent3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√</a:t>
            </a:r>
            <a:r>
              <a:rPr lang="en-US" i="1" dirty="0"/>
              <a:t>x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524867" y="5247863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362335" y="5247863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722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6A9EA-A005-E706-CA35-5A40D44B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2B52-3BFD-A560-3EF7-6281D37E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Square Roots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985B1-38B2-5032-9085-C8ADDE1FD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works in any case, not just when </a:t>
            </a:r>
            <a:r>
              <a:rPr lang="en-US" i="1" dirty="0"/>
              <a:t>x</a:t>
            </a:r>
            <a:r>
              <a:rPr lang="en-US" dirty="0"/>
              <a:t> &lt; 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82495-5896-D8B7-F0EF-4D2F444BC093}"/>
              </a:ext>
            </a:extLst>
          </p:cNvPr>
          <p:cNvSpPr/>
          <p:nvPr/>
        </p:nvSpPr>
        <p:spPr>
          <a:xfrm>
            <a:off x="2812551" y="4070720"/>
            <a:ext cx="1198010" cy="1198010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DB6E1E-F3CB-F16D-A8EF-F2095BEF07A0}"/>
              </a:ext>
            </a:extLst>
          </p:cNvPr>
          <p:cNvSpPr/>
          <p:nvPr/>
        </p:nvSpPr>
        <p:spPr>
          <a:xfrm>
            <a:off x="1840642" y="4296820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7754C8B-4223-62C5-0189-85B9C2F269DC}"/>
              </a:ext>
            </a:extLst>
          </p:cNvPr>
          <p:cNvSpPr/>
          <p:nvPr/>
        </p:nvSpPr>
        <p:spPr>
          <a:xfrm>
            <a:off x="9293203" y="4147434"/>
            <a:ext cx="1077007" cy="1077007"/>
          </a:xfrm>
          <a:prstGeom prst="rect">
            <a:avLst/>
          </a:prstGeom>
          <a:solidFill>
            <a:schemeClr val="accent3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√</a:t>
            </a:r>
            <a:r>
              <a:rPr lang="en-US" i="1" dirty="0"/>
              <a:t>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7BB208-95D4-3B59-91D7-242631B1C47B}"/>
              </a:ext>
            </a:extLst>
          </p:cNvPr>
          <p:cNvSpPr/>
          <p:nvPr/>
        </p:nvSpPr>
        <p:spPr>
          <a:xfrm>
            <a:off x="6050566" y="4031659"/>
            <a:ext cx="1198010" cy="1198010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797B77-07D8-3BF2-5E77-1F204CD56040}"/>
              </a:ext>
            </a:extLst>
          </p:cNvPr>
          <p:cNvSpPr/>
          <p:nvPr/>
        </p:nvSpPr>
        <p:spPr>
          <a:xfrm>
            <a:off x="5078657" y="4031659"/>
            <a:ext cx="971909" cy="1198009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5F23B3-E851-2D46-1B1D-F35993667FF6}"/>
              </a:ext>
            </a:extLst>
          </p:cNvPr>
          <p:cNvSpPr/>
          <p:nvPr/>
        </p:nvSpPr>
        <p:spPr>
          <a:xfrm>
            <a:off x="5078657" y="4147435"/>
            <a:ext cx="2164465" cy="2164465"/>
          </a:xfrm>
          <a:prstGeom prst="ellipse">
            <a:avLst/>
          </a:prstGeom>
          <a:solidFill>
            <a:srgbClr val="92D05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496535-EBCB-83CD-5047-6F9536FBF29D}"/>
              </a:ext>
            </a:extLst>
          </p:cNvPr>
          <p:cNvSpPr/>
          <p:nvPr/>
        </p:nvSpPr>
        <p:spPr>
          <a:xfrm>
            <a:off x="8321294" y="4147435"/>
            <a:ext cx="971909" cy="1076662"/>
          </a:xfrm>
          <a:custGeom>
            <a:avLst/>
            <a:gdLst>
              <a:gd name="connsiteX0" fmla="*/ 971909 w 971909"/>
              <a:gd name="connsiteY0" fmla="*/ 0 h 1076662"/>
              <a:gd name="connsiteX1" fmla="*/ 971909 w 971909"/>
              <a:gd name="connsiteY1" fmla="*/ 1076662 h 1076662"/>
              <a:gd name="connsiteX2" fmla="*/ 0 w 971909"/>
              <a:gd name="connsiteY2" fmla="*/ 1076662 h 1076662"/>
              <a:gd name="connsiteX3" fmla="*/ 971581 w 971909"/>
              <a:gd name="connsiteY3" fmla="*/ 17 h 10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909" h="1076662">
                <a:moveTo>
                  <a:pt x="971909" y="0"/>
                </a:moveTo>
                <a:lnTo>
                  <a:pt x="971909" y="1076662"/>
                </a:lnTo>
                <a:lnTo>
                  <a:pt x="0" y="1076662"/>
                </a:lnTo>
                <a:cubicBezTo>
                  <a:pt x="0" y="516318"/>
                  <a:pt x="425858" y="55438"/>
                  <a:pt x="971581" y="17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345757" y="4770137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588577" y="4770137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820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357CB-E364-53CE-EC09-5F32CF50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6FD5-1FFC-E6A4-BC82-44378661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Square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45841-B775-DD8D-00C5-D62F2C5AB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does this work?</a:t>
            </a:r>
          </a:p>
          <a:p>
            <a:pPr marL="514350" indent="-514350">
              <a:buAutoNum type="arabicPeriod"/>
            </a:pPr>
            <a:r>
              <a:rPr lang="en-US" dirty="0"/>
              <a:t>The circle must have diameter </a:t>
            </a:r>
            <a:r>
              <a:rPr lang="en-US" i="1" dirty="0"/>
              <a:t>x</a:t>
            </a:r>
            <a:r>
              <a:rPr lang="en-US" dirty="0"/>
              <a:t> + 1 to snap to both edges.</a:t>
            </a:r>
          </a:p>
          <a:p>
            <a:pPr marL="514350" indent="-514350">
              <a:buAutoNum type="arabicPeriod"/>
            </a:pPr>
            <a:r>
              <a:rPr lang="en-US" dirty="0"/>
              <a:t>Therefore, it must have radius </a:t>
            </a:r>
            <a:r>
              <a:rPr lang="en-US" i="1" dirty="0"/>
              <a:t>R</a:t>
            </a:r>
            <a:r>
              <a:rPr lang="en-US" dirty="0"/>
              <a:t> = (</a:t>
            </a:r>
            <a:r>
              <a:rPr lang="en-US" i="1" dirty="0"/>
              <a:t>x</a:t>
            </a:r>
            <a:r>
              <a:rPr lang="en-US" dirty="0"/>
              <a:t> + 1) / 2.</a:t>
            </a:r>
          </a:p>
          <a:p>
            <a:pPr marL="514350" indent="-514350">
              <a:buAutoNum type="arabicPeriod"/>
            </a:pPr>
            <a:r>
              <a:rPr lang="en-US" dirty="0"/>
              <a:t>If the horizontal position of the vertical edge that the two original squares shared is position 0, then the horizontal position of the center of the circle must be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 (one radius-length away from the left edge at position -1).</a:t>
            </a:r>
          </a:p>
          <a:p>
            <a:pPr marL="0" indent="0">
              <a:buNone/>
            </a:pPr>
            <a:r>
              <a:rPr lang="en-US" dirty="0"/>
              <a:t>Now we can break this into two cases.</a:t>
            </a:r>
          </a:p>
        </p:txBody>
      </p:sp>
    </p:spTree>
    <p:extLst>
      <p:ext uri="{BB962C8B-B14F-4D97-AF65-F5344CB8AC3E}">
        <p14:creationId xmlns:p14="http://schemas.microsoft.com/office/powerpoint/2010/main" val="1206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CF71-844D-2806-A177-CE3E3A2E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Square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D82B8-8583-9104-1EEE-59D1C539A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8966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Case 1: </a:t>
            </a:r>
            <a:r>
              <a:rPr lang="en-US" i="1" dirty="0"/>
              <a:t>x</a:t>
            </a:r>
            <a:r>
              <a:rPr lang="en-US" dirty="0"/>
              <a:t> ≥ 1</a:t>
            </a:r>
          </a:p>
          <a:p>
            <a:pPr marL="0" indent="0">
              <a:buNone/>
            </a:pPr>
            <a:r>
              <a:rPr lang="en-US" dirty="0"/>
              <a:t>The blue triangle has one vertex at the circle’s center.</a:t>
            </a:r>
          </a:p>
          <a:p>
            <a:pPr marL="0" indent="0">
              <a:buNone/>
            </a:pPr>
            <a:r>
              <a:rPr lang="en-US" dirty="0"/>
              <a:t>It has a hypotenuse of length </a:t>
            </a:r>
            <a:r>
              <a:rPr lang="en-US" i="1" dirty="0"/>
              <a:t>R</a:t>
            </a:r>
            <a:r>
              <a:rPr lang="en-US" dirty="0"/>
              <a:t> and a horizontal leg of length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D9991-DFA1-9A01-BD00-A1028A7F776B}"/>
              </a:ext>
            </a:extLst>
          </p:cNvPr>
          <p:cNvSpPr/>
          <p:nvPr/>
        </p:nvSpPr>
        <p:spPr>
          <a:xfrm>
            <a:off x="9617395" y="2843393"/>
            <a:ext cx="2076156" cy="2076156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8685D-33AF-B3F1-616A-ED0EFE446B02}"/>
              </a:ext>
            </a:extLst>
          </p:cNvPr>
          <p:cNvSpPr/>
          <p:nvPr/>
        </p:nvSpPr>
        <p:spPr>
          <a:xfrm>
            <a:off x="8645486" y="2843393"/>
            <a:ext cx="971909" cy="2076155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4C1DCC-D147-08EB-AC28-58DA737F4705}"/>
              </a:ext>
            </a:extLst>
          </p:cNvPr>
          <p:cNvSpPr/>
          <p:nvPr/>
        </p:nvSpPr>
        <p:spPr>
          <a:xfrm>
            <a:off x="8651900" y="3398722"/>
            <a:ext cx="3041651" cy="3041651"/>
          </a:xfrm>
          <a:prstGeom prst="ellipse">
            <a:avLst/>
          </a:prstGeom>
          <a:solidFill>
            <a:srgbClr val="92D05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1D3EDE2-D5B4-50DF-3C3F-F9DEBDC120D9}"/>
              </a:ext>
            </a:extLst>
          </p:cNvPr>
          <p:cNvSpPr/>
          <p:nvPr/>
        </p:nvSpPr>
        <p:spPr>
          <a:xfrm>
            <a:off x="9617394" y="3504825"/>
            <a:ext cx="552124" cy="1414724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8645485" y="1690688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2065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5EB7-E027-04EB-4E37-FC85EE5AF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9512749" y="3571646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D5E80-8960-8A87-396D-4C3D42BC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Square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7846-2F04-1869-9175-F649A421C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7766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Case 2: </a:t>
            </a:r>
            <a:r>
              <a:rPr lang="en-US" i="1" dirty="0"/>
              <a:t>x</a:t>
            </a:r>
            <a:r>
              <a:rPr lang="en-US" dirty="0"/>
              <a:t> &lt; 1</a:t>
            </a:r>
          </a:p>
          <a:p>
            <a:pPr marL="0" indent="0">
              <a:buNone/>
            </a:pPr>
            <a:r>
              <a:rPr lang="en-US" dirty="0"/>
              <a:t>The blue triangle has one vertex at the circle’s center.</a:t>
            </a:r>
          </a:p>
          <a:p>
            <a:pPr marL="0" indent="0">
              <a:buNone/>
            </a:pPr>
            <a:r>
              <a:rPr lang="en-US" dirty="0"/>
              <a:t>It has a hypotenuse of length </a:t>
            </a:r>
            <a:r>
              <a:rPr lang="en-US" i="1" dirty="0"/>
              <a:t>R</a:t>
            </a:r>
            <a:r>
              <a:rPr lang="en-US" dirty="0"/>
              <a:t> and a horizontal leg of length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869F94-7334-9D9B-47F3-5F78A1AEE467}"/>
              </a:ext>
            </a:extLst>
          </p:cNvPr>
          <p:cNvSpPr/>
          <p:nvPr/>
        </p:nvSpPr>
        <p:spPr>
          <a:xfrm>
            <a:off x="10484658" y="3571643"/>
            <a:ext cx="746525" cy="971912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618625-0467-1826-A50B-E916781B3A71}"/>
              </a:ext>
            </a:extLst>
          </p:cNvPr>
          <p:cNvSpPr/>
          <p:nvPr/>
        </p:nvSpPr>
        <p:spPr>
          <a:xfrm>
            <a:off x="9512749" y="3684338"/>
            <a:ext cx="1718434" cy="1718434"/>
          </a:xfrm>
          <a:prstGeom prst="ellipse">
            <a:avLst/>
          </a:prstGeom>
          <a:solidFill>
            <a:srgbClr val="92D05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D6C4727E-A346-BC1F-6C9E-91E69F6A075E}"/>
              </a:ext>
            </a:extLst>
          </p:cNvPr>
          <p:cNvSpPr/>
          <p:nvPr/>
        </p:nvSpPr>
        <p:spPr>
          <a:xfrm flipH="1">
            <a:off x="10371964" y="3692567"/>
            <a:ext cx="112839" cy="850988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6D9991-DFA1-9A01-BD00-A1028A7F776B}"/>
              </a:ext>
            </a:extLst>
          </p:cNvPr>
          <p:cNvSpPr/>
          <p:nvPr/>
        </p:nvSpPr>
        <p:spPr>
          <a:xfrm>
            <a:off x="10484658" y="2653840"/>
            <a:ext cx="746525" cy="74652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30758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9067-BA96-FF2C-A5DD-501A6A5B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Square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33145-DC4A-3BE5-B2E8-FDE60670E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 matter what value </a:t>
            </a:r>
            <a:r>
              <a:rPr lang="en-US" i="1" dirty="0"/>
              <a:t>x</a:t>
            </a:r>
            <a:r>
              <a:rPr lang="en-US" dirty="0"/>
              <a:t> is, the triangle has the same hypotenuse and horizontal leg. Therefore, its height can be computed using the Pythagorean Theorem.</a:t>
            </a:r>
          </a:p>
          <a:p>
            <a:pPr marL="0" indent="0">
              <a:buNone/>
            </a:pPr>
            <a:r>
              <a:rPr lang="en-US" dirty="0"/>
              <a:t>√(</a:t>
            </a:r>
            <a:r>
              <a:rPr lang="en-US" i="1" dirty="0"/>
              <a:t>R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1)²)</a:t>
            </a:r>
          </a:p>
          <a:p>
            <a:pPr marL="0" indent="0">
              <a:buNone/>
            </a:pPr>
            <a:r>
              <a:rPr lang="en-US" dirty="0"/>
              <a:t>= √(</a:t>
            </a:r>
            <a:r>
              <a:rPr lang="en-US" i="1" dirty="0"/>
              <a:t>R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R</a:t>
            </a:r>
            <a:r>
              <a:rPr lang="en-US" dirty="0"/>
              <a:t> + 1))</a:t>
            </a:r>
          </a:p>
          <a:p>
            <a:pPr marL="0" indent="0">
              <a:buNone/>
            </a:pPr>
            <a:r>
              <a:rPr lang="en-US" dirty="0"/>
              <a:t>= √(2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1) = √(2((</a:t>
            </a:r>
            <a:r>
              <a:rPr lang="en-US" i="1" dirty="0"/>
              <a:t>x</a:t>
            </a:r>
            <a:r>
              <a:rPr lang="en-US" dirty="0"/>
              <a:t> + 1) / 2) </a:t>
            </a:r>
            <a:r>
              <a:rPr lang="en-US" dirty="0" smtClean="0"/>
              <a:t>– </a:t>
            </a:r>
            <a:r>
              <a:rPr lang="en-US" dirty="0"/>
              <a:t>1)</a:t>
            </a:r>
          </a:p>
          <a:p>
            <a:pPr marL="0" indent="0">
              <a:buNone/>
            </a:pPr>
            <a:r>
              <a:rPr lang="en-US" dirty="0"/>
              <a:t>= √(</a:t>
            </a:r>
            <a:r>
              <a:rPr lang="en-US" i="1" dirty="0"/>
              <a:t>x</a:t>
            </a:r>
            <a:r>
              <a:rPr lang="en-US" dirty="0"/>
              <a:t> + 1 </a:t>
            </a:r>
            <a:r>
              <a:rPr lang="en-US" dirty="0" smtClean="0"/>
              <a:t>– </a:t>
            </a:r>
            <a:r>
              <a:rPr lang="en-US" dirty="0"/>
              <a:t>1) = √</a:t>
            </a:r>
            <a:r>
              <a:rPr lang="en-US" i="1" dirty="0"/>
              <a:t>x</a:t>
            </a:r>
          </a:p>
          <a:p>
            <a:pPr marL="0" indent="0">
              <a:buNone/>
            </a:pPr>
            <a:r>
              <a:rPr lang="en-US" dirty="0"/>
              <a:t>QED.</a:t>
            </a:r>
          </a:p>
        </p:txBody>
      </p:sp>
    </p:spTree>
    <p:extLst>
      <p:ext uri="{BB962C8B-B14F-4D97-AF65-F5344CB8AC3E}">
        <p14:creationId xmlns:p14="http://schemas.microsoft.com/office/powerpoint/2010/main" val="3138710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CAEF-5D44-225A-E6B9-1298752B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Square Roots </a:t>
            </a:r>
            <a:r>
              <a:rPr lang="en-US" dirty="0" smtClean="0"/>
              <a:t>– </a:t>
            </a:r>
            <a:r>
              <a:rPr lang="en-US" dirty="0"/>
              <a:t>Implication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6B169-C063-00C7-ABB1-86BB35DAC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set of constructible numbers </a:t>
            </a:r>
            <a:r>
              <a:rPr lang="en-US" b="1" dirty="0"/>
              <a:t>with compass and straightedge</a:t>
            </a:r>
            <a:r>
              <a:rPr lang="en-US" dirty="0"/>
              <a:t> is known as the </a:t>
            </a:r>
            <a:r>
              <a:rPr lang="en-US" i="1" dirty="0"/>
              <a:t>Euclidean closure</a:t>
            </a:r>
            <a:r>
              <a:rPr lang="en-US" dirty="0"/>
              <a:t> of ℚ. Let us denote this set as 𝕂.</a:t>
            </a:r>
          </a:p>
          <a:p>
            <a:pPr marL="0" indent="0">
              <a:buNone/>
            </a:pPr>
            <a:r>
              <a:rPr lang="en-US" dirty="0"/>
              <a:t>A Euclidean closure of a set S is the smallest field extension of S such that every non-negative element of S has a square root.</a:t>
            </a:r>
          </a:p>
          <a:p>
            <a:pPr marL="0" indent="0">
              <a:buNone/>
            </a:pPr>
            <a:r>
              <a:rPr lang="en-US" dirty="0"/>
              <a:t>We have just shown that 𝕂 ⊆ </a:t>
            </a:r>
            <a:r>
              <a:rPr lang="en-US" b="1" dirty="0"/>
              <a:t>C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PowerPoint is at least as powerful as a compass and straightedge.</a:t>
            </a:r>
          </a:p>
        </p:txBody>
      </p:sp>
    </p:spTree>
    <p:extLst>
      <p:ext uri="{BB962C8B-B14F-4D97-AF65-F5344CB8AC3E}">
        <p14:creationId xmlns:p14="http://schemas.microsoft.com/office/powerpoint/2010/main" val="3364640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BDBC-B8DF-7960-8442-DEC826A8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563A8-8FC9-0434-BBCE-4E7283736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popop614.</a:t>
            </a:r>
          </a:p>
          <a:p>
            <a:pPr marL="0" indent="0">
              <a:buNone/>
            </a:pPr>
            <a:r>
              <a:rPr lang="en-US" dirty="0"/>
              <a:t>To construct ³√</a:t>
            </a:r>
            <a:r>
              <a:rPr lang="en-US" i="1" dirty="0"/>
              <a:t>x</a:t>
            </a:r>
            <a:r>
              <a:rPr lang="en-US" dirty="0"/>
              <a:t> for any constructible </a:t>
            </a:r>
            <a:r>
              <a:rPr lang="en-US" i="1" dirty="0"/>
              <a:t>x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R</a:t>
            </a:r>
            <a:r>
              <a:rPr lang="en-US" dirty="0"/>
              <a:t> = √((1 </a:t>
            </a:r>
            <a:r>
              <a:rPr lang="en-US" dirty="0" smtClean="0"/>
              <a:t>– </a:t>
            </a:r>
            <a:r>
              <a:rPr lang="en-US" i="1" dirty="0"/>
              <a:t>x</a:t>
            </a:r>
            <a:r>
              <a:rPr lang="en-US" dirty="0"/>
              <a:t>/2)² + 1)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a</a:t>
            </a:r>
            <a:r>
              <a:rPr lang="en-US" dirty="0"/>
              <a:t> = √(2 (5/4 </a:t>
            </a:r>
            <a:r>
              <a:rPr lang="en-US" dirty="0" smtClean="0"/>
              <a:t>– </a:t>
            </a:r>
            <a:r>
              <a:rPr lang="en-US" i="1" dirty="0"/>
              <a:t>x</a:t>
            </a:r>
            <a:r>
              <a:rPr lang="en-US" dirty="0"/>
              <a:t>/4)² + 1/4)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b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/ √2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D5BBA1-CC6C-92C1-5577-274CC9414147}"/>
              </a:ext>
            </a:extLst>
          </p:cNvPr>
          <p:cNvSpPr/>
          <p:nvPr/>
        </p:nvSpPr>
        <p:spPr>
          <a:xfrm>
            <a:off x="2583308" y="5205054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0B5E45-DBFC-5476-4D08-46455BF721D5}"/>
              </a:ext>
            </a:extLst>
          </p:cNvPr>
          <p:cNvSpPr/>
          <p:nvPr/>
        </p:nvSpPr>
        <p:spPr>
          <a:xfrm>
            <a:off x="3941612" y="5403431"/>
            <a:ext cx="773532" cy="773532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FA1CD6-F71A-096B-1F28-4AB8825B465D}"/>
              </a:ext>
            </a:extLst>
          </p:cNvPr>
          <p:cNvSpPr/>
          <p:nvPr/>
        </p:nvSpPr>
        <p:spPr>
          <a:xfrm>
            <a:off x="5101539" y="5043173"/>
            <a:ext cx="1133790" cy="1133790"/>
          </a:xfrm>
          <a:prstGeom prst="rect">
            <a:avLst/>
          </a:prstGeom>
          <a:solidFill>
            <a:srgbClr val="7030A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B38664A-9FE1-F910-C7E2-E721D3452D85}"/>
              </a:ext>
            </a:extLst>
          </p:cNvPr>
          <p:cNvSpPr/>
          <p:nvPr/>
        </p:nvSpPr>
        <p:spPr>
          <a:xfrm>
            <a:off x="6621724" y="4642015"/>
            <a:ext cx="1522832" cy="1522832"/>
          </a:xfrm>
          <a:prstGeom prst="rect">
            <a:avLst/>
          </a:prstGeom>
          <a:solidFill>
            <a:srgbClr val="00206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4B89B5-E0AF-1549-0114-A98E15E5BCFE}"/>
              </a:ext>
            </a:extLst>
          </p:cNvPr>
          <p:cNvSpPr/>
          <p:nvPr/>
        </p:nvSpPr>
        <p:spPr>
          <a:xfrm>
            <a:off x="8530951" y="5099221"/>
            <a:ext cx="1077742" cy="1077742"/>
          </a:xfrm>
          <a:prstGeom prst="rect">
            <a:avLst/>
          </a:prstGeom>
          <a:solidFill>
            <a:srgbClr val="C0000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51166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FC543-6C99-BE5A-C41C-60035044C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7F44D-E418-0D5A-D03A-F782E2E1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FE5DC-F3EA-6D14-4018-7A1176CF3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popop614.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1F8C15-0D7F-7FEF-0AF9-805925ABD443}"/>
              </a:ext>
            </a:extLst>
          </p:cNvPr>
          <p:cNvSpPr/>
          <p:nvPr/>
        </p:nvSpPr>
        <p:spPr>
          <a:xfrm>
            <a:off x="2115699" y="2612030"/>
            <a:ext cx="1133790" cy="1133790"/>
          </a:xfrm>
          <a:prstGeom prst="rect">
            <a:avLst/>
          </a:prstGeom>
          <a:solidFill>
            <a:srgbClr val="7030A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73002C-30F9-C8FC-8316-B9E2A3675AD8}"/>
              </a:ext>
            </a:extLst>
          </p:cNvPr>
          <p:cNvSpPr/>
          <p:nvPr/>
        </p:nvSpPr>
        <p:spPr>
          <a:xfrm>
            <a:off x="7007245" y="4789068"/>
            <a:ext cx="1522832" cy="1522832"/>
          </a:xfrm>
          <a:prstGeom prst="rect">
            <a:avLst/>
          </a:prstGeom>
          <a:solidFill>
            <a:srgbClr val="00206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E9D2CCE-2368-5D46-7D83-17F1745DF4DD}"/>
              </a:ext>
            </a:extLst>
          </p:cNvPr>
          <p:cNvSpPr/>
          <p:nvPr/>
        </p:nvSpPr>
        <p:spPr>
          <a:xfrm>
            <a:off x="5929503" y="3711326"/>
            <a:ext cx="1077742" cy="1077742"/>
          </a:xfrm>
          <a:prstGeom prst="rect">
            <a:avLst/>
          </a:prstGeom>
          <a:solidFill>
            <a:srgbClr val="C0000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E1122B-E245-5C87-FF4D-94F567C344ED}"/>
              </a:ext>
            </a:extLst>
          </p:cNvPr>
          <p:cNvSpPr/>
          <p:nvPr/>
        </p:nvSpPr>
        <p:spPr>
          <a:xfrm>
            <a:off x="3249489" y="2612030"/>
            <a:ext cx="1133790" cy="1133790"/>
          </a:xfrm>
          <a:prstGeom prst="rect">
            <a:avLst/>
          </a:prstGeom>
          <a:solidFill>
            <a:srgbClr val="7030A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A2BA1D-7A05-DAC2-116A-60E24ECA4A80}"/>
              </a:ext>
            </a:extLst>
          </p:cNvPr>
          <p:cNvSpPr/>
          <p:nvPr/>
        </p:nvSpPr>
        <p:spPr>
          <a:xfrm>
            <a:off x="2115699" y="3745820"/>
            <a:ext cx="2267580" cy="2267580"/>
          </a:xfrm>
          <a:prstGeom prst="ellipse">
            <a:avLst/>
          </a:prstGeom>
          <a:solidFill>
            <a:srgbClr val="92D05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4C2DD-C8F8-12B7-8F04-970F2F6F1C75}"/>
              </a:ext>
            </a:extLst>
          </p:cNvPr>
          <p:cNvSpPr/>
          <p:nvPr/>
        </p:nvSpPr>
        <p:spPr>
          <a:xfrm>
            <a:off x="5929503" y="2633584"/>
            <a:ext cx="1077742" cy="1077742"/>
          </a:xfrm>
          <a:prstGeom prst="rect">
            <a:avLst/>
          </a:prstGeom>
          <a:solidFill>
            <a:srgbClr val="C0000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E04903-425A-5D8D-A86B-8FD1D97F2768}"/>
              </a:ext>
            </a:extLst>
          </p:cNvPr>
          <p:cNvSpPr/>
          <p:nvPr/>
        </p:nvSpPr>
        <p:spPr>
          <a:xfrm>
            <a:off x="8530077" y="4789068"/>
            <a:ext cx="1522832" cy="1522832"/>
          </a:xfrm>
          <a:prstGeom prst="rect">
            <a:avLst/>
          </a:prstGeom>
          <a:solidFill>
            <a:srgbClr val="00206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CBC3D8-3C0A-4148-2996-2AF99FD6CA50}"/>
              </a:ext>
            </a:extLst>
          </p:cNvPr>
          <p:cNvSpPr/>
          <p:nvPr/>
        </p:nvSpPr>
        <p:spPr>
          <a:xfrm>
            <a:off x="7007245" y="2633584"/>
            <a:ext cx="3045664" cy="2155484"/>
          </a:xfrm>
          <a:prstGeom prst="ellipse">
            <a:avLst/>
          </a:prstGeom>
          <a:solidFill>
            <a:srgbClr val="FFC00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06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44B6C-AD6B-73A3-02A0-0F4376C5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3440-F56B-016E-CA0B-EA3B1F1AD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311E7-5359-63DD-D431-C611716F1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popop614.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30CA01-6A5B-ADF1-F781-D6E26C95EA4F}"/>
              </a:ext>
            </a:extLst>
          </p:cNvPr>
          <p:cNvSpPr/>
          <p:nvPr/>
        </p:nvSpPr>
        <p:spPr>
          <a:xfrm>
            <a:off x="2660931" y="2481212"/>
            <a:ext cx="2267580" cy="2267580"/>
          </a:xfrm>
          <a:prstGeom prst="ellipse">
            <a:avLst/>
          </a:prstGeom>
          <a:solidFill>
            <a:srgbClr val="92D05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B4E6B0-13D6-F72B-DF52-F9950567E5B8}"/>
              </a:ext>
            </a:extLst>
          </p:cNvPr>
          <p:cNvSpPr/>
          <p:nvPr/>
        </p:nvSpPr>
        <p:spPr>
          <a:xfrm>
            <a:off x="4182425" y="4455224"/>
            <a:ext cx="3045664" cy="2155484"/>
          </a:xfrm>
          <a:prstGeom prst="ellipse">
            <a:avLst/>
          </a:prstGeom>
          <a:solidFill>
            <a:srgbClr val="FFC00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2325B6-907B-4D00-EA7B-262997B53782}"/>
              </a:ext>
            </a:extLst>
          </p:cNvPr>
          <p:cNvSpPr/>
          <p:nvPr/>
        </p:nvSpPr>
        <p:spPr>
          <a:xfrm>
            <a:off x="8172395" y="2988776"/>
            <a:ext cx="1358675" cy="1358675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  <a:r>
              <a:rPr lang="en-US" dirty="0"/>
              <a:t>/2 + 1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6E2F0A-21AA-DE08-9583-A083126C71BD}"/>
              </a:ext>
            </a:extLst>
          </p:cNvPr>
          <p:cNvSpPr/>
          <p:nvPr/>
        </p:nvSpPr>
        <p:spPr>
          <a:xfrm>
            <a:off x="8608757" y="5825946"/>
            <a:ext cx="485954" cy="485954"/>
          </a:xfrm>
          <a:prstGeom prst="rect">
            <a:avLst/>
          </a:prstGeom>
          <a:solidFill>
            <a:schemeClr val="accent2">
              <a:lumMod val="7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1/2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4B4DF9-3A44-3737-91F6-59E937A129C3}"/>
              </a:ext>
            </a:extLst>
          </p:cNvPr>
          <p:cNvSpPr/>
          <p:nvPr/>
        </p:nvSpPr>
        <p:spPr>
          <a:xfrm>
            <a:off x="8390576" y="4625541"/>
            <a:ext cx="922315" cy="922315"/>
          </a:xfrm>
          <a:prstGeom prst="rect">
            <a:avLst/>
          </a:prstGeom>
          <a:solidFill>
            <a:schemeClr val="accent4">
              <a:lumMod val="7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x</a:t>
            </a:r>
            <a:r>
              <a:rPr lang="en-US" sz="1400" dirty="0"/>
              <a:t>/4 + 3/4</a:t>
            </a:r>
          </a:p>
        </p:txBody>
      </p:sp>
    </p:spTree>
    <p:extLst>
      <p:ext uri="{BB962C8B-B14F-4D97-AF65-F5344CB8AC3E}">
        <p14:creationId xmlns:p14="http://schemas.microsoft.com/office/powerpoint/2010/main" val="1377094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E3878-15B0-4CC1-8C63-6E9631D6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50FA-9C16-B600-4254-F08B7482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5DE34-9C30-D215-5C05-6375F167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popop614.</a:t>
            </a:r>
          </a:p>
          <a:p>
            <a:pPr marL="0" indent="0">
              <a:buNone/>
            </a:pPr>
            <a:r>
              <a:rPr lang="en-US" dirty="0"/>
              <a:t>The circle is centered on the upper-right corner of the </a:t>
            </a:r>
            <a:r>
              <a:rPr lang="en-US" i="1" dirty="0"/>
              <a:t>x</a:t>
            </a:r>
            <a:r>
              <a:rPr lang="en-US" dirty="0"/>
              <a:t>/2 + 1 square, while the ellipse is centered on the upper-left corner of the </a:t>
            </a:r>
            <a:r>
              <a:rPr lang="en-US" i="1" dirty="0"/>
              <a:t>x</a:t>
            </a:r>
            <a:r>
              <a:rPr lang="en-US" dirty="0"/>
              <a:t>/4 + 3/4 square.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1441C4-74CA-0FC4-6952-A953DFA6FFC4}"/>
              </a:ext>
            </a:extLst>
          </p:cNvPr>
          <p:cNvSpPr/>
          <p:nvPr/>
        </p:nvSpPr>
        <p:spPr>
          <a:xfrm>
            <a:off x="4412270" y="4646716"/>
            <a:ext cx="1358675" cy="1358675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  <a:r>
              <a:rPr lang="en-US" dirty="0"/>
              <a:t>/2 + 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BD08E0-31AF-1C21-9EEF-C4A3B579DF7D}"/>
              </a:ext>
            </a:extLst>
          </p:cNvPr>
          <p:cNvSpPr/>
          <p:nvPr/>
        </p:nvSpPr>
        <p:spPr>
          <a:xfrm>
            <a:off x="5770945" y="6006921"/>
            <a:ext cx="485954" cy="485954"/>
          </a:xfrm>
          <a:prstGeom prst="rect">
            <a:avLst/>
          </a:prstGeom>
          <a:solidFill>
            <a:schemeClr val="accent2">
              <a:lumMod val="7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1/2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CD502F-ED5F-6DF4-00C9-557F71DD22A5}"/>
              </a:ext>
            </a:extLst>
          </p:cNvPr>
          <p:cNvSpPr/>
          <p:nvPr/>
        </p:nvSpPr>
        <p:spPr>
          <a:xfrm>
            <a:off x="6256899" y="5083076"/>
            <a:ext cx="922315" cy="922315"/>
          </a:xfrm>
          <a:prstGeom prst="rect">
            <a:avLst/>
          </a:prstGeom>
          <a:solidFill>
            <a:schemeClr val="accent4">
              <a:lumMod val="7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x</a:t>
            </a:r>
            <a:r>
              <a:rPr lang="en-US" sz="1400" dirty="0"/>
              <a:t>/4 + </a:t>
            </a:r>
            <a:r>
              <a:rPr lang="en-US" sz="1400" dirty="0" smtClean="0"/>
              <a:t>3/4</a:t>
            </a:r>
            <a:endParaRPr lang="en-US" sz="14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DE0EB8-994D-482C-7B4C-E373588B1B2E}"/>
              </a:ext>
            </a:extLst>
          </p:cNvPr>
          <p:cNvSpPr/>
          <p:nvPr/>
        </p:nvSpPr>
        <p:spPr>
          <a:xfrm>
            <a:off x="4637155" y="3512926"/>
            <a:ext cx="2267580" cy="2267580"/>
          </a:xfrm>
          <a:prstGeom prst="ellipse">
            <a:avLst/>
          </a:prstGeom>
          <a:solidFill>
            <a:srgbClr val="92D05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A780CF-68FB-D545-459D-90464365AA3F}"/>
              </a:ext>
            </a:extLst>
          </p:cNvPr>
          <p:cNvSpPr/>
          <p:nvPr/>
        </p:nvSpPr>
        <p:spPr>
          <a:xfrm>
            <a:off x="4734067" y="4005334"/>
            <a:ext cx="3045664" cy="2155484"/>
          </a:xfrm>
          <a:prstGeom prst="ellipse">
            <a:avLst/>
          </a:prstGeom>
          <a:solidFill>
            <a:srgbClr val="FFC00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211179" y="5036591"/>
            <a:ext cx="91440" cy="91440"/>
          </a:xfrm>
          <a:prstGeom prst="line">
            <a:avLst/>
          </a:prstGeom>
          <a:ln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6211179" y="5036591"/>
            <a:ext cx="91440" cy="91440"/>
          </a:xfrm>
          <a:prstGeom prst="line">
            <a:avLst/>
          </a:prstGeom>
          <a:ln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725225" y="4600231"/>
            <a:ext cx="91440" cy="91440"/>
          </a:xfrm>
          <a:prstGeom prst="line">
            <a:avLst/>
          </a:prstGeom>
          <a:ln cap="rnd">
            <a:solidFill>
              <a:srgbClr val="92D05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5725225" y="4600231"/>
            <a:ext cx="91440" cy="91440"/>
          </a:xfrm>
          <a:prstGeom prst="line">
            <a:avLst/>
          </a:prstGeom>
          <a:ln cap="rnd">
            <a:solidFill>
              <a:srgbClr val="92D05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165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F0C10-ED74-6C97-A021-97F4489B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4537-6F0C-CCE4-0BF2-009F3664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8D57-C57E-A995-5B48-32DD812F0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popop614.</a:t>
            </a:r>
          </a:p>
          <a:p>
            <a:pPr marL="0" indent="0">
              <a:buNone/>
            </a:pPr>
            <a:r>
              <a:rPr lang="en-US" dirty="0" smtClean="0"/>
              <a:t>Take intersection of circle and ellipse.</a:t>
            </a:r>
          </a:p>
          <a:p>
            <a:pPr marL="0" indent="0">
              <a:buNone/>
            </a:pPr>
            <a:r>
              <a:rPr lang="en-US" dirty="0" smtClean="0"/>
              <a:t>The red line </a:t>
            </a:r>
            <a:r>
              <a:rPr lang="en-US" dirty="0"/>
              <a:t>seems to be necessary for PowerPoint to snap to </a:t>
            </a:r>
            <a:r>
              <a:rPr lang="en-US" dirty="0" smtClean="0"/>
              <a:t>the vertex.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B135D6-8035-5F94-3D01-078A77076E1B}"/>
              </a:ext>
            </a:extLst>
          </p:cNvPr>
          <p:cNvSpPr/>
          <p:nvPr/>
        </p:nvSpPr>
        <p:spPr>
          <a:xfrm>
            <a:off x="4412270" y="4646716"/>
            <a:ext cx="1358675" cy="1358675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x</a:t>
            </a:r>
            <a:r>
              <a:rPr lang="en-US" dirty="0"/>
              <a:t>/2 + 1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3E7387-8789-92B8-1397-4A689298C865}"/>
              </a:ext>
            </a:extLst>
          </p:cNvPr>
          <p:cNvSpPr/>
          <p:nvPr/>
        </p:nvSpPr>
        <p:spPr>
          <a:xfrm>
            <a:off x="5770945" y="6006921"/>
            <a:ext cx="485954" cy="485954"/>
          </a:xfrm>
          <a:prstGeom prst="rect">
            <a:avLst/>
          </a:prstGeom>
          <a:solidFill>
            <a:schemeClr val="accent2">
              <a:lumMod val="7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1/2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A81F41-2922-1ACD-E9DE-9BBBD3DAA5DC}"/>
              </a:ext>
            </a:extLst>
          </p:cNvPr>
          <p:cNvSpPr/>
          <p:nvPr/>
        </p:nvSpPr>
        <p:spPr>
          <a:xfrm>
            <a:off x="6256899" y="5083076"/>
            <a:ext cx="922315" cy="922315"/>
          </a:xfrm>
          <a:prstGeom prst="rect">
            <a:avLst/>
          </a:prstGeom>
          <a:solidFill>
            <a:schemeClr val="accent4">
              <a:lumMod val="7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x</a:t>
            </a:r>
            <a:r>
              <a:rPr lang="en-US" sz="1400" dirty="0"/>
              <a:t>/4 + 3/4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74C8565-54CE-BE78-5A70-EA3CA41445FE}"/>
              </a:ext>
            </a:extLst>
          </p:cNvPr>
          <p:cNvSpPr/>
          <p:nvPr/>
        </p:nvSpPr>
        <p:spPr>
          <a:xfrm>
            <a:off x="4734067" y="4005334"/>
            <a:ext cx="2170668" cy="1775172"/>
          </a:xfrm>
          <a:custGeom>
            <a:avLst/>
            <a:gdLst>
              <a:gd name="connsiteX0" fmla="*/ 1522832 w 2170668"/>
              <a:gd name="connsiteY0" fmla="*/ 0 h 1775172"/>
              <a:gd name="connsiteX1" fmla="*/ 1975676 w 2170668"/>
              <a:gd name="connsiteY1" fmla="*/ 48453 h 1775172"/>
              <a:gd name="connsiteX2" fmla="*/ 2006837 w 2170668"/>
              <a:gd name="connsiteY2" fmla="*/ 56525 h 1775172"/>
              <a:gd name="connsiteX3" fmla="*/ 2033826 w 2170668"/>
              <a:gd name="connsiteY3" fmla="*/ 100951 h 1775172"/>
              <a:gd name="connsiteX4" fmla="*/ 2170668 w 2170668"/>
              <a:gd name="connsiteY4" fmla="*/ 641382 h 1775172"/>
              <a:gd name="connsiteX5" fmla="*/ 1036878 w 2170668"/>
              <a:gd name="connsiteY5" fmla="*/ 1775172 h 1775172"/>
              <a:gd name="connsiteX6" fmla="*/ 39931 w 2170668"/>
              <a:gd name="connsiteY6" fmla="*/ 1181814 h 1775172"/>
              <a:gd name="connsiteX7" fmla="*/ 1774 w 2170668"/>
              <a:gd name="connsiteY7" fmla="*/ 1102606 h 1775172"/>
              <a:gd name="connsiteX8" fmla="*/ 0 w 2170668"/>
              <a:gd name="connsiteY8" fmla="*/ 1077742 h 1775172"/>
              <a:gd name="connsiteX9" fmla="*/ 1522832 w 2170668"/>
              <a:gd name="connsiteY9" fmla="*/ 0 h 1775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70668" h="1775172">
                <a:moveTo>
                  <a:pt x="1522832" y="0"/>
                </a:moveTo>
                <a:cubicBezTo>
                  <a:pt x="1680527" y="0"/>
                  <a:pt x="1832623" y="16964"/>
                  <a:pt x="1975676" y="48453"/>
                </a:cubicBezTo>
                <a:lnTo>
                  <a:pt x="2006837" y="56525"/>
                </a:lnTo>
                <a:lnTo>
                  <a:pt x="2033826" y="100951"/>
                </a:lnTo>
                <a:cubicBezTo>
                  <a:pt x="2121096" y="261601"/>
                  <a:pt x="2170668" y="445703"/>
                  <a:pt x="2170668" y="641382"/>
                </a:cubicBezTo>
                <a:cubicBezTo>
                  <a:pt x="2170668" y="1267557"/>
                  <a:pt x="1663053" y="1775172"/>
                  <a:pt x="1036878" y="1775172"/>
                </a:cubicBezTo>
                <a:cubicBezTo>
                  <a:pt x="606383" y="1775172"/>
                  <a:pt x="231926" y="1535245"/>
                  <a:pt x="39931" y="1181814"/>
                </a:cubicBezTo>
                <a:lnTo>
                  <a:pt x="1774" y="1102606"/>
                </a:lnTo>
                <a:lnTo>
                  <a:pt x="0" y="1077742"/>
                </a:lnTo>
                <a:cubicBezTo>
                  <a:pt x="0" y="482522"/>
                  <a:pt x="681795" y="0"/>
                  <a:pt x="1522832" y="0"/>
                </a:cubicBezTo>
                <a:close/>
              </a:path>
            </a:pathLst>
          </a:custGeom>
          <a:solidFill>
            <a:schemeClr val="tx1">
              <a:alpha val="50196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01A2B8-C3B9-8096-2C7C-5B98BF85A880}"/>
              </a:ext>
            </a:extLst>
          </p:cNvPr>
          <p:cNvSpPr/>
          <p:nvPr/>
        </p:nvSpPr>
        <p:spPr>
          <a:xfrm>
            <a:off x="3514054" y="5107940"/>
            <a:ext cx="898216" cy="898216"/>
          </a:xfrm>
          <a:prstGeom prst="rect">
            <a:avLst/>
          </a:prstGeom>
          <a:solidFill>
            <a:schemeClr val="accent3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³√</a:t>
            </a:r>
            <a:r>
              <a:rPr lang="en-US" i="1" dirty="0"/>
              <a:t>x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4827B0-404A-1847-C098-5BDB88409050}"/>
              </a:ext>
            </a:extLst>
          </p:cNvPr>
          <p:cNvCxnSpPr>
            <a:stCxn id="4" idx="7"/>
          </p:cNvCxnSpPr>
          <p:nvPr/>
        </p:nvCxnSpPr>
        <p:spPr>
          <a:xfrm flipH="1">
            <a:off x="4412270" y="5107940"/>
            <a:ext cx="323571" cy="0"/>
          </a:xfrm>
          <a:prstGeom prst="line">
            <a:avLst/>
          </a:prstGeom>
          <a:ln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26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B202-BD96-786D-5A93-FC25FAB1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EAB80-26A7-0D68-620C-EFDC6FDEB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Here, we will write </a:t>
            </a:r>
            <a:r>
              <a:rPr lang="en-US" i="1" dirty="0"/>
              <a:t>q</a:t>
            </a:r>
            <a:r>
              <a:rPr lang="en-US" dirty="0"/>
              <a:t> for the value being cube-rooted.</a:t>
            </a:r>
          </a:p>
          <a:p>
            <a:pPr marL="0" indent="0">
              <a:buNone/>
            </a:pPr>
            <a:r>
              <a:rPr lang="en-US" dirty="0"/>
              <a:t>Plotting the circle and ellipse using Cartesian coordinates with the top-left of the 1/2 square on the previous slide being (0, 0):</a:t>
            </a:r>
          </a:p>
          <a:p>
            <a:pPr marL="0" indent="0">
              <a:buNone/>
            </a:pPr>
            <a:r>
              <a:rPr lang="en-US" dirty="0"/>
              <a:t>	Circle: x² + (y </a:t>
            </a:r>
            <a:r>
              <a:rPr lang="en-US" dirty="0" smtClean="0"/>
              <a:t>– 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/2 + 1))² = </a:t>
            </a:r>
            <a:r>
              <a:rPr lang="en-US" i="1" dirty="0"/>
              <a:t>R</a:t>
            </a:r>
            <a:r>
              <a:rPr lang="en-US" dirty="0"/>
              <a:t>²</a:t>
            </a:r>
          </a:p>
          <a:p>
            <a:pPr marL="0" indent="0">
              <a:buNone/>
            </a:pPr>
            <a:r>
              <a:rPr lang="en-US" dirty="0"/>
              <a:t>	Ellipse: (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1/2)²/</a:t>
            </a:r>
            <a:r>
              <a:rPr lang="en-US" i="1" dirty="0"/>
              <a:t>a</a:t>
            </a:r>
            <a:r>
              <a:rPr lang="en-US" dirty="0"/>
              <a:t>² + (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/4 + 3/4))²/</a:t>
            </a:r>
            <a:r>
              <a:rPr lang="en-US" i="1" dirty="0"/>
              <a:t>b</a:t>
            </a:r>
            <a:r>
              <a:rPr lang="en-US" dirty="0"/>
              <a:t>² = 1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R</a:t>
            </a:r>
            <a:r>
              <a:rPr lang="en-US" dirty="0"/>
              <a:t> = √((1 </a:t>
            </a:r>
            <a:r>
              <a:rPr lang="en-US" dirty="0" smtClean="0"/>
              <a:t>– </a:t>
            </a:r>
            <a:r>
              <a:rPr lang="en-US" i="1" dirty="0"/>
              <a:t>q</a:t>
            </a:r>
            <a:r>
              <a:rPr lang="en-US" dirty="0"/>
              <a:t>/2)² + 1)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a</a:t>
            </a:r>
            <a:r>
              <a:rPr lang="en-US" dirty="0"/>
              <a:t> = √(2 (5/4 </a:t>
            </a:r>
            <a:r>
              <a:rPr lang="en-US" dirty="0" smtClean="0"/>
              <a:t>– </a:t>
            </a:r>
            <a:r>
              <a:rPr lang="en-US" i="1" dirty="0"/>
              <a:t>q</a:t>
            </a:r>
            <a:r>
              <a:rPr lang="en-US" dirty="0"/>
              <a:t>/4)² + 1/4)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b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/ √2</a:t>
            </a:r>
          </a:p>
        </p:txBody>
      </p:sp>
    </p:spTree>
    <p:extLst>
      <p:ext uri="{BB962C8B-B14F-4D97-AF65-F5344CB8AC3E}">
        <p14:creationId xmlns:p14="http://schemas.microsoft.com/office/powerpoint/2010/main" val="343237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2ECA5-50B0-07B7-F58B-CDD5375C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81E2-EAF7-6AD9-1FE4-4BCCE22E5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CE147-D7D0-9DBC-FBC6-3B8F237E8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Expanding and substituting into the circle’s equation: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² + </a:t>
            </a:r>
            <a:r>
              <a:rPr lang="en-US" i="1" dirty="0"/>
              <a:t>y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/2 + 1) + (</a:t>
            </a:r>
            <a:r>
              <a:rPr lang="en-US" i="1" dirty="0"/>
              <a:t>q</a:t>
            </a:r>
            <a:r>
              <a:rPr lang="en-US" dirty="0"/>
              <a:t>/2 + 1)² = (1 </a:t>
            </a:r>
            <a:r>
              <a:rPr lang="en-US" dirty="0" smtClean="0"/>
              <a:t>– </a:t>
            </a:r>
            <a:r>
              <a:rPr lang="en-US" i="1" dirty="0"/>
              <a:t>q</a:t>
            </a:r>
            <a:r>
              <a:rPr lang="en-US" dirty="0"/>
              <a:t>/2)² + 1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² + </a:t>
            </a:r>
            <a:r>
              <a:rPr lang="en-US" i="1" dirty="0"/>
              <a:t>y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i="1" dirty="0" err="1"/>
              <a:t>qy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q</a:t>
            </a:r>
            <a:r>
              <a:rPr lang="en-US" dirty="0"/>
              <a:t>²/4 + </a:t>
            </a:r>
            <a:r>
              <a:rPr lang="en-US" i="1" dirty="0"/>
              <a:t>q</a:t>
            </a:r>
            <a:r>
              <a:rPr lang="en-US" dirty="0"/>
              <a:t> + 1 = 1 </a:t>
            </a:r>
            <a:r>
              <a:rPr lang="en-US" dirty="0" smtClean="0"/>
              <a:t>– </a:t>
            </a:r>
            <a:r>
              <a:rPr lang="en-US" i="1" dirty="0"/>
              <a:t>q</a:t>
            </a:r>
            <a:r>
              <a:rPr lang="en-US" dirty="0"/>
              <a:t> + </a:t>
            </a:r>
            <a:r>
              <a:rPr lang="en-US" i="1" dirty="0"/>
              <a:t>q</a:t>
            </a:r>
            <a:r>
              <a:rPr lang="en-US" dirty="0"/>
              <a:t>²/4 + 1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² + </a:t>
            </a:r>
            <a:r>
              <a:rPr lang="en-US" i="1" dirty="0"/>
              <a:t>y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i="1" dirty="0" err="1"/>
              <a:t>qy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y</a:t>
            </a:r>
            <a:r>
              <a:rPr lang="en-US" dirty="0"/>
              <a:t> + 2</a:t>
            </a:r>
            <a:r>
              <a:rPr lang="en-US" i="1" dirty="0"/>
              <a:t>q</a:t>
            </a:r>
            <a:r>
              <a:rPr lang="en-US" dirty="0"/>
              <a:t> = 1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² = 1 </a:t>
            </a:r>
            <a:r>
              <a:rPr lang="en-US" dirty="0" smtClean="0"/>
              <a:t>– </a:t>
            </a:r>
            <a:r>
              <a:rPr lang="en-US" dirty="0"/>
              <a:t>y² + </a:t>
            </a:r>
            <a:r>
              <a:rPr lang="en-US" i="1" dirty="0" err="1"/>
              <a:t>qy</a:t>
            </a:r>
            <a:r>
              <a:rPr lang="en-US" dirty="0"/>
              <a:t> + 2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q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 = ±√(1 </a:t>
            </a:r>
            <a:r>
              <a:rPr lang="en-US" dirty="0" smtClean="0"/>
              <a:t>– </a:t>
            </a:r>
            <a:r>
              <a:rPr lang="en-US" i="1" dirty="0"/>
              <a:t>y</a:t>
            </a:r>
            <a:r>
              <a:rPr lang="en-US" dirty="0"/>
              <a:t>² + </a:t>
            </a:r>
            <a:r>
              <a:rPr lang="en-US" i="1" dirty="0" err="1"/>
              <a:t>qy</a:t>
            </a:r>
            <a:r>
              <a:rPr lang="en-US" dirty="0"/>
              <a:t> + 2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q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8486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964B-1675-06FF-91B0-F5ACA31A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7D6C-D647-9263-1E64-771F873F7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4601B-BBBE-2D90-8449-4D4D339EA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Expanding the ellipse’s equation: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1/2)²/</a:t>
            </a:r>
            <a:r>
              <a:rPr lang="en-US" i="1" dirty="0"/>
              <a:t>a</a:t>
            </a:r>
            <a:r>
              <a:rPr lang="en-US" dirty="0"/>
              <a:t>² + (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/4 + 3/4))²/</a:t>
            </a:r>
            <a:r>
              <a:rPr lang="en-US" i="1" dirty="0"/>
              <a:t>b</a:t>
            </a:r>
            <a:r>
              <a:rPr lang="en-US" dirty="0"/>
              <a:t>² = 1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i="1" dirty="0"/>
              <a:t>x</a:t>
            </a:r>
            <a:r>
              <a:rPr lang="en-US" dirty="0"/>
              <a:t> + 1/4)/</a:t>
            </a:r>
            <a:r>
              <a:rPr lang="en-US" i="1" dirty="0"/>
              <a:t>a</a:t>
            </a:r>
            <a:r>
              <a:rPr lang="en-US" dirty="0"/>
              <a:t>² + (</a:t>
            </a:r>
            <a:r>
              <a:rPr lang="en-US" i="1" dirty="0"/>
              <a:t>y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dirty="0"/>
              <a:t>2(</a:t>
            </a:r>
            <a:r>
              <a:rPr lang="en-US" i="1" dirty="0"/>
              <a:t>q</a:t>
            </a:r>
            <a:r>
              <a:rPr lang="en-US" dirty="0"/>
              <a:t>/4 + 3/4)y + (</a:t>
            </a:r>
            <a:r>
              <a:rPr lang="en-US" i="1" dirty="0"/>
              <a:t>q</a:t>
            </a:r>
            <a:r>
              <a:rPr lang="en-US" dirty="0"/>
              <a:t>/4 + 3/4)²)/</a:t>
            </a:r>
            <a:r>
              <a:rPr lang="en-US" i="1" dirty="0"/>
              <a:t>b</a:t>
            </a:r>
            <a:r>
              <a:rPr lang="en-US" dirty="0"/>
              <a:t>² = 1</a:t>
            </a:r>
          </a:p>
          <a:p>
            <a:pPr marL="0" indent="0">
              <a:buNone/>
            </a:pPr>
            <a:r>
              <a:rPr lang="en-US" sz="2400" dirty="0"/>
              <a:t>(1/</a:t>
            </a:r>
            <a:r>
              <a:rPr lang="en-US" sz="2400" i="1" dirty="0"/>
              <a:t>a</a:t>
            </a:r>
            <a:r>
              <a:rPr lang="en-US" sz="2400" dirty="0"/>
              <a:t>²)</a:t>
            </a:r>
            <a:r>
              <a:rPr lang="en-US" sz="2400" i="1" dirty="0"/>
              <a:t>x</a:t>
            </a:r>
            <a:r>
              <a:rPr lang="en-US" sz="2400" dirty="0"/>
              <a:t>² + (-1/</a:t>
            </a:r>
            <a:r>
              <a:rPr lang="en-US" sz="2400" i="1" dirty="0"/>
              <a:t>a</a:t>
            </a:r>
            <a:r>
              <a:rPr lang="en-US" sz="2400" dirty="0"/>
              <a:t>²)</a:t>
            </a:r>
            <a:r>
              <a:rPr lang="en-US" sz="2400" i="1" dirty="0"/>
              <a:t>x</a:t>
            </a:r>
            <a:r>
              <a:rPr lang="en-US" sz="2400" dirty="0"/>
              <a:t> + 1/(4</a:t>
            </a:r>
            <a:r>
              <a:rPr lang="en-US" sz="2400" i="1" dirty="0"/>
              <a:t>a</a:t>
            </a:r>
            <a:r>
              <a:rPr lang="en-US" sz="2400" dirty="0"/>
              <a:t>²) + (1/</a:t>
            </a:r>
            <a:r>
              <a:rPr lang="en-US" sz="2400" i="1" dirty="0"/>
              <a:t>b</a:t>
            </a:r>
            <a:r>
              <a:rPr lang="en-US" sz="2400" dirty="0"/>
              <a:t>²)</a:t>
            </a:r>
            <a:r>
              <a:rPr lang="en-US" sz="2400" i="1" dirty="0"/>
              <a:t>y</a:t>
            </a:r>
            <a:r>
              <a:rPr lang="en-US" sz="2400" dirty="0"/>
              <a:t>² + (-2(</a:t>
            </a:r>
            <a:r>
              <a:rPr lang="en-US" sz="2400" i="1" dirty="0"/>
              <a:t>q</a:t>
            </a:r>
            <a:r>
              <a:rPr lang="en-US" sz="2400" dirty="0"/>
              <a:t>/4 + 3/4)/</a:t>
            </a:r>
            <a:r>
              <a:rPr lang="en-US" sz="2400" i="1" dirty="0"/>
              <a:t>b</a:t>
            </a:r>
            <a:r>
              <a:rPr lang="en-US" sz="2400" dirty="0"/>
              <a:t>²)</a:t>
            </a:r>
            <a:r>
              <a:rPr lang="en-US" sz="2400" i="1" dirty="0"/>
              <a:t>y</a:t>
            </a:r>
            <a:r>
              <a:rPr lang="en-US" sz="2400" dirty="0"/>
              <a:t> + (</a:t>
            </a:r>
            <a:r>
              <a:rPr lang="en-US" sz="2400" i="1" dirty="0"/>
              <a:t>q</a:t>
            </a:r>
            <a:r>
              <a:rPr lang="en-US" sz="2400" dirty="0"/>
              <a:t>/4 + 3/4)²/</a:t>
            </a:r>
            <a:r>
              <a:rPr lang="en-US" sz="2400" i="1" dirty="0"/>
              <a:t>b</a:t>
            </a:r>
            <a:r>
              <a:rPr lang="en-US" sz="2400" dirty="0"/>
              <a:t>² = 1</a:t>
            </a:r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i="1" dirty="0"/>
              <a:t>u</a:t>
            </a:r>
            <a:r>
              <a:rPr lang="en-US" dirty="0"/>
              <a:t> = (</a:t>
            </a:r>
            <a:r>
              <a:rPr lang="en-US" i="1" dirty="0"/>
              <a:t>q</a:t>
            </a:r>
            <a:r>
              <a:rPr lang="en-US" dirty="0"/>
              <a:t>/4 + 3/4).</a:t>
            </a:r>
          </a:p>
          <a:p>
            <a:pPr marL="0" indent="0">
              <a:buNone/>
            </a:pPr>
            <a:r>
              <a:rPr lang="en-US" dirty="0"/>
              <a:t>(1/</a:t>
            </a:r>
            <a:r>
              <a:rPr lang="en-US" i="1" dirty="0"/>
              <a:t>a</a:t>
            </a:r>
            <a:r>
              <a:rPr lang="en-US" dirty="0"/>
              <a:t>²)</a:t>
            </a:r>
            <a:r>
              <a:rPr lang="en-US" i="1" dirty="0"/>
              <a:t>x</a:t>
            </a:r>
            <a:r>
              <a:rPr lang="en-US" dirty="0"/>
              <a:t>² + (-1/</a:t>
            </a:r>
            <a:r>
              <a:rPr lang="en-US" i="1" dirty="0"/>
              <a:t>a</a:t>
            </a:r>
            <a:r>
              <a:rPr lang="en-US" dirty="0"/>
              <a:t>²)</a:t>
            </a:r>
            <a:r>
              <a:rPr lang="en-US" i="1" dirty="0"/>
              <a:t>x</a:t>
            </a:r>
            <a:r>
              <a:rPr lang="en-US" dirty="0"/>
              <a:t> + 1/(4</a:t>
            </a:r>
            <a:r>
              <a:rPr lang="en-US" i="1" dirty="0"/>
              <a:t>a</a:t>
            </a:r>
            <a:r>
              <a:rPr lang="en-US" dirty="0"/>
              <a:t>²) + (1/</a:t>
            </a:r>
            <a:r>
              <a:rPr lang="en-US" i="1" dirty="0"/>
              <a:t>b</a:t>
            </a:r>
            <a:r>
              <a:rPr lang="en-US" dirty="0"/>
              <a:t>²)</a:t>
            </a:r>
            <a:r>
              <a:rPr lang="en-US" i="1" dirty="0"/>
              <a:t>y</a:t>
            </a:r>
            <a:r>
              <a:rPr lang="en-US" dirty="0"/>
              <a:t>² + (-2</a:t>
            </a:r>
            <a:r>
              <a:rPr lang="en-US" i="1" dirty="0"/>
              <a:t>u</a:t>
            </a:r>
            <a:r>
              <a:rPr lang="en-US" dirty="0"/>
              <a:t>/</a:t>
            </a:r>
            <a:r>
              <a:rPr lang="en-US" i="1" dirty="0"/>
              <a:t>b</a:t>
            </a:r>
            <a:r>
              <a:rPr lang="en-US" dirty="0"/>
              <a:t>²)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u</a:t>
            </a:r>
            <a:r>
              <a:rPr lang="en-US" dirty="0"/>
              <a:t>²/</a:t>
            </a:r>
            <a:r>
              <a:rPr lang="en-US" i="1" dirty="0"/>
              <a:t>b</a:t>
            </a:r>
            <a:r>
              <a:rPr lang="en-US" dirty="0"/>
              <a:t>² = 1</a:t>
            </a:r>
          </a:p>
        </p:txBody>
      </p:sp>
    </p:spTree>
    <p:extLst>
      <p:ext uri="{BB962C8B-B14F-4D97-AF65-F5344CB8AC3E}">
        <p14:creationId xmlns:p14="http://schemas.microsoft.com/office/powerpoint/2010/main" val="3192041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B22F-CDC7-77F4-64E8-F8C3BCCA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C92B9-0ED7-B58E-FCFF-97AE45E3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182A6-B34E-1C76-A95E-FA8F355A4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Substituting into the ellipse’s equation: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 = ±√(1 </a:t>
            </a:r>
            <a:r>
              <a:rPr lang="en-US" dirty="0" smtClean="0"/>
              <a:t>– </a:t>
            </a:r>
            <a:r>
              <a:rPr lang="en-US" i="1" dirty="0" smtClean="0"/>
              <a:t>y</a:t>
            </a:r>
            <a:r>
              <a:rPr lang="en-US" dirty="0" smtClean="0"/>
              <a:t>² </a:t>
            </a:r>
            <a:r>
              <a:rPr lang="en-US" dirty="0"/>
              <a:t>+ </a:t>
            </a:r>
            <a:r>
              <a:rPr lang="en-US" i="1" dirty="0" err="1"/>
              <a:t>qy</a:t>
            </a:r>
            <a:r>
              <a:rPr lang="en-US" dirty="0"/>
              <a:t> + 2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q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(1/</a:t>
            </a:r>
            <a:r>
              <a:rPr lang="en-US" i="1" dirty="0"/>
              <a:t>a</a:t>
            </a:r>
            <a:r>
              <a:rPr lang="en-US" dirty="0"/>
              <a:t>²)</a:t>
            </a:r>
            <a:r>
              <a:rPr lang="en-US" i="1" dirty="0"/>
              <a:t>x</a:t>
            </a:r>
            <a:r>
              <a:rPr lang="en-US" dirty="0"/>
              <a:t>² + (-1/</a:t>
            </a:r>
            <a:r>
              <a:rPr lang="en-US" i="1" dirty="0"/>
              <a:t>a</a:t>
            </a:r>
            <a:r>
              <a:rPr lang="en-US" dirty="0"/>
              <a:t>²)</a:t>
            </a:r>
            <a:r>
              <a:rPr lang="en-US" i="1" dirty="0"/>
              <a:t>x</a:t>
            </a:r>
            <a:r>
              <a:rPr lang="en-US" dirty="0"/>
              <a:t> + 1/(4</a:t>
            </a:r>
            <a:r>
              <a:rPr lang="en-US" i="1" dirty="0"/>
              <a:t>a</a:t>
            </a:r>
            <a:r>
              <a:rPr lang="en-US" dirty="0"/>
              <a:t>²) + (1/</a:t>
            </a:r>
            <a:r>
              <a:rPr lang="en-US" i="1" dirty="0"/>
              <a:t>b</a:t>
            </a:r>
            <a:r>
              <a:rPr lang="en-US" dirty="0"/>
              <a:t>²)</a:t>
            </a:r>
            <a:r>
              <a:rPr lang="en-US" i="1" dirty="0"/>
              <a:t>y</a:t>
            </a:r>
            <a:r>
              <a:rPr lang="en-US" dirty="0"/>
              <a:t>² + (-2</a:t>
            </a:r>
            <a:r>
              <a:rPr lang="en-US" i="1" dirty="0"/>
              <a:t>u</a:t>
            </a:r>
            <a:r>
              <a:rPr lang="en-US" dirty="0"/>
              <a:t>/</a:t>
            </a:r>
            <a:r>
              <a:rPr lang="en-US" i="1" dirty="0"/>
              <a:t>b</a:t>
            </a:r>
            <a:r>
              <a:rPr lang="en-US" dirty="0"/>
              <a:t>²)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u</a:t>
            </a:r>
            <a:r>
              <a:rPr lang="en-US" dirty="0"/>
              <a:t>²/</a:t>
            </a:r>
            <a:r>
              <a:rPr lang="en-US" i="1" dirty="0"/>
              <a:t>b</a:t>
            </a:r>
            <a:r>
              <a:rPr lang="en-US" dirty="0"/>
              <a:t>² = 1</a:t>
            </a:r>
          </a:p>
          <a:p>
            <a:pPr marL="0" indent="0">
              <a:buNone/>
            </a:pPr>
            <a:r>
              <a:rPr lang="en-US" sz="1800" dirty="0"/>
              <a:t>(1/</a:t>
            </a:r>
            <a:r>
              <a:rPr lang="en-US" sz="1800" i="1" dirty="0"/>
              <a:t>a</a:t>
            </a:r>
            <a:r>
              <a:rPr lang="en-US" sz="1800" dirty="0"/>
              <a:t>²)(1 </a:t>
            </a:r>
            <a:r>
              <a:rPr lang="en-US" sz="1800" dirty="0" smtClean="0"/>
              <a:t>– </a:t>
            </a:r>
            <a:r>
              <a:rPr lang="en-US" sz="1800" i="1" dirty="0"/>
              <a:t>y</a:t>
            </a:r>
            <a:r>
              <a:rPr lang="en-US" sz="1800" dirty="0"/>
              <a:t>² + </a:t>
            </a:r>
            <a:r>
              <a:rPr lang="en-US" sz="1800" i="1" dirty="0" err="1"/>
              <a:t>qy</a:t>
            </a:r>
            <a:r>
              <a:rPr lang="en-US" sz="1800" dirty="0"/>
              <a:t> + 2</a:t>
            </a:r>
            <a:r>
              <a:rPr lang="en-US" sz="1800" i="1" dirty="0"/>
              <a:t>y</a:t>
            </a:r>
            <a:r>
              <a:rPr lang="en-US" sz="1800" dirty="0"/>
              <a:t> </a:t>
            </a:r>
            <a:r>
              <a:rPr lang="en-US" sz="1800" dirty="0" smtClean="0"/>
              <a:t>– </a:t>
            </a:r>
            <a:r>
              <a:rPr lang="en-US" sz="1800" dirty="0"/>
              <a:t>2</a:t>
            </a:r>
            <a:r>
              <a:rPr lang="en-US" sz="1800" i="1" dirty="0"/>
              <a:t>q</a:t>
            </a:r>
            <a:r>
              <a:rPr lang="en-US" sz="1800" dirty="0"/>
              <a:t>) + (∓1/</a:t>
            </a:r>
            <a:r>
              <a:rPr lang="en-US" sz="1800" i="1" dirty="0"/>
              <a:t>a</a:t>
            </a:r>
            <a:r>
              <a:rPr lang="en-US" sz="1800" dirty="0"/>
              <a:t>²)√(1 </a:t>
            </a:r>
            <a:r>
              <a:rPr lang="en-US" sz="1800" dirty="0" smtClean="0"/>
              <a:t>– </a:t>
            </a:r>
            <a:r>
              <a:rPr lang="en-US" sz="1800" i="1" dirty="0"/>
              <a:t>y</a:t>
            </a:r>
            <a:r>
              <a:rPr lang="en-US" sz="1800" dirty="0"/>
              <a:t>² + </a:t>
            </a:r>
            <a:r>
              <a:rPr lang="en-US" sz="1800" i="1" dirty="0" err="1"/>
              <a:t>q</a:t>
            </a:r>
            <a:r>
              <a:rPr lang="en-US" sz="1800" dirty="0" err="1"/>
              <a:t>y</a:t>
            </a:r>
            <a:r>
              <a:rPr lang="en-US" sz="1800" dirty="0"/>
              <a:t> + 2</a:t>
            </a:r>
            <a:r>
              <a:rPr lang="en-US" sz="1800" i="1" dirty="0"/>
              <a:t>y</a:t>
            </a:r>
            <a:r>
              <a:rPr lang="en-US" sz="1800" dirty="0"/>
              <a:t> </a:t>
            </a:r>
            <a:r>
              <a:rPr lang="en-US" sz="1800" dirty="0" smtClean="0"/>
              <a:t>– </a:t>
            </a:r>
            <a:r>
              <a:rPr lang="en-US" sz="1800" dirty="0"/>
              <a:t>2</a:t>
            </a:r>
            <a:r>
              <a:rPr lang="en-US" sz="1800" i="1" dirty="0"/>
              <a:t>q</a:t>
            </a:r>
            <a:r>
              <a:rPr lang="en-US" sz="1800" dirty="0"/>
              <a:t>) + 1/(4</a:t>
            </a:r>
            <a:r>
              <a:rPr lang="en-US" sz="1800" i="1" dirty="0"/>
              <a:t>a</a:t>
            </a:r>
            <a:r>
              <a:rPr lang="en-US" sz="1800" dirty="0"/>
              <a:t>²) + (1/</a:t>
            </a:r>
            <a:r>
              <a:rPr lang="en-US" sz="1800" i="1" dirty="0"/>
              <a:t>b</a:t>
            </a:r>
            <a:r>
              <a:rPr lang="en-US" sz="1800" dirty="0"/>
              <a:t>²)</a:t>
            </a:r>
            <a:r>
              <a:rPr lang="en-US" sz="1800" i="1" dirty="0"/>
              <a:t>y</a:t>
            </a:r>
            <a:r>
              <a:rPr lang="en-US" sz="1800" dirty="0"/>
              <a:t>² + (-2</a:t>
            </a:r>
            <a:r>
              <a:rPr lang="en-US" sz="1800" i="1" dirty="0"/>
              <a:t>u</a:t>
            </a:r>
            <a:r>
              <a:rPr lang="en-US" sz="1800" dirty="0"/>
              <a:t>/</a:t>
            </a:r>
            <a:r>
              <a:rPr lang="en-US" sz="1800" i="1" dirty="0"/>
              <a:t>b</a:t>
            </a:r>
            <a:r>
              <a:rPr lang="en-US" sz="1800" dirty="0"/>
              <a:t>²)</a:t>
            </a:r>
            <a:r>
              <a:rPr lang="en-US" sz="1800" i="1" dirty="0"/>
              <a:t>y</a:t>
            </a:r>
            <a:r>
              <a:rPr lang="en-US" sz="1800" dirty="0"/>
              <a:t> + </a:t>
            </a:r>
            <a:r>
              <a:rPr lang="en-US" sz="1800" i="1" dirty="0"/>
              <a:t>u</a:t>
            </a:r>
            <a:r>
              <a:rPr lang="en-US" sz="1800" dirty="0"/>
              <a:t>²/</a:t>
            </a:r>
            <a:r>
              <a:rPr lang="en-US" sz="1800" i="1" dirty="0"/>
              <a:t>b</a:t>
            </a:r>
            <a:r>
              <a:rPr lang="en-US" sz="1800" dirty="0"/>
              <a:t>² = 1</a:t>
            </a:r>
          </a:p>
          <a:p>
            <a:pPr marL="0" indent="0">
              <a:buNone/>
            </a:pPr>
            <a:r>
              <a:rPr lang="en-US" sz="1600" dirty="0"/>
              <a:t>1/</a:t>
            </a:r>
            <a:r>
              <a:rPr lang="en-US" sz="1600" i="1" dirty="0"/>
              <a:t>a</a:t>
            </a:r>
            <a:r>
              <a:rPr lang="en-US" sz="1600" dirty="0"/>
              <a:t>² + (-1/</a:t>
            </a:r>
            <a:r>
              <a:rPr lang="en-US" sz="1600" i="1" dirty="0"/>
              <a:t>a</a:t>
            </a:r>
            <a:r>
              <a:rPr lang="en-US" sz="1600" dirty="0"/>
              <a:t>²)</a:t>
            </a:r>
            <a:r>
              <a:rPr lang="en-US" sz="1600" i="1" dirty="0"/>
              <a:t>y</a:t>
            </a:r>
            <a:r>
              <a:rPr lang="en-US" sz="1600" dirty="0"/>
              <a:t>² + (</a:t>
            </a:r>
            <a:r>
              <a:rPr lang="en-US" sz="1600" i="1" dirty="0"/>
              <a:t>q</a:t>
            </a:r>
            <a:r>
              <a:rPr lang="en-US" sz="1600" dirty="0"/>
              <a:t>/</a:t>
            </a:r>
            <a:r>
              <a:rPr lang="en-US" sz="1600" i="1" dirty="0"/>
              <a:t>a</a:t>
            </a:r>
            <a:r>
              <a:rPr lang="en-US" sz="1600" dirty="0"/>
              <a:t>² + 2/</a:t>
            </a:r>
            <a:r>
              <a:rPr lang="en-US" sz="1600" i="1" dirty="0"/>
              <a:t>a</a:t>
            </a:r>
            <a:r>
              <a:rPr lang="en-US" sz="1600" dirty="0"/>
              <a:t>²)</a:t>
            </a:r>
            <a:r>
              <a:rPr lang="en-US" sz="1600" i="1" dirty="0"/>
              <a:t>y</a:t>
            </a:r>
            <a:r>
              <a:rPr lang="en-US" sz="1600" dirty="0"/>
              <a:t> </a:t>
            </a:r>
            <a:r>
              <a:rPr lang="en-US" sz="1600" dirty="0" smtClean="0"/>
              <a:t>– </a:t>
            </a:r>
            <a:r>
              <a:rPr lang="en-US" sz="1600" dirty="0"/>
              <a:t>2</a:t>
            </a:r>
            <a:r>
              <a:rPr lang="en-US" sz="1600" i="1" dirty="0"/>
              <a:t>q</a:t>
            </a:r>
            <a:r>
              <a:rPr lang="en-US" sz="1600" dirty="0"/>
              <a:t>/</a:t>
            </a:r>
            <a:r>
              <a:rPr lang="en-US" sz="1600" i="1" dirty="0"/>
              <a:t>a</a:t>
            </a:r>
            <a:r>
              <a:rPr lang="en-US" sz="1600" dirty="0"/>
              <a:t>² + (∓1/</a:t>
            </a:r>
            <a:r>
              <a:rPr lang="en-US" sz="1600" i="1" dirty="0"/>
              <a:t>a</a:t>
            </a:r>
            <a:r>
              <a:rPr lang="en-US" sz="1600" dirty="0"/>
              <a:t>²)√(1 </a:t>
            </a:r>
            <a:r>
              <a:rPr lang="en-US" sz="1600" dirty="0" smtClean="0"/>
              <a:t>– </a:t>
            </a:r>
            <a:r>
              <a:rPr lang="en-US" sz="1600" dirty="0"/>
              <a:t>y² + </a:t>
            </a:r>
            <a:r>
              <a:rPr lang="en-US" sz="1600" i="1" dirty="0" err="1"/>
              <a:t>q</a:t>
            </a:r>
            <a:r>
              <a:rPr lang="en-US" sz="1600" dirty="0" err="1"/>
              <a:t>y</a:t>
            </a:r>
            <a:r>
              <a:rPr lang="en-US" sz="1600" dirty="0"/>
              <a:t> + 2y </a:t>
            </a:r>
            <a:r>
              <a:rPr lang="en-US" sz="1600" dirty="0" smtClean="0"/>
              <a:t>– </a:t>
            </a:r>
            <a:r>
              <a:rPr lang="en-US" sz="1600" dirty="0"/>
              <a:t>2</a:t>
            </a:r>
            <a:r>
              <a:rPr lang="en-US" sz="1600" i="1" dirty="0"/>
              <a:t>q</a:t>
            </a:r>
            <a:r>
              <a:rPr lang="en-US" sz="1600" dirty="0"/>
              <a:t>) + 1/(4</a:t>
            </a:r>
            <a:r>
              <a:rPr lang="en-US" sz="1600" i="1" dirty="0"/>
              <a:t>a</a:t>
            </a:r>
            <a:r>
              <a:rPr lang="en-US" sz="1600" dirty="0"/>
              <a:t>²) + (1/</a:t>
            </a:r>
            <a:r>
              <a:rPr lang="en-US" sz="1600" i="1" dirty="0"/>
              <a:t>b</a:t>
            </a:r>
            <a:r>
              <a:rPr lang="en-US" sz="1600" dirty="0"/>
              <a:t>²)</a:t>
            </a:r>
            <a:r>
              <a:rPr lang="en-US" sz="1600" i="1" dirty="0"/>
              <a:t>y</a:t>
            </a:r>
            <a:r>
              <a:rPr lang="en-US" sz="1600" dirty="0"/>
              <a:t>² + (-2</a:t>
            </a:r>
            <a:r>
              <a:rPr lang="en-US" sz="1600" i="1" dirty="0"/>
              <a:t>u</a:t>
            </a:r>
            <a:r>
              <a:rPr lang="en-US" sz="1600" dirty="0"/>
              <a:t>/</a:t>
            </a:r>
            <a:r>
              <a:rPr lang="en-US" sz="1600" i="1" dirty="0"/>
              <a:t>b</a:t>
            </a:r>
            <a:r>
              <a:rPr lang="en-US" sz="1600" dirty="0"/>
              <a:t>²)</a:t>
            </a:r>
            <a:r>
              <a:rPr lang="en-US" sz="1600" i="1" dirty="0"/>
              <a:t>y</a:t>
            </a:r>
            <a:r>
              <a:rPr lang="en-US" sz="1600" dirty="0"/>
              <a:t> + </a:t>
            </a:r>
            <a:r>
              <a:rPr lang="en-US" sz="1600" i="1" dirty="0"/>
              <a:t>u</a:t>
            </a:r>
            <a:r>
              <a:rPr lang="en-US" sz="1600" dirty="0"/>
              <a:t>²/</a:t>
            </a:r>
            <a:r>
              <a:rPr lang="en-US" sz="1600" i="1" dirty="0"/>
              <a:t>b</a:t>
            </a:r>
            <a:r>
              <a:rPr lang="en-US" sz="1600" dirty="0"/>
              <a:t>² = 1</a:t>
            </a:r>
          </a:p>
          <a:p>
            <a:pPr marL="0" indent="0">
              <a:buNone/>
            </a:pPr>
            <a:r>
              <a:rPr lang="en-US" sz="1600" dirty="0"/>
              <a:t>(-1/</a:t>
            </a:r>
            <a:r>
              <a:rPr lang="en-US" sz="1600" i="1" dirty="0"/>
              <a:t>a</a:t>
            </a:r>
            <a:r>
              <a:rPr lang="en-US" sz="1600" dirty="0"/>
              <a:t>² + 1/</a:t>
            </a:r>
            <a:r>
              <a:rPr lang="en-US" sz="1600" i="1" dirty="0"/>
              <a:t>b</a:t>
            </a:r>
            <a:r>
              <a:rPr lang="en-US" sz="1600" dirty="0"/>
              <a:t>²)</a:t>
            </a:r>
            <a:r>
              <a:rPr lang="en-US" sz="1600" i="1" dirty="0"/>
              <a:t>y</a:t>
            </a:r>
            <a:r>
              <a:rPr lang="en-US" sz="1600" dirty="0"/>
              <a:t>² + (</a:t>
            </a:r>
            <a:r>
              <a:rPr lang="en-US" sz="1600" i="1" dirty="0"/>
              <a:t>q</a:t>
            </a:r>
            <a:r>
              <a:rPr lang="en-US" sz="1600" dirty="0"/>
              <a:t>/</a:t>
            </a:r>
            <a:r>
              <a:rPr lang="en-US" sz="1600" i="1" dirty="0"/>
              <a:t>a</a:t>
            </a:r>
            <a:r>
              <a:rPr lang="en-US" sz="1600" dirty="0"/>
              <a:t>² + 2/</a:t>
            </a:r>
            <a:r>
              <a:rPr lang="en-US" sz="1600" i="1" dirty="0"/>
              <a:t>a</a:t>
            </a:r>
            <a:r>
              <a:rPr lang="en-US" sz="1600" dirty="0"/>
              <a:t>² </a:t>
            </a:r>
            <a:r>
              <a:rPr lang="en-US" sz="1600" dirty="0" smtClean="0"/>
              <a:t>– </a:t>
            </a:r>
            <a:r>
              <a:rPr lang="en-US" sz="1600" dirty="0"/>
              <a:t>2</a:t>
            </a:r>
            <a:r>
              <a:rPr lang="en-US" sz="1600" i="1" dirty="0"/>
              <a:t>u</a:t>
            </a:r>
            <a:r>
              <a:rPr lang="en-US" sz="1600" dirty="0"/>
              <a:t>/</a:t>
            </a:r>
            <a:r>
              <a:rPr lang="en-US" sz="1600" i="1" dirty="0"/>
              <a:t>b</a:t>
            </a:r>
            <a:r>
              <a:rPr lang="en-US" sz="1600" dirty="0"/>
              <a:t>²)y + (1/</a:t>
            </a:r>
            <a:r>
              <a:rPr lang="en-US" sz="1600" i="1" dirty="0"/>
              <a:t>a</a:t>
            </a:r>
            <a:r>
              <a:rPr lang="en-US" sz="1600" dirty="0"/>
              <a:t>² </a:t>
            </a:r>
            <a:r>
              <a:rPr lang="en-US" sz="1600" dirty="0" smtClean="0"/>
              <a:t>– </a:t>
            </a:r>
            <a:r>
              <a:rPr lang="en-US" sz="1600" dirty="0"/>
              <a:t>2</a:t>
            </a:r>
            <a:r>
              <a:rPr lang="en-US" sz="1600" i="1" dirty="0"/>
              <a:t>q</a:t>
            </a:r>
            <a:r>
              <a:rPr lang="en-US" sz="1600" dirty="0"/>
              <a:t>/</a:t>
            </a:r>
            <a:r>
              <a:rPr lang="en-US" sz="1600" i="1" dirty="0"/>
              <a:t>a</a:t>
            </a:r>
            <a:r>
              <a:rPr lang="en-US" sz="1600" dirty="0"/>
              <a:t>² + 1/(4</a:t>
            </a:r>
            <a:r>
              <a:rPr lang="en-US" sz="1600" i="1" dirty="0"/>
              <a:t>a</a:t>
            </a:r>
            <a:r>
              <a:rPr lang="en-US" sz="1600" dirty="0"/>
              <a:t>²) + </a:t>
            </a:r>
            <a:r>
              <a:rPr lang="en-US" sz="1600" i="1" dirty="0"/>
              <a:t>u</a:t>
            </a:r>
            <a:r>
              <a:rPr lang="en-US" sz="1600" dirty="0"/>
              <a:t>²/</a:t>
            </a:r>
            <a:r>
              <a:rPr lang="en-US" sz="1600" i="1" dirty="0"/>
              <a:t>b</a:t>
            </a:r>
            <a:r>
              <a:rPr lang="en-US" sz="1600" dirty="0"/>
              <a:t>²) + (∓1/</a:t>
            </a:r>
            <a:r>
              <a:rPr lang="en-US" sz="1600" i="1" dirty="0"/>
              <a:t>a</a:t>
            </a:r>
            <a:r>
              <a:rPr lang="en-US" sz="1600" dirty="0"/>
              <a:t>²)√((-1)</a:t>
            </a:r>
            <a:r>
              <a:rPr lang="en-US" sz="1600" i="1" dirty="0"/>
              <a:t>y</a:t>
            </a:r>
            <a:r>
              <a:rPr lang="en-US" sz="1600" dirty="0"/>
              <a:t>² + (</a:t>
            </a:r>
            <a:r>
              <a:rPr lang="en-US" sz="1600" i="1" dirty="0"/>
              <a:t>q</a:t>
            </a:r>
            <a:r>
              <a:rPr lang="en-US" sz="1600" dirty="0"/>
              <a:t> + 2)</a:t>
            </a:r>
            <a:r>
              <a:rPr lang="en-US" sz="1600" i="1" dirty="0"/>
              <a:t>y</a:t>
            </a:r>
            <a:r>
              <a:rPr lang="en-US" sz="1600" dirty="0"/>
              <a:t> + (1 </a:t>
            </a:r>
            <a:r>
              <a:rPr lang="en-US" sz="1600" dirty="0" smtClean="0"/>
              <a:t>– </a:t>
            </a:r>
            <a:r>
              <a:rPr lang="en-US" sz="1600" dirty="0"/>
              <a:t>2</a:t>
            </a:r>
            <a:r>
              <a:rPr lang="en-US" sz="1600" i="1" dirty="0"/>
              <a:t>q</a:t>
            </a:r>
            <a:r>
              <a:rPr lang="en-US" sz="1600" dirty="0"/>
              <a:t>)) = 1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4089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60D8-7A91-6A0B-0D1C-8F02AF38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5727-2098-A853-5C7F-F18255E9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1838D-BC8C-8DD5-BDDF-CFF87CA9E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Cleaning up coefficients:</a:t>
            </a:r>
          </a:p>
          <a:p>
            <a:pPr marL="0" indent="0">
              <a:buNone/>
            </a:pPr>
            <a:r>
              <a:rPr lang="en-US" i="1" dirty="0"/>
              <a:t>	z</a:t>
            </a:r>
            <a:r>
              <a:rPr lang="en-US" dirty="0"/>
              <a:t>/</a:t>
            </a:r>
            <a:r>
              <a:rPr lang="en-US" i="1" dirty="0"/>
              <a:t>b</a:t>
            </a:r>
            <a:r>
              <a:rPr lang="en-US" dirty="0"/>
              <a:t>² = </a:t>
            </a:r>
            <a:r>
              <a:rPr lang="en-US" i="1" dirty="0"/>
              <a:t>z</a:t>
            </a:r>
            <a:r>
              <a:rPr lang="en-US" dirty="0"/>
              <a:t>/(</a:t>
            </a:r>
            <a:r>
              <a:rPr lang="en-US" i="1" dirty="0"/>
              <a:t>a</a:t>
            </a:r>
            <a:r>
              <a:rPr lang="en-US" dirty="0"/>
              <a:t> / √2)² = 2</a:t>
            </a:r>
            <a:r>
              <a:rPr lang="en-US" i="1" dirty="0"/>
              <a:t>z</a:t>
            </a:r>
            <a:r>
              <a:rPr lang="en-US" dirty="0"/>
              <a:t>/</a:t>
            </a:r>
            <a:r>
              <a:rPr lang="en-US" i="1" dirty="0"/>
              <a:t>a</a:t>
            </a:r>
            <a:r>
              <a:rPr lang="en-US" dirty="0"/>
              <a:t>²</a:t>
            </a:r>
          </a:p>
          <a:p>
            <a:pPr marL="0" indent="0">
              <a:buNone/>
            </a:pPr>
            <a:r>
              <a:rPr lang="en-US" sz="1600" dirty="0"/>
              <a:t>(-1/</a:t>
            </a:r>
            <a:r>
              <a:rPr lang="en-US" sz="1600" i="1" dirty="0"/>
              <a:t>a</a:t>
            </a:r>
            <a:r>
              <a:rPr lang="en-US" sz="1600" dirty="0"/>
              <a:t>² + 2/</a:t>
            </a:r>
            <a:r>
              <a:rPr lang="en-US" sz="1600" i="1" dirty="0"/>
              <a:t>a</a:t>
            </a:r>
            <a:r>
              <a:rPr lang="en-US" sz="1600" dirty="0"/>
              <a:t>²)y² + (</a:t>
            </a:r>
            <a:r>
              <a:rPr lang="en-US" sz="1600" i="1" dirty="0"/>
              <a:t>q</a:t>
            </a:r>
            <a:r>
              <a:rPr lang="en-US" sz="1600" dirty="0"/>
              <a:t>/</a:t>
            </a:r>
            <a:r>
              <a:rPr lang="en-US" sz="1600" i="1" dirty="0"/>
              <a:t>a</a:t>
            </a:r>
            <a:r>
              <a:rPr lang="en-US" sz="1600" dirty="0"/>
              <a:t>² + 2/</a:t>
            </a:r>
            <a:r>
              <a:rPr lang="en-US" sz="1600" i="1" dirty="0"/>
              <a:t>a</a:t>
            </a:r>
            <a:r>
              <a:rPr lang="en-US" sz="1600" dirty="0"/>
              <a:t>² </a:t>
            </a:r>
            <a:r>
              <a:rPr lang="en-US" sz="1600" dirty="0" smtClean="0"/>
              <a:t>– </a:t>
            </a:r>
            <a:r>
              <a:rPr lang="en-US" sz="1600" dirty="0"/>
              <a:t>4</a:t>
            </a:r>
            <a:r>
              <a:rPr lang="en-US" sz="1600" i="1" dirty="0"/>
              <a:t>u</a:t>
            </a:r>
            <a:r>
              <a:rPr lang="en-US" sz="1600" dirty="0"/>
              <a:t>/</a:t>
            </a:r>
            <a:r>
              <a:rPr lang="en-US" sz="1600" i="1" dirty="0"/>
              <a:t>a</a:t>
            </a:r>
            <a:r>
              <a:rPr lang="en-US" sz="1600" dirty="0"/>
              <a:t>²)y + (1/</a:t>
            </a:r>
            <a:r>
              <a:rPr lang="en-US" sz="1600" i="1" dirty="0"/>
              <a:t>a</a:t>
            </a:r>
            <a:r>
              <a:rPr lang="en-US" sz="1600" dirty="0"/>
              <a:t>² </a:t>
            </a:r>
            <a:r>
              <a:rPr lang="en-US" sz="1600" dirty="0" smtClean="0"/>
              <a:t>– </a:t>
            </a:r>
            <a:r>
              <a:rPr lang="en-US" sz="1600" dirty="0"/>
              <a:t>2</a:t>
            </a:r>
            <a:r>
              <a:rPr lang="en-US" sz="1600" i="1" dirty="0"/>
              <a:t>q</a:t>
            </a:r>
            <a:r>
              <a:rPr lang="en-US" sz="1600" dirty="0"/>
              <a:t>/</a:t>
            </a:r>
            <a:r>
              <a:rPr lang="en-US" sz="1600" i="1" dirty="0"/>
              <a:t>a</a:t>
            </a:r>
            <a:r>
              <a:rPr lang="en-US" sz="1600" dirty="0"/>
              <a:t>² + 1/(4</a:t>
            </a:r>
            <a:r>
              <a:rPr lang="en-US" sz="1600" i="1" dirty="0"/>
              <a:t>a</a:t>
            </a:r>
            <a:r>
              <a:rPr lang="en-US" sz="1600" dirty="0"/>
              <a:t>²) + 2</a:t>
            </a:r>
            <a:r>
              <a:rPr lang="en-US" sz="1600" i="1" dirty="0"/>
              <a:t>u</a:t>
            </a:r>
            <a:r>
              <a:rPr lang="en-US" sz="1600" dirty="0"/>
              <a:t>²/</a:t>
            </a:r>
            <a:r>
              <a:rPr lang="en-US" sz="1600" i="1" dirty="0"/>
              <a:t>a</a:t>
            </a:r>
            <a:r>
              <a:rPr lang="en-US" sz="1600" dirty="0"/>
              <a:t>²) + (∓1/</a:t>
            </a:r>
            <a:r>
              <a:rPr lang="en-US" sz="1600" i="1" dirty="0"/>
              <a:t>a</a:t>
            </a:r>
            <a:r>
              <a:rPr lang="en-US" sz="1600" dirty="0"/>
              <a:t>²)√((-1)y² + (</a:t>
            </a:r>
            <a:r>
              <a:rPr lang="en-US" sz="1600" i="1" dirty="0"/>
              <a:t>q</a:t>
            </a:r>
            <a:r>
              <a:rPr lang="en-US" sz="1600" dirty="0"/>
              <a:t> + 2)y + (1 </a:t>
            </a:r>
            <a:r>
              <a:rPr lang="en-US" sz="1600" dirty="0" smtClean="0"/>
              <a:t>– </a:t>
            </a:r>
            <a:r>
              <a:rPr lang="en-US" sz="1600" dirty="0"/>
              <a:t>2</a:t>
            </a:r>
            <a:r>
              <a:rPr lang="en-US" sz="1600" i="1" dirty="0"/>
              <a:t>q</a:t>
            </a:r>
            <a:r>
              <a:rPr lang="en-US" sz="1600" dirty="0"/>
              <a:t>)) = 1</a:t>
            </a:r>
          </a:p>
          <a:p>
            <a:pPr marL="0" indent="0">
              <a:buNone/>
            </a:pPr>
            <a:r>
              <a:rPr lang="en-US" sz="2400" i="1" dirty="0"/>
              <a:t>y</a:t>
            </a:r>
            <a:r>
              <a:rPr lang="en-US" sz="2400" dirty="0"/>
              <a:t>² + (</a:t>
            </a:r>
            <a:r>
              <a:rPr lang="en-US" sz="2400" i="1" dirty="0"/>
              <a:t>q</a:t>
            </a:r>
            <a:r>
              <a:rPr lang="en-US" sz="2400" dirty="0"/>
              <a:t> + 2 </a:t>
            </a:r>
            <a:r>
              <a:rPr lang="en-US" sz="2400" dirty="0" smtClean="0"/>
              <a:t>– </a:t>
            </a:r>
            <a:r>
              <a:rPr lang="en-US" sz="2400" dirty="0"/>
              <a:t>4</a:t>
            </a:r>
            <a:r>
              <a:rPr lang="en-US" sz="2400" i="1" dirty="0"/>
              <a:t>u</a:t>
            </a:r>
            <a:r>
              <a:rPr lang="en-US" sz="2400" dirty="0"/>
              <a:t>)</a:t>
            </a:r>
            <a:r>
              <a:rPr lang="en-US" sz="2400" i="1" dirty="0"/>
              <a:t>y</a:t>
            </a:r>
            <a:r>
              <a:rPr lang="en-US" sz="2400" dirty="0"/>
              <a:t> + (5/4 </a:t>
            </a:r>
            <a:r>
              <a:rPr lang="en-US" sz="2400" dirty="0" smtClean="0"/>
              <a:t>– </a:t>
            </a:r>
            <a:r>
              <a:rPr lang="en-US" sz="2400" dirty="0"/>
              <a:t>2</a:t>
            </a:r>
            <a:r>
              <a:rPr lang="en-US" sz="2400" i="1" dirty="0"/>
              <a:t>q</a:t>
            </a:r>
            <a:r>
              <a:rPr lang="en-US" sz="2400" dirty="0"/>
              <a:t> + 2</a:t>
            </a:r>
            <a:r>
              <a:rPr lang="en-US" sz="2400" i="1" dirty="0"/>
              <a:t>u</a:t>
            </a:r>
            <a:r>
              <a:rPr lang="en-US" sz="2400" dirty="0"/>
              <a:t>²) ∓√((-1)</a:t>
            </a:r>
            <a:r>
              <a:rPr lang="en-US" sz="2400" i="1" dirty="0"/>
              <a:t>y</a:t>
            </a:r>
            <a:r>
              <a:rPr lang="en-US" sz="2400" dirty="0"/>
              <a:t>² + (</a:t>
            </a:r>
            <a:r>
              <a:rPr lang="en-US" sz="2400" i="1" dirty="0"/>
              <a:t>q</a:t>
            </a:r>
            <a:r>
              <a:rPr lang="en-US" sz="2400" dirty="0"/>
              <a:t> + 2)</a:t>
            </a:r>
            <a:r>
              <a:rPr lang="en-US" sz="2400" i="1" dirty="0"/>
              <a:t>y</a:t>
            </a:r>
            <a:r>
              <a:rPr lang="en-US" sz="2400" dirty="0"/>
              <a:t> + (1 </a:t>
            </a:r>
            <a:r>
              <a:rPr lang="en-US" sz="2400" dirty="0" smtClean="0"/>
              <a:t>– </a:t>
            </a:r>
            <a:r>
              <a:rPr lang="en-US" sz="2400" dirty="0"/>
              <a:t>2</a:t>
            </a:r>
            <a:r>
              <a:rPr lang="en-US" sz="2400" i="1" dirty="0"/>
              <a:t>q</a:t>
            </a:r>
            <a:r>
              <a:rPr lang="en-US" sz="2400" dirty="0"/>
              <a:t>)) = </a:t>
            </a:r>
            <a:r>
              <a:rPr lang="en-US" sz="2400" i="1" dirty="0"/>
              <a:t>a</a:t>
            </a:r>
            <a:r>
              <a:rPr lang="en-US" sz="2400" dirty="0"/>
              <a:t>²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dirty="0"/>
              <a:t>4</a:t>
            </a:r>
            <a:r>
              <a:rPr lang="en-US" i="1" dirty="0"/>
              <a:t>u</a:t>
            </a:r>
            <a:r>
              <a:rPr lang="en-US" dirty="0"/>
              <a:t> = 4(</a:t>
            </a:r>
            <a:r>
              <a:rPr lang="en-US" i="1" dirty="0"/>
              <a:t>q</a:t>
            </a:r>
            <a:r>
              <a:rPr lang="en-US" dirty="0"/>
              <a:t>/4 + 3/4) = </a:t>
            </a:r>
            <a:r>
              <a:rPr lang="en-US" i="1" dirty="0"/>
              <a:t>q</a:t>
            </a:r>
            <a:r>
              <a:rPr lang="en-US" dirty="0"/>
              <a:t> + 3</a:t>
            </a:r>
          </a:p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i="1" dirty="0"/>
              <a:t>y</a:t>
            </a:r>
            <a:r>
              <a:rPr lang="en-US" dirty="0"/>
              <a:t> + (5/4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q</a:t>
            </a:r>
            <a:r>
              <a:rPr lang="en-US" dirty="0"/>
              <a:t> + 2</a:t>
            </a:r>
            <a:r>
              <a:rPr lang="en-US" i="1" dirty="0"/>
              <a:t>u</a:t>
            </a:r>
            <a:r>
              <a:rPr lang="en-US" dirty="0"/>
              <a:t>²) ∓√((-1)</a:t>
            </a:r>
            <a:r>
              <a:rPr lang="en-US" i="1" dirty="0"/>
              <a:t>y</a:t>
            </a:r>
            <a:r>
              <a:rPr lang="en-US" dirty="0"/>
              <a:t>² + (</a:t>
            </a:r>
            <a:r>
              <a:rPr lang="en-US" i="1" dirty="0"/>
              <a:t>q</a:t>
            </a:r>
            <a:r>
              <a:rPr lang="en-US" dirty="0"/>
              <a:t> + 2)</a:t>
            </a:r>
            <a:r>
              <a:rPr lang="en-US" i="1" dirty="0"/>
              <a:t>y</a:t>
            </a:r>
            <a:r>
              <a:rPr lang="en-US" dirty="0"/>
              <a:t> + (1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q</a:t>
            </a:r>
            <a:r>
              <a:rPr lang="en-US" dirty="0"/>
              <a:t>)) = </a:t>
            </a:r>
            <a:r>
              <a:rPr lang="en-US" i="1" dirty="0"/>
              <a:t>a</a:t>
            </a:r>
            <a:r>
              <a:rPr lang="en-US" dirty="0"/>
              <a:t>²</a:t>
            </a:r>
          </a:p>
          <a:p>
            <a:pPr marL="0" indent="0">
              <a:buNone/>
            </a:pPr>
            <a:r>
              <a:rPr lang="en-US" dirty="0"/>
              <a:t>	2</a:t>
            </a:r>
            <a:r>
              <a:rPr lang="en-US" i="1" dirty="0"/>
              <a:t>u</a:t>
            </a:r>
            <a:r>
              <a:rPr lang="en-US" dirty="0"/>
              <a:t>² = 2(</a:t>
            </a:r>
            <a:r>
              <a:rPr lang="en-US" i="1" dirty="0"/>
              <a:t>q</a:t>
            </a:r>
            <a:r>
              <a:rPr lang="en-US" dirty="0"/>
              <a:t>/4 + 3/4)² = (1/8)(</a:t>
            </a:r>
            <a:r>
              <a:rPr lang="en-US" i="1" dirty="0"/>
              <a:t>q</a:t>
            </a:r>
            <a:r>
              <a:rPr lang="en-US" dirty="0"/>
              <a:t> + 3)² = (1/8)</a:t>
            </a:r>
            <a:r>
              <a:rPr lang="en-US" i="1" dirty="0"/>
              <a:t>q</a:t>
            </a:r>
            <a:r>
              <a:rPr lang="en-US" dirty="0"/>
              <a:t>² + (3/4)</a:t>
            </a:r>
            <a:r>
              <a:rPr lang="en-US" i="1" dirty="0"/>
              <a:t>q</a:t>
            </a:r>
            <a:r>
              <a:rPr lang="en-US" dirty="0"/>
              <a:t> + (9/8)</a:t>
            </a:r>
          </a:p>
          <a:p>
            <a:pPr marL="0" indent="0">
              <a:buNone/>
            </a:pPr>
            <a:r>
              <a:rPr lang="en-US" sz="2400" i="1" dirty="0"/>
              <a:t>y</a:t>
            </a:r>
            <a:r>
              <a:rPr lang="en-US" sz="2400" dirty="0"/>
              <a:t>² </a:t>
            </a:r>
            <a:r>
              <a:rPr lang="en-US" sz="2400" dirty="0" smtClean="0"/>
              <a:t>– </a:t>
            </a:r>
            <a:r>
              <a:rPr lang="en-US" sz="2400" i="1" dirty="0"/>
              <a:t>y</a:t>
            </a:r>
            <a:r>
              <a:rPr lang="en-US" sz="2400" dirty="0"/>
              <a:t> + (5/4 </a:t>
            </a:r>
            <a:r>
              <a:rPr lang="en-US" sz="2400" dirty="0" smtClean="0"/>
              <a:t>– </a:t>
            </a:r>
            <a:r>
              <a:rPr lang="en-US" sz="2400" dirty="0"/>
              <a:t>2</a:t>
            </a:r>
            <a:r>
              <a:rPr lang="en-US" sz="2400" i="1" dirty="0"/>
              <a:t>q</a:t>
            </a:r>
            <a:r>
              <a:rPr lang="en-US" sz="2400" dirty="0"/>
              <a:t> + (1/8)</a:t>
            </a:r>
            <a:r>
              <a:rPr lang="en-US" sz="2400" i="1" dirty="0"/>
              <a:t>q</a:t>
            </a:r>
            <a:r>
              <a:rPr lang="en-US" sz="2400" dirty="0"/>
              <a:t>² + (3/4)</a:t>
            </a:r>
            <a:r>
              <a:rPr lang="en-US" sz="2400" i="1" dirty="0"/>
              <a:t>q</a:t>
            </a:r>
            <a:r>
              <a:rPr lang="en-US" sz="2400" dirty="0"/>
              <a:t> + (9/8)) ∓√((-1)y² + (</a:t>
            </a:r>
            <a:r>
              <a:rPr lang="en-US" sz="2400" i="1" dirty="0"/>
              <a:t>q</a:t>
            </a:r>
            <a:r>
              <a:rPr lang="en-US" sz="2400" dirty="0"/>
              <a:t> + 2)</a:t>
            </a:r>
            <a:r>
              <a:rPr lang="en-US" sz="2400" i="1" dirty="0"/>
              <a:t>y</a:t>
            </a:r>
            <a:r>
              <a:rPr lang="en-US" sz="2400" dirty="0"/>
              <a:t> + (1 </a:t>
            </a:r>
            <a:r>
              <a:rPr lang="en-US" sz="2400" dirty="0" smtClean="0"/>
              <a:t>– </a:t>
            </a:r>
            <a:r>
              <a:rPr lang="en-US" sz="2400" dirty="0"/>
              <a:t>2</a:t>
            </a:r>
            <a:r>
              <a:rPr lang="en-US" sz="2400" i="1" dirty="0"/>
              <a:t>q</a:t>
            </a:r>
            <a:r>
              <a:rPr lang="en-US" sz="2400" dirty="0"/>
              <a:t>)) = </a:t>
            </a:r>
            <a:r>
              <a:rPr lang="en-US" sz="2400" i="1" dirty="0"/>
              <a:t>a</a:t>
            </a:r>
            <a:r>
              <a:rPr lang="en-US" sz="2400" dirty="0"/>
              <a:t>²</a:t>
            </a:r>
          </a:p>
          <a:p>
            <a:pPr marL="0" indent="0">
              <a:buNone/>
            </a:pPr>
            <a:r>
              <a:rPr lang="en-US" sz="2400" i="1" dirty="0"/>
              <a:t>y</a:t>
            </a:r>
            <a:r>
              <a:rPr lang="en-US" sz="2400" dirty="0"/>
              <a:t>² </a:t>
            </a:r>
            <a:r>
              <a:rPr lang="en-US" sz="2400" dirty="0" smtClean="0"/>
              <a:t>– </a:t>
            </a:r>
            <a:r>
              <a:rPr lang="en-US" sz="2400" i="1" dirty="0"/>
              <a:t>y</a:t>
            </a:r>
            <a:r>
              <a:rPr lang="en-US" sz="2400" dirty="0"/>
              <a:t> + ((1/8)</a:t>
            </a:r>
            <a:r>
              <a:rPr lang="en-US" sz="2400" i="1" dirty="0"/>
              <a:t>q</a:t>
            </a:r>
            <a:r>
              <a:rPr lang="en-US" sz="2400" dirty="0"/>
              <a:t>² </a:t>
            </a:r>
            <a:r>
              <a:rPr lang="en-US" sz="2400" dirty="0" smtClean="0"/>
              <a:t>– </a:t>
            </a:r>
            <a:r>
              <a:rPr lang="en-US" sz="2400" dirty="0"/>
              <a:t>(5/4)</a:t>
            </a:r>
            <a:r>
              <a:rPr lang="en-US" sz="2400" i="1" dirty="0"/>
              <a:t>q</a:t>
            </a:r>
            <a:r>
              <a:rPr lang="en-US" sz="2400" dirty="0"/>
              <a:t> + 19/8) ∓√((-1)</a:t>
            </a:r>
            <a:r>
              <a:rPr lang="en-US" sz="2400" i="1" dirty="0"/>
              <a:t>y</a:t>
            </a:r>
            <a:r>
              <a:rPr lang="en-US" sz="2400" dirty="0"/>
              <a:t>² + (</a:t>
            </a:r>
            <a:r>
              <a:rPr lang="en-US" sz="2400" i="1" dirty="0"/>
              <a:t>q</a:t>
            </a:r>
            <a:r>
              <a:rPr lang="en-US" sz="2400" dirty="0"/>
              <a:t> + 2)</a:t>
            </a:r>
            <a:r>
              <a:rPr lang="en-US" sz="2400" i="1" dirty="0"/>
              <a:t>y</a:t>
            </a:r>
            <a:r>
              <a:rPr lang="en-US" sz="2400" dirty="0"/>
              <a:t> + (1 </a:t>
            </a:r>
            <a:r>
              <a:rPr lang="en-US" sz="2400" dirty="0" smtClean="0"/>
              <a:t>– </a:t>
            </a:r>
            <a:r>
              <a:rPr lang="en-US" sz="2400" dirty="0"/>
              <a:t>2</a:t>
            </a:r>
            <a:r>
              <a:rPr lang="en-US" sz="2400" i="1" dirty="0"/>
              <a:t>q</a:t>
            </a:r>
            <a:r>
              <a:rPr lang="en-US" sz="2400" dirty="0"/>
              <a:t>)) = </a:t>
            </a:r>
            <a:r>
              <a:rPr lang="en-US" sz="2400" i="1" dirty="0"/>
              <a:t>a</a:t>
            </a:r>
            <a:r>
              <a:rPr lang="en-US" sz="2400" dirty="0"/>
              <a:t>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737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F38E-B365-AE44-A442-99693114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57A2D-F257-4844-00C7-C8FB51B9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ED7AA-DE81-F1B4-D16B-405380B43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Substituting in </a:t>
            </a:r>
            <a:r>
              <a:rPr lang="en-US" i="1" dirty="0"/>
              <a:t>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2400" i="1" dirty="0"/>
              <a:t>y</a:t>
            </a:r>
            <a:r>
              <a:rPr lang="en-US" sz="2400" dirty="0"/>
              <a:t>² </a:t>
            </a:r>
            <a:r>
              <a:rPr lang="en-US" sz="2400" dirty="0" smtClean="0"/>
              <a:t>– </a:t>
            </a:r>
            <a:r>
              <a:rPr lang="en-US" sz="2400" i="1" dirty="0"/>
              <a:t>y</a:t>
            </a:r>
            <a:r>
              <a:rPr lang="en-US" sz="2400" dirty="0"/>
              <a:t> + (1/8)</a:t>
            </a:r>
            <a:r>
              <a:rPr lang="en-US" sz="2400" i="1" dirty="0"/>
              <a:t>q</a:t>
            </a:r>
            <a:r>
              <a:rPr lang="en-US" sz="2400" dirty="0"/>
              <a:t>² </a:t>
            </a:r>
            <a:r>
              <a:rPr lang="en-US" sz="2400" dirty="0" smtClean="0"/>
              <a:t>– </a:t>
            </a:r>
            <a:r>
              <a:rPr lang="en-US" sz="2400" dirty="0"/>
              <a:t>(5/4)</a:t>
            </a:r>
            <a:r>
              <a:rPr lang="en-US" sz="2400" i="1" dirty="0"/>
              <a:t>q</a:t>
            </a:r>
            <a:r>
              <a:rPr lang="en-US" sz="2400" dirty="0"/>
              <a:t> + 19/8 ∓ √((-1)</a:t>
            </a:r>
            <a:r>
              <a:rPr lang="en-US" sz="2400" i="1" dirty="0"/>
              <a:t>y</a:t>
            </a:r>
            <a:r>
              <a:rPr lang="en-US" sz="2400" dirty="0"/>
              <a:t>² + (</a:t>
            </a:r>
            <a:r>
              <a:rPr lang="en-US" sz="2400" i="1" dirty="0"/>
              <a:t>q</a:t>
            </a:r>
            <a:r>
              <a:rPr lang="en-US" sz="2400" dirty="0"/>
              <a:t> + 2)</a:t>
            </a:r>
            <a:r>
              <a:rPr lang="en-US" sz="2400" i="1" dirty="0"/>
              <a:t>y</a:t>
            </a:r>
            <a:r>
              <a:rPr lang="en-US" sz="2400" dirty="0"/>
              <a:t> + (1 </a:t>
            </a:r>
            <a:r>
              <a:rPr lang="en-US" sz="2400" dirty="0" smtClean="0"/>
              <a:t>– </a:t>
            </a:r>
            <a:r>
              <a:rPr lang="en-US" sz="2400" dirty="0"/>
              <a:t>2</a:t>
            </a:r>
            <a:r>
              <a:rPr lang="en-US" sz="2400" i="1" dirty="0"/>
              <a:t>q</a:t>
            </a:r>
            <a:r>
              <a:rPr lang="en-US" sz="2400" dirty="0"/>
              <a:t>)) = 2 (5/4 </a:t>
            </a:r>
            <a:r>
              <a:rPr lang="en-US" sz="2400" dirty="0" smtClean="0"/>
              <a:t>– </a:t>
            </a:r>
            <a:r>
              <a:rPr lang="en-US" sz="2400" i="1" dirty="0"/>
              <a:t>q</a:t>
            </a:r>
            <a:r>
              <a:rPr lang="en-US" sz="2400" dirty="0"/>
              <a:t>/4)² + 1/4</a:t>
            </a:r>
          </a:p>
          <a:p>
            <a:pPr marL="0" indent="0">
              <a:buNone/>
            </a:pPr>
            <a:r>
              <a:rPr lang="en-US" sz="2000" i="1" dirty="0"/>
              <a:t>y</a:t>
            </a:r>
            <a:r>
              <a:rPr lang="en-US" sz="2000" dirty="0"/>
              <a:t>² </a:t>
            </a:r>
            <a:r>
              <a:rPr lang="en-US" sz="2000" dirty="0" smtClean="0"/>
              <a:t>– </a:t>
            </a:r>
            <a:r>
              <a:rPr lang="en-US" sz="2000" i="1" dirty="0"/>
              <a:t>y</a:t>
            </a:r>
            <a:r>
              <a:rPr lang="en-US" sz="2000" dirty="0"/>
              <a:t> + (1/8)</a:t>
            </a:r>
            <a:r>
              <a:rPr lang="en-US" sz="2000" i="1" dirty="0"/>
              <a:t>q</a:t>
            </a:r>
            <a:r>
              <a:rPr lang="en-US" sz="2000" dirty="0"/>
              <a:t>² </a:t>
            </a:r>
            <a:r>
              <a:rPr lang="en-US" sz="2000" dirty="0" smtClean="0"/>
              <a:t>– </a:t>
            </a:r>
            <a:r>
              <a:rPr lang="en-US" sz="2000" dirty="0"/>
              <a:t>(5/4)</a:t>
            </a:r>
            <a:r>
              <a:rPr lang="en-US" sz="2000" i="1" dirty="0"/>
              <a:t>q</a:t>
            </a:r>
            <a:r>
              <a:rPr lang="en-US" sz="2000" dirty="0"/>
              <a:t> + 17/8 ∓ √((-1)</a:t>
            </a:r>
            <a:r>
              <a:rPr lang="en-US" sz="2000" i="1" dirty="0"/>
              <a:t>y</a:t>
            </a:r>
            <a:r>
              <a:rPr lang="en-US" sz="2000" dirty="0"/>
              <a:t>² + (</a:t>
            </a:r>
            <a:r>
              <a:rPr lang="en-US" sz="2000" i="1" dirty="0"/>
              <a:t>q</a:t>
            </a:r>
            <a:r>
              <a:rPr lang="en-US" sz="2000" dirty="0"/>
              <a:t> + 2)</a:t>
            </a:r>
            <a:r>
              <a:rPr lang="en-US" sz="2000" i="1" dirty="0"/>
              <a:t>y</a:t>
            </a:r>
            <a:r>
              <a:rPr lang="en-US" sz="2000" dirty="0"/>
              <a:t> + (1 </a:t>
            </a:r>
            <a:r>
              <a:rPr lang="en-US" sz="2000" dirty="0" smtClean="0"/>
              <a:t>– </a:t>
            </a:r>
            <a:r>
              <a:rPr lang="en-US" sz="2000" dirty="0"/>
              <a:t>2</a:t>
            </a:r>
            <a:r>
              <a:rPr lang="en-US" sz="2000" i="1" dirty="0"/>
              <a:t>q</a:t>
            </a:r>
            <a:r>
              <a:rPr lang="en-US" sz="2000" dirty="0"/>
              <a:t>)) = 2 (25/16 </a:t>
            </a:r>
            <a:r>
              <a:rPr lang="en-US" sz="2000" dirty="0" smtClean="0"/>
              <a:t>– </a:t>
            </a:r>
            <a:r>
              <a:rPr lang="en-US" sz="2000" dirty="0"/>
              <a:t>5</a:t>
            </a:r>
            <a:r>
              <a:rPr lang="en-US" sz="2000" i="1" dirty="0"/>
              <a:t>q</a:t>
            </a:r>
            <a:r>
              <a:rPr lang="en-US" sz="2000" dirty="0"/>
              <a:t>/8 + </a:t>
            </a:r>
            <a:r>
              <a:rPr lang="en-US" sz="2000" i="1" dirty="0"/>
              <a:t>q</a:t>
            </a:r>
            <a:r>
              <a:rPr lang="en-US" sz="2000" dirty="0"/>
              <a:t>²/16)</a:t>
            </a:r>
          </a:p>
          <a:p>
            <a:pPr marL="0" indent="0">
              <a:buNone/>
            </a:pPr>
            <a:r>
              <a:rPr lang="en-US" sz="2000" i="1" dirty="0"/>
              <a:t>y</a:t>
            </a:r>
            <a:r>
              <a:rPr lang="en-US" sz="2000" dirty="0"/>
              <a:t>² </a:t>
            </a:r>
            <a:r>
              <a:rPr lang="en-US" sz="2000" dirty="0" smtClean="0"/>
              <a:t>– </a:t>
            </a:r>
            <a:r>
              <a:rPr lang="en-US" sz="2000" i="1" dirty="0"/>
              <a:t>y</a:t>
            </a:r>
            <a:r>
              <a:rPr lang="en-US" sz="2000" dirty="0"/>
              <a:t> + (1/8)</a:t>
            </a:r>
            <a:r>
              <a:rPr lang="en-US" sz="2000" i="1" dirty="0"/>
              <a:t>q</a:t>
            </a:r>
            <a:r>
              <a:rPr lang="en-US" sz="2000" dirty="0"/>
              <a:t>² </a:t>
            </a:r>
            <a:r>
              <a:rPr lang="en-US" sz="2000" dirty="0" smtClean="0"/>
              <a:t>– </a:t>
            </a:r>
            <a:r>
              <a:rPr lang="en-US" sz="2000" dirty="0"/>
              <a:t>(5/4)</a:t>
            </a:r>
            <a:r>
              <a:rPr lang="en-US" sz="2000" i="1" dirty="0"/>
              <a:t>q</a:t>
            </a:r>
            <a:r>
              <a:rPr lang="en-US" sz="2000" dirty="0"/>
              <a:t> + 17/8 ∓ √((-1)</a:t>
            </a:r>
            <a:r>
              <a:rPr lang="en-US" sz="2000" i="1" dirty="0"/>
              <a:t>y</a:t>
            </a:r>
            <a:r>
              <a:rPr lang="en-US" sz="2000" dirty="0"/>
              <a:t>² + (</a:t>
            </a:r>
            <a:r>
              <a:rPr lang="en-US" sz="2000" i="1" dirty="0"/>
              <a:t>q</a:t>
            </a:r>
            <a:r>
              <a:rPr lang="en-US" sz="2000" dirty="0"/>
              <a:t> + 2)</a:t>
            </a:r>
            <a:r>
              <a:rPr lang="en-US" sz="2000" i="1" dirty="0"/>
              <a:t>y</a:t>
            </a:r>
            <a:r>
              <a:rPr lang="en-US" sz="2000" dirty="0"/>
              <a:t> + (1 </a:t>
            </a:r>
            <a:r>
              <a:rPr lang="en-US" sz="2000" dirty="0" smtClean="0"/>
              <a:t>– </a:t>
            </a:r>
            <a:r>
              <a:rPr lang="en-US" sz="2000" dirty="0"/>
              <a:t>2</a:t>
            </a:r>
            <a:r>
              <a:rPr lang="en-US" sz="2000" i="1" dirty="0"/>
              <a:t>q</a:t>
            </a:r>
            <a:r>
              <a:rPr lang="en-US" sz="2000" dirty="0"/>
              <a:t>)) = 25/8 </a:t>
            </a:r>
            <a:r>
              <a:rPr lang="en-US" sz="2000" dirty="0" smtClean="0"/>
              <a:t>– </a:t>
            </a:r>
            <a:r>
              <a:rPr lang="en-US" sz="2000" dirty="0"/>
              <a:t>(5/4)</a:t>
            </a:r>
            <a:r>
              <a:rPr lang="en-US" sz="2000" i="1" dirty="0"/>
              <a:t>q</a:t>
            </a:r>
            <a:r>
              <a:rPr lang="en-US" sz="2000" dirty="0"/>
              <a:t> + (1/8)</a:t>
            </a:r>
            <a:r>
              <a:rPr lang="en-US" sz="2000" i="1" dirty="0"/>
              <a:t>q</a:t>
            </a:r>
            <a:r>
              <a:rPr lang="en-US" sz="2000" dirty="0"/>
              <a:t>²</a:t>
            </a:r>
          </a:p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 ∓ √((-1)</a:t>
            </a:r>
            <a:r>
              <a:rPr lang="en-US" i="1" dirty="0"/>
              <a:t>y</a:t>
            </a:r>
            <a:r>
              <a:rPr lang="en-US" dirty="0"/>
              <a:t>² + (</a:t>
            </a:r>
            <a:r>
              <a:rPr lang="en-US" i="1" dirty="0"/>
              <a:t>q</a:t>
            </a:r>
            <a:r>
              <a:rPr lang="en-US" dirty="0"/>
              <a:t> + 2)</a:t>
            </a:r>
            <a:r>
              <a:rPr lang="en-US" i="1" dirty="0"/>
              <a:t>y</a:t>
            </a:r>
            <a:r>
              <a:rPr lang="en-US" dirty="0"/>
              <a:t> + (1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q</a:t>
            </a:r>
            <a:r>
              <a:rPr lang="en-US" dirty="0"/>
              <a:t>)) = 0</a:t>
            </a:r>
          </a:p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 = ±√((-1)</a:t>
            </a:r>
            <a:r>
              <a:rPr lang="en-US" i="1" dirty="0"/>
              <a:t>y</a:t>
            </a:r>
            <a:r>
              <a:rPr lang="en-US" dirty="0"/>
              <a:t>² + (</a:t>
            </a:r>
            <a:r>
              <a:rPr lang="en-US" i="1" dirty="0"/>
              <a:t>q</a:t>
            </a:r>
            <a:r>
              <a:rPr lang="en-US" dirty="0"/>
              <a:t> + 2)</a:t>
            </a:r>
            <a:r>
              <a:rPr lang="en-US" i="1" dirty="0"/>
              <a:t>y</a:t>
            </a:r>
            <a:r>
              <a:rPr lang="en-US" dirty="0"/>
              <a:t> + (1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q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y</a:t>
            </a:r>
            <a:r>
              <a:rPr lang="en-US" dirty="0"/>
              <a:t>² </a:t>
            </a:r>
            <a:r>
              <a:rPr lang="en-US" dirty="0" smtClean="0"/>
              <a:t>– 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1)² = (-1)</a:t>
            </a:r>
            <a:r>
              <a:rPr lang="en-US" i="1" dirty="0"/>
              <a:t>y</a:t>
            </a:r>
            <a:r>
              <a:rPr lang="en-US" dirty="0"/>
              <a:t>² + (</a:t>
            </a:r>
            <a:r>
              <a:rPr lang="en-US" i="1" dirty="0"/>
              <a:t>q</a:t>
            </a:r>
            <a:r>
              <a:rPr lang="en-US" dirty="0"/>
              <a:t> + 2)</a:t>
            </a:r>
            <a:r>
              <a:rPr lang="en-US" i="1" dirty="0"/>
              <a:t>y</a:t>
            </a:r>
            <a:r>
              <a:rPr lang="en-US" dirty="0"/>
              <a:t> + (1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q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⁴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y</a:t>
            </a:r>
            <a:r>
              <a:rPr lang="en-US" dirty="0"/>
              <a:t>³ </a:t>
            </a:r>
            <a:r>
              <a:rPr lang="en-US" dirty="0" smtClean="0"/>
              <a:t>– </a:t>
            </a:r>
            <a:r>
              <a:rPr lang="en-US" i="1" dirty="0"/>
              <a:t>y</a:t>
            </a:r>
            <a:r>
              <a:rPr lang="en-US" dirty="0"/>
              <a:t>² + 2</a:t>
            </a:r>
            <a:r>
              <a:rPr lang="en-US" i="1" dirty="0"/>
              <a:t>y</a:t>
            </a:r>
            <a:r>
              <a:rPr lang="en-US" dirty="0"/>
              <a:t> + 1 = -</a:t>
            </a:r>
            <a:r>
              <a:rPr lang="en-US" i="1" dirty="0"/>
              <a:t>y</a:t>
            </a:r>
            <a:r>
              <a:rPr lang="en-US" dirty="0"/>
              <a:t>² + (</a:t>
            </a:r>
            <a:r>
              <a:rPr lang="en-US" i="1" dirty="0"/>
              <a:t>q</a:t>
            </a:r>
            <a:r>
              <a:rPr lang="en-US" dirty="0"/>
              <a:t> + 2)</a:t>
            </a:r>
            <a:r>
              <a:rPr lang="en-US" i="1" dirty="0"/>
              <a:t>y</a:t>
            </a:r>
            <a:r>
              <a:rPr lang="en-US" dirty="0"/>
              <a:t> + (1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q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⁴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y</a:t>
            </a:r>
            <a:r>
              <a:rPr lang="en-US" dirty="0"/>
              <a:t>³ </a:t>
            </a:r>
            <a:r>
              <a:rPr lang="en-US" dirty="0" smtClean="0"/>
              <a:t>– </a:t>
            </a:r>
            <a:r>
              <a:rPr lang="en-US" i="1" dirty="0" err="1"/>
              <a:t>qy</a:t>
            </a:r>
            <a:r>
              <a:rPr lang="en-US" dirty="0"/>
              <a:t> + 2</a:t>
            </a:r>
            <a:r>
              <a:rPr lang="en-US" i="1" dirty="0"/>
              <a:t>q</a:t>
            </a:r>
            <a:r>
              <a:rPr lang="en-US" dirty="0"/>
              <a:t> = 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67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DD67-5F27-099C-B203-E6AC7C5C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9FD96-1FBC-4F85-4064-A403DB06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5272E-956A-A8EC-609A-6F3A080C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Final cleanup:</a:t>
            </a:r>
          </a:p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⁴ </a:t>
            </a:r>
            <a:r>
              <a:rPr lang="en-US" dirty="0" smtClean="0"/>
              <a:t>– </a:t>
            </a:r>
            <a:r>
              <a:rPr lang="en-US" dirty="0"/>
              <a:t>2</a:t>
            </a:r>
            <a:r>
              <a:rPr lang="en-US" i="1" dirty="0"/>
              <a:t>y</a:t>
            </a:r>
            <a:r>
              <a:rPr lang="en-US" dirty="0"/>
              <a:t>³ </a:t>
            </a:r>
            <a:r>
              <a:rPr lang="en-US" dirty="0" smtClean="0"/>
              <a:t>– </a:t>
            </a:r>
            <a:r>
              <a:rPr lang="en-US" i="1" dirty="0" err="1"/>
              <a:t>qy</a:t>
            </a:r>
            <a:r>
              <a:rPr lang="en-US" dirty="0"/>
              <a:t> + 2</a:t>
            </a:r>
            <a:r>
              <a:rPr lang="en-US" i="1" dirty="0"/>
              <a:t>q</a:t>
            </a:r>
            <a:r>
              <a:rPr lang="en-US" dirty="0"/>
              <a:t> = 0</a:t>
            </a:r>
          </a:p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³(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2) + (-</a:t>
            </a:r>
            <a:r>
              <a:rPr lang="en-US" i="1" dirty="0"/>
              <a:t>q</a:t>
            </a:r>
            <a:r>
              <a:rPr lang="en-US" dirty="0"/>
              <a:t>)(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2) = 0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y</a:t>
            </a:r>
            <a:r>
              <a:rPr lang="en-US" dirty="0"/>
              <a:t>³ </a:t>
            </a:r>
            <a:r>
              <a:rPr lang="en-US" dirty="0" smtClean="0"/>
              <a:t>– </a:t>
            </a:r>
            <a:r>
              <a:rPr lang="en-US" i="1" dirty="0"/>
              <a:t>q</a:t>
            </a:r>
            <a:r>
              <a:rPr lang="en-US" dirty="0"/>
              <a:t>)(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2) = 0</a:t>
            </a:r>
          </a:p>
          <a:p>
            <a:pPr marL="0" indent="0">
              <a:buNone/>
            </a:pPr>
            <a:r>
              <a:rPr lang="en-US" dirty="0"/>
              <a:t>Either 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dirty="0"/>
              <a:t>2 = 0 (</a:t>
            </a:r>
            <a:r>
              <a:rPr lang="en-US" i="1" dirty="0"/>
              <a:t>y</a:t>
            </a:r>
            <a:r>
              <a:rPr lang="en-US" dirty="0"/>
              <a:t> = 2) or </a:t>
            </a:r>
            <a:r>
              <a:rPr lang="en-US" i="1" dirty="0"/>
              <a:t>y</a:t>
            </a:r>
            <a:r>
              <a:rPr lang="en-US" dirty="0"/>
              <a:t>³ </a:t>
            </a:r>
            <a:r>
              <a:rPr lang="en-US" dirty="0" smtClean="0"/>
              <a:t>– </a:t>
            </a:r>
            <a:r>
              <a:rPr lang="en-US" i="1" dirty="0"/>
              <a:t>q</a:t>
            </a:r>
            <a:r>
              <a:rPr lang="en-US" dirty="0"/>
              <a:t> = 0 (</a:t>
            </a:r>
            <a:r>
              <a:rPr lang="en-US" i="1" dirty="0"/>
              <a:t>y</a:t>
            </a:r>
            <a:r>
              <a:rPr lang="en-US" dirty="0"/>
              <a:t>³ = </a:t>
            </a:r>
            <a:r>
              <a:rPr lang="en-US" i="1" dirty="0"/>
              <a:t>q</a:t>
            </a:r>
            <a:r>
              <a:rPr lang="en-US" dirty="0"/>
              <a:t>, therefore </a:t>
            </a:r>
            <a:r>
              <a:rPr lang="en-US" i="1" dirty="0"/>
              <a:t>y</a:t>
            </a:r>
            <a:r>
              <a:rPr lang="en-US" dirty="0"/>
              <a:t> = ³√</a:t>
            </a:r>
            <a:r>
              <a:rPr lang="en-US" i="1" dirty="0"/>
              <a:t>q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QED.</a:t>
            </a:r>
          </a:p>
        </p:txBody>
      </p:sp>
    </p:spTree>
    <p:extLst>
      <p:ext uri="{BB962C8B-B14F-4D97-AF65-F5344CB8AC3E}">
        <p14:creationId xmlns:p14="http://schemas.microsoft.com/office/powerpoint/2010/main" val="2722296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8312-3896-F2AF-3183-67B27A71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D092-B453-F6BB-E010-61B81E57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Cube Roots </a:t>
            </a:r>
            <a:r>
              <a:rPr lang="en-US" dirty="0" smtClean="0"/>
              <a:t>– </a:t>
            </a:r>
            <a:r>
              <a:rPr lang="en-US" dirty="0"/>
              <a:t>Implication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1AF4-35B0-E405-9A81-229754EB4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have shown that </a:t>
            </a:r>
            <a:r>
              <a:rPr lang="en-US" b="1" dirty="0"/>
              <a:t>C</a:t>
            </a:r>
            <a:r>
              <a:rPr lang="en-US" dirty="0"/>
              <a:t> is closed on the operation of cube roots.</a:t>
            </a:r>
          </a:p>
          <a:p>
            <a:pPr marL="0" indent="0">
              <a:buNone/>
            </a:pPr>
            <a:r>
              <a:rPr lang="en-US" dirty="0"/>
              <a:t>Notably, this allows us to construct numbers that are outside of 𝕂, such as ³√2.</a:t>
            </a:r>
          </a:p>
          <a:p>
            <a:pPr marL="0" indent="0">
              <a:buNone/>
            </a:pPr>
            <a:r>
              <a:rPr lang="en-US" dirty="0"/>
              <a:t>PowerPoint is more powerful than a compass and straightedge.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May God save us all.</a:t>
            </a:r>
          </a:p>
        </p:txBody>
      </p:sp>
    </p:spTree>
    <p:extLst>
      <p:ext uri="{BB962C8B-B14F-4D97-AF65-F5344CB8AC3E}">
        <p14:creationId xmlns:p14="http://schemas.microsoft.com/office/powerpoint/2010/main" val="530857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4780-AF88-7B3E-99A0-C58DF8CB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Trigonometric Functions of Rational Angles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40634C58-DC69-F524-CD3F-CC66E54D4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sunny_lu_89 after </a:t>
            </a:r>
            <a:r>
              <a:rPr lang="en-US" dirty="0" err="1"/>
              <a:t>Arglin</a:t>
            </a:r>
            <a:r>
              <a:rPr lang="en-US" dirty="0"/>
              <a:t> Kampling’s mention of using SmartArt for PowerPoint constructions.</a:t>
            </a:r>
          </a:p>
          <a:p>
            <a:pPr marL="0" indent="0">
              <a:buNone/>
            </a:pPr>
            <a:r>
              <a:rPr lang="en-US" dirty="0"/>
              <a:t>Insert &gt; SmartArt &gt; Cycle &gt; Basic Cycle, then either select Add Shape or press DELETE until there are </a:t>
            </a:r>
            <a:r>
              <a:rPr lang="en-US" i="1" dirty="0"/>
              <a:t>n</a:t>
            </a:r>
            <a:r>
              <a:rPr lang="en-US" dirty="0"/>
              <a:t> circles. (Here, </a:t>
            </a:r>
            <a:r>
              <a:rPr lang="en-US" i="1" dirty="0"/>
              <a:t>n</a:t>
            </a:r>
            <a:r>
              <a:rPr lang="en-US" dirty="0"/>
              <a:t> = 7.)</a:t>
            </a:r>
          </a:p>
        </p:txBody>
      </p:sp>
      <p:graphicFrame>
        <p:nvGraphicFramePr>
          <p:cNvPr id="35" name="Diagram 34">
            <a:extLst>
              <a:ext uri="{FF2B5EF4-FFF2-40B4-BE49-F238E27FC236}">
                <a16:creationId xmlns:a16="http://schemas.microsoft.com/office/drawing/2014/main" id="{9AB80021-A400-E8F8-03E6-8479B32283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3010517"/>
              </p:ext>
            </p:extLst>
          </p:nvPr>
        </p:nvGraphicFramePr>
        <p:xfrm>
          <a:off x="3781425" y="3594100"/>
          <a:ext cx="4629150" cy="3086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770430" y="4952484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 smtClean="0"/>
              <a:t>n </a:t>
            </a:r>
            <a:r>
              <a:rPr lang="en-US" dirty="0" smtClean="0"/>
              <a:t>=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58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8EBA-67E5-A334-DE99-21EDC4A0F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82FC-BCE3-5C0B-3BA3-44389214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Trigonometric Functions of Rational Angles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1EED4F6A-BD0D-F874-17C8-DCA8CDA5B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sunny_lu_89 after </a:t>
            </a:r>
            <a:r>
              <a:rPr lang="en-US" dirty="0" err="1"/>
              <a:t>Arglin</a:t>
            </a:r>
            <a:r>
              <a:rPr lang="en-US" dirty="0"/>
              <a:t> Kampling’s mention of using SmartArt for PowerPoint constructions.</a:t>
            </a:r>
          </a:p>
          <a:p>
            <a:pPr marL="0" indent="0">
              <a:buNone/>
            </a:pPr>
            <a:r>
              <a:rPr lang="en-US" dirty="0"/>
              <a:t>Select the topmost circle and the </a:t>
            </a:r>
            <a:r>
              <a:rPr lang="en-US" i="1" dirty="0"/>
              <a:t>k</a:t>
            </a:r>
            <a:r>
              <a:rPr lang="en-US" dirty="0"/>
              <a:t>th circle counterclockwise from the top and copy them, then deselect the SmartArt and paste. (Here, </a:t>
            </a:r>
            <a:r>
              <a:rPr lang="en-US" i="1" dirty="0"/>
              <a:t>k</a:t>
            </a:r>
            <a:r>
              <a:rPr lang="en-US" dirty="0"/>
              <a:t> = 2.)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1E45F5-8A89-3971-4F85-817BBC00CB1E}"/>
              </a:ext>
            </a:extLst>
          </p:cNvPr>
          <p:cNvSpPr/>
          <p:nvPr/>
        </p:nvSpPr>
        <p:spPr>
          <a:xfrm>
            <a:off x="5736608" y="3594100"/>
            <a:ext cx="718784" cy="718784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4F1C74-14E5-0645-8C3A-E4CE8104F803}"/>
              </a:ext>
            </a:extLst>
          </p:cNvPr>
          <p:cNvSpPr/>
          <p:nvPr/>
        </p:nvSpPr>
        <p:spPr>
          <a:xfrm>
            <a:off x="4522636" y="5116373"/>
            <a:ext cx="718784" cy="718784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006060" y="4781834"/>
            <a:ext cx="651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 smtClean="0"/>
              <a:t>k = 2</a:t>
            </a:r>
          </a:p>
          <a:p>
            <a:pPr algn="ctr"/>
            <a:r>
              <a:rPr lang="en-US" i="1" dirty="0" smtClean="0"/>
              <a:t>n </a:t>
            </a:r>
            <a:r>
              <a:rPr lang="en-US" dirty="0" smtClean="0"/>
              <a:t>= 7</a:t>
            </a:r>
            <a:endParaRPr lang="en-US" dirty="0"/>
          </a:p>
        </p:txBody>
      </p:sp>
      <p:sp>
        <p:nvSpPr>
          <p:cNvPr id="26" name="Freeform 25"/>
          <p:cNvSpPr/>
          <p:nvPr/>
        </p:nvSpPr>
        <p:spPr>
          <a:xfrm>
            <a:off x="6710138" y="4063050"/>
            <a:ext cx="718784" cy="718784"/>
          </a:xfrm>
          <a:custGeom>
            <a:avLst/>
            <a:gdLst>
              <a:gd name="connsiteX0" fmla="*/ 0 w 718784"/>
              <a:gd name="connsiteY0" fmla="*/ 359392 h 718784"/>
              <a:gd name="connsiteX1" fmla="*/ 359392 w 718784"/>
              <a:gd name="connsiteY1" fmla="*/ 0 h 718784"/>
              <a:gd name="connsiteX2" fmla="*/ 718784 w 718784"/>
              <a:gd name="connsiteY2" fmla="*/ 359392 h 718784"/>
              <a:gd name="connsiteX3" fmla="*/ 359392 w 718784"/>
              <a:gd name="connsiteY3" fmla="*/ 718784 h 718784"/>
              <a:gd name="connsiteX4" fmla="*/ 0 w 718784"/>
              <a:gd name="connsiteY4" fmla="*/ 359392 h 718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8784" h="718784">
                <a:moveTo>
                  <a:pt x="0" y="359392"/>
                </a:moveTo>
                <a:cubicBezTo>
                  <a:pt x="0" y="160905"/>
                  <a:pt x="160905" y="0"/>
                  <a:pt x="359392" y="0"/>
                </a:cubicBezTo>
                <a:cubicBezTo>
                  <a:pt x="557879" y="0"/>
                  <a:pt x="718784" y="160905"/>
                  <a:pt x="718784" y="359392"/>
                </a:cubicBezTo>
                <a:cubicBezTo>
                  <a:pt x="718784" y="557879"/>
                  <a:pt x="557879" y="718784"/>
                  <a:pt x="359392" y="718784"/>
                </a:cubicBezTo>
                <a:cubicBezTo>
                  <a:pt x="160905" y="718784"/>
                  <a:pt x="0" y="557879"/>
                  <a:pt x="0" y="359392"/>
                </a:cubicBezTo>
                <a:close/>
              </a:path>
            </a:pathLst>
          </a:custGeom>
          <a:solidFill>
            <a:srgbClr val="156082">
              <a:alpha val="30196"/>
            </a:srgbClr>
          </a:solidFill>
          <a:ln>
            <a:solidFill>
              <a:srgbClr val="FFFFFF">
                <a:alpha val="30196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363" tIns="143363" rIns="143363" bIns="143363" numCol="1" spcCol="1270" anchor="ctr" anchorCtr="0">
            <a:noAutofit/>
          </a:bodyPr>
          <a:lstStyle/>
          <a:p>
            <a:pPr lvl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000" kern="1200" dirty="0"/>
          </a:p>
        </p:txBody>
      </p:sp>
      <p:sp>
        <p:nvSpPr>
          <p:cNvPr id="27" name="Freeform 26"/>
          <p:cNvSpPr/>
          <p:nvPr/>
        </p:nvSpPr>
        <p:spPr>
          <a:xfrm>
            <a:off x="6950580" y="5116495"/>
            <a:ext cx="718784" cy="718784"/>
          </a:xfrm>
          <a:custGeom>
            <a:avLst/>
            <a:gdLst>
              <a:gd name="connsiteX0" fmla="*/ 0 w 718784"/>
              <a:gd name="connsiteY0" fmla="*/ 359392 h 718784"/>
              <a:gd name="connsiteX1" fmla="*/ 359392 w 718784"/>
              <a:gd name="connsiteY1" fmla="*/ 0 h 718784"/>
              <a:gd name="connsiteX2" fmla="*/ 718784 w 718784"/>
              <a:gd name="connsiteY2" fmla="*/ 359392 h 718784"/>
              <a:gd name="connsiteX3" fmla="*/ 359392 w 718784"/>
              <a:gd name="connsiteY3" fmla="*/ 718784 h 718784"/>
              <a:gd name="connsiteX4" fmla="*/ 0 w 718784"/>
              <a:gd name="connsiteY4" fmla="*/ 359392 h 718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8784" h="718784">
                <a:moveTo>
                  <a:pt x="0" y="359392"/>
                </a:moveTo>
                <a:cubicBezTo>
                  <a:pt x="0" y="160905"/>
                  <a:pt x="160905" y="0"/>
                  <a:pt x="359392" y="0"/>
                </a:cubicBezTo>
                <a:cubicBezTo>
                  <a:pt x="557879" y="0"/>
                  <a:pt x="718784" y="160905"/>
                  <a:pt x="718784" y="359392"/>
                </a:cubicBezTo>
                <a:cubicBezTo>
                  <a:pt x="718784" y="557879"/>
                  <a:pt x="557879" y="718784"/>
                  <a:pt x="359392" y="718784"/>
                </a:cubicBezTo>
                <a:cubicBezTo>
                  <a:pt x="160905" y="718784"/>
                  <a:pt x="0" y="557879"/>
                  <a:pt x="0" y="359392"/>
                </a:cubicBezTo>
                <a:close/>
              </a:path>
            </a:pathLst>
          </a:custGeom>
          <a:solidFill>
            <a:srgbClr val="156082">
              <a:alpha val="30196"/>
            </a:srgbClr>
          </a:solidFill>
          <a:ln>
            <a:solidFill>
              <a:srgbClr val="FFFFFF">
                <a:alpha val="30196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363" tIns="143363" rIns="143363" bIns="143363" numCol="1" spcCol="1270" anchor="ctr" anchorCtr="0">
            <a:noAutofit/>
          </a:bodyPr>
          <a:lstStyle/>
          <a:p>
            <a:pPr lvl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000" kern="1200" dirty="0"/>
          </a:p>
        </p:txBody>
      </p:sp>
      <p:sp>
        <p:nvSpPr>
          <p:cNvPr id="28" name="Freeform 27"/>
          <p:cNvSpPr/>
          <p:nvPr/>
        </p:nvSpPr>
        <p:spPr>
          <a:xfrm>
            <a:off x="6276876" y="5961293"/>
            <a:ext cx="718784" cy="718784"/>
          </a:xfrm>
          <a:custGeom>
            <a:avLst/>
            <a:gdLst>
              <a:gd name="connsiteX0" fmla="*/ 0 w 718784"/>
              <a:gd name="connsiteY0" fmla="*/ 359392 h 718784"/>
              <a:gd name="connsiteX1" fmla="*/ 359392 w 718784"/>
              <a:gd name="connsiteY1" fmla="*/ 0 h 718784"/>
              <a:gd name="connsiteX2" fmla="*/ 718784 w 718784"/>
              <a:gd name="connsiteY2" fmla="*/ 359392 h 718784"/>
              <a:gd name="connsiteX3" fmla="*/ 359392 w 718784"/>
              <a:gd name="connsiteY3" fmla="*/ 718784 h 718784"/>
              <a:gd name="connsiteX4" fmla="*/ 0 w 718784"/>
              <a:gd name="connsiteY4" fmla="*/ 359392 h 718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8784" h="718784">
                <a:moveTo>
                  <a:pt x="0" y="359392"/>
                </a:moveTo>
                <a:cubicBezTo>
                  <a:pt x="0" y="160905"/>
                  <a:pt x="160905" y="0"/>
                  <a:pt x="359392" y="0"/>
                </a:cubicBezTo>
                <a:cubicBezTo>
                  <a:pt x="557879" y="0"/>
                  <a:pt x="718784" y="160905"/>
                  <a:pt x="718784" y="359392"/>
                </a:cubicBezTo>
                <a:cubicBezTo>
                  <a:pt x="718784" y="557879"/>
                  <a:pt x="557879" y="718784"/>
                  <a:pt x="359392" y="718784"/>
                </a:cubicBezTo>
                <a:cubicBezTo>
                  <a:pt x="160905" y="718784"/>
                  <a:pt x="0" y="557879"/>
                  <a:pt x="0" y="359392"/>
                </a:cubicBezTo>
                <a:close/>
              </a:path>
            </a:pathLst>
          </a:custGeom>
          <a:solidFill>
            <a:srgbClr val="156082">
              <a:alpha val="30196"/>
            </a:srgbClr>
          </a:solidFill>
          <a:ln>
            <a:solidFill>
              <a:srgbClr val="FFFFFF">
                <a:alpha val="30196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363" tIns="143363" rIns="143363" bIns="143363" numCol="1" spcCol="1270" anchor="ctr" anchorCtr="0">
            <a:noAutofit/>
          </a:bodyPr>
          <a:lstStyle/>
          <a:p>
            <a:pPr lvl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000" kern="1200" dirty="0"/>
          </a:p>
        </p:txBody>
      </p:sp>
      <p:sp>
        <p:nvSpPr>
          <p:cNvPr id="29" name="Freeform 28"/>
          <p:cNvSpPr/>
          <p:nvPr/>
        </p:nvSpPr>
        <p:spPr>
          <a:xfrm>
            <a:off x="5196339" y="5961293"/>
            <a:ext cx="718784" cy="718784"/>
          </a:xfrm>
          <a:custGeom>
            <a:avLst/>
            <a:gdLst>
              <a:gd name="connsiteX0" fmla="*/ 0 w 718784"/>
              <a:gd name="connsiteY0" fmla="*/ 359392 h 718784"/>
              <a:gd name="connsiteX1" fmla="*/ 359392 w 718784"/>
              <a:gd name="connsiteY1" fmla="*/ 0 h 718784"/>
              <a:gd name="connsiteX2" fmla="*/ 718784 w 718784"/>
              <a:gd name="connsiteY2" fmla="*/ 359392 h 718784"/>
              <a:gd name="connsiteX3" fmla="*/ 359392 w 718784"/>
              <a:gd name="connsiteY3" fmla="*/ 718784 h 718784"/>
              <a:gd name="connsiteX4" fmla="*/ 0 w 718784"/>
              <a:gd name="connsiteY4" fmla="*/ 359392 h 718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8784" h="718784">
                <a:moveTo>
                  <a:pt x="0" y="359392"/>
                </a:moveTo>
                <a:cubicBezTo>
                  <a:pt x="0" y="160905"/>
                  <a:pt x="160905" y="0"/>
                  <a:pt x="359392" y="0"/>
                </a:cubicBezTo>
                <a:cubicBezTo>
                  <a:pt x="557879" y="0"/>
                  <a:pt x="718784" y="160905"/>
                  <a:pt x="718784" y="359392"/>
                </a:cubicBezTo>
                <a:cubicBezTo>
                  <a:pt x="718784" y="557879"/>
                  <a:pt x="557879" y="718784"/>
                  <a:pt x="359392" y="718784"/>
                </a:cubicBezTo>
                <a:cubicBezTo>
                  <a:pt x="160905" y="718784"/>
                  <a:pt x="0" y="557879"/>
                  <a:pt x="0" y="359392"/>
                </a:cubicBezTo>
                <a:close/>
              </a:path>
            </a:pathLst>
          </a:custGeom>
          <a:solidFill>
            <a:srgbClr val="156082">
              <a:alpha val="30196"/>
            </a:srgbClr>
          </a:solidFill>
          <a:ln>
            <a:solidFill>
              <a:srgbClr val="FFFFFF">
                <a:alpha val="30196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363" tIns="143363" rIns="143363" bIns="143363" numCol="1" spcCol="1270" anchor="ctr" anchorCtr="0">
            <a:noAutofit/>
          </a:bodyPr>
          <a:lstStyle/>
          <a:p>
            <a:pPr lvl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000" kern="1200" dirty="0"/>
          </a:p>
        </p:txBody>
      </p:sp>
      <p:sp>
        <p:nvSpPr>
          <p:cNvPr id="30" name="Freeform 29"/>
          <p:cNvSpPr/>
          <p:nvPr/>
        </p:nvSpPr>
        <p:spPr>
          <a:xfrm>
            <a:off x="4763077" y="4063050"/>
            <a:ext cx="718784" cy="718784"/>
          </a:xfrm>
          <a:custGeom>
            <a:avLst/>
            <a:gdLst>
              <a:gd name="connsiteX0" fmla="*/ 0 w 718784"/>
              <a:gd name="connsiteY0" fmla="*/ 359392 h 718784"/>
              <a:gd name="connsiteX1" fmla="*/ 359392 w 718784"/>
              <a:gd name="connsiteY1" fmla="*/ 0 h 718784"/>
              <a:gd name="connsiteX2" fmla="*/ 718784 w 718784"/>
              <a:gd name="connsiteY2" fmla="*/ 359392 h 718784"/>
              <a:gd name="connsiteX3" fmla="*/ 359392 w 718784"/>
              <a:gd name="connsiteY3" fmla="*/ 718784 h 718784"/>
              <a:gd name="connsiteX4" fmla="*/ 0 w 718784"/>
              <a:gd name="connsiteY4" fmla="*/ 359392 h 718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8784" h="718784">
                <a:moveTo>
                  <a:pt x="0" y="359392"/>
                </a:moveTo>
                <a:cubicBezTo>
                  <a:pt x="0" y="160905"/>
                  <a:pt x="160905" y="0"/>
                  <a:pt x="359392" y="0"/>
                </a:cubicBezTo>
                <a:cubicBezTo>
                  <a:pt x="557879" y="0"/>
                  <a:pt x="718784" y="160905"/>
                  <a:pt x="718784" y="359392"/>
                </a:cubicBezTo>
                <a:cubicBezTo>
                  <a:pt x="718784" y="557879"/>
                  <a:pt x="557879" y="718784"/>
                  <a:pt x="359392" y="718784"/>
                </a:cubicBezTo>
                <a:cubicBezTo>
                  <a:pt x="160905" y="718784"/>
                  <a:pt x="0" y="557879"/>
                  <a:pt x="0" y="359392"/>
                </a:cubicBezTo>
                <a:close/>
              </a:path>
            </a:pathLst>
          </a:custGeom>
          <a:solidFill>
            <a:srgbClr val="156082">
              <a:alpha val="30196"/>
            </a:srgbClr>
          </a:solidFill>
          <a:ln>
            <a:solidFill>
              <a:srgbClr val="FFFFFF">
                <a:alpha val="30196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363" tIns="143363" rIns="143363" bIns="143363" numCol="1" spcCol="1270" anchor="ctr" anchorCtr="0">
            <a:noAutofit/>
          </a:bodyPr>
          <a:lstStyle/>
          <a:p>
            <a:pPr lvl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000" kern="1200"/>
          </a:p>
        </p:txBody>
      </p:sp>
    </p:spTree>
    <p:extLst>
      <p:ext uri="{BB962C8B-B14F-4D97-AF65-F5344CB8AC3E}">
        <p14:creationId xmlns:p14="http://schemas.microsoft.com/office/powerpoint/2010/main" val="3494319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AB45-DF4E-AD18-500E-911112D5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5EB0-D7BA-540D-9EA3-F82DC274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Trigonometric Functions of Rational Angles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1B0F506E-09CA-BC3A-C205-A8D7C56AD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sunny_lu_89 after </a:t>
            </a:r>
            <a:r>
              <a:rPr lang="en-US" dirty="0" err="1"/>
              <a:t>Arglin</a:t>
            </a:r>
            <a:r>
              <a:rPr lang="en-US" dirty="0"/>
              <a:t> Kampling’s mention of using SmartArt for PowerPoint constructions.</a:t>
            </a:r>
          </a:p>
          <a:p>
            <a:pPr marL="0" indent="0">
              <a:buNone/>
            </a:pPr>
            <a:r>
              <a:rPr lang="en-US" dirty="0"/>
              <a:t>Snap these lines to the circles, then snap the rectangle’s corners to the tops of the lines.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FB5AA7-C908-D9F5-FDD1-5DB19C2F791E}"/>
              </a:ext>
            </a:extLst>
          </p:cNvPr>
          <p:cNvSpPr/>
          <p:nvPr/>
        </p:nvSpPr>
        <p:spPr>
          <a:xfrm>
            <a:off x="5736608" y="3594100"/>
            <a:ext cx="718784" cy="718784"/>
          </a:xfrm>
          <a:prstGeom prst="ellipse">
            <a:avLst/>
          </a:prstGeom>
          <a:ln cap="rnd">
            <a:round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8810AE-E43C-E27C-0196-96D2A37FDCC4}"/>
              </a:ext>
            </a:extLst>
          </p:cNvPr>
          <p:cNvSpPr/>
          <p:nvPr/>
        </p:nvSpPr>
        <p:spPr>
          <a:xfrm>
            <a:off x="4522636" y="5116373"/>
            <a:ext cx="718784" cy="718784"/>
          </a:xfrm>
          <a:prstGeom prst="ellipse">
            <a:avLst/>
          </a:prstGeom>
          <a:ln cap="rnd">
            <a:round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5AE21C-0A67-7515-84AA-68292B7FE46E}"/>
              </a:ext>
            </a:extLst>
          </p:cNvPr>
          <p:cNvSpPr/>
          <p:nvPr/>
        </p:nvSpPr>
        <p:spPr>
          <a:xfrm>
            <a:off x="4882027" y="3594100"/>
            <a:ext cx="1213969" cy="1522273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50F3D5-B823-0A4D-ADCC-7E832971B700}"/>
              </a:ext>
            </a:extLst>
          </p:cNvPr>
          <p:cNvCxnSpPr>
            <a:stCxn id="7" idx="0"/>
            <a:endCxn id="7" idx="4"/>
          </p:cNvCxnSpPr>
          <p:nvPr/>
        </p:nvCxnSpPr>
        <p:spPr>
          <a:xfrm>
            <a:off x="6096000" y="3594100"/>
            <a:ext cx="0" cy="718784"/>
          </a:xfrm>
          <a:prstGeom prst="line">
            <a:avLst/>
          </a:prstGeom>
          <a:ln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B42C57-ECDE-4FF1-E205-67BAC16F4F76}"/>
              </a:ext>
            </a:extLst>
          </p:cNvPr>
          <p:cNvCxnSpPr>
            <a:stCxn id="5" idx="0"/>
            <a:endCxn id="5" idx="4"/>
          </p:cNvCxnSpPr>
          <p:nvPr/>
        </p:nvCxnSpPr>
        <p:spPr>
          <a:xfrm>
            <a:off x="4882028" y="5116373"/>
            <a:ext cx="0" cy="718784"/>
          </a:xfrm>
          <a:prstGeom prst="line">
            <a:avLst/>
          </a:prstGeom>
          <a:ln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06060" y="4781834"/>
            <a:ext cx="651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 smtClean="0"/>
              <a:t>k = 2</a:t>
            </a:r>
          </a:p>
          <a:p>
            <a:pPr algn="ctr"/>
            <a:r>
              <a:rPr lang="en-US" i="1" dirty="0" smtClean="0"/>
              <a:t>n </a:t>
            </a:r>
            <a:r>
              <a:rPr lang="en-US" dirty="0" smtClean="0"/>
              <a:t>=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635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A422-ECD3-0FCC-08BF-2D8A780B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7F52-12DF-B3C8-5E4C-592F2862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Trigonometric Functions of Rational Angles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B363B7A4-81F5-3011-C572-074503B28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sunny_lu_89 after </a:t>
            </a:r>
            <a:r>
              <a:rPr lang="en-US" dirty="0" err="1"/>
              <a:t>Arglin</a:t>
            </a:r>
            <a:r>
              <a:rPr lang="en-US" dirty="0"/>
              <a:t> Kampling’s mention of using SmartArt for PowerPoint constructions.</a:t>
            </a:r>
          </a:p>
          <a:p>
            <a:pPr marL="0" indent="0">
              <a:buNone/>
            </a:pPr>
            <a:r>
              <a:rPr lang="en-US" dirty="0"/>
              <a:t>Snap the height of this rectangle to a 1-size square. Its width is now cot(π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351362-D213-0F6C-C0F6-A45A51F68C4B}"/>
              </a:ext>
            </a:extLst>
          </p:cNvPr>
          <p:cNvSpPr/>
          <p:nvPr/>
        </p:nvSpPr>
        <p:spPr>
          <a:xfrm>
            <a:off x="4882028" y="4144464"/>
            <a:ext cx="775070" cy="971909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3D2746-AFD1-6333-1D43-E7C6BCF9B914}"/>
              </a:ext>
            </a:extLst>
          </p:cNvPr>
          <p:cNvSpPr/>
          <p:nvPr/>
        </p:nvSpPr>
        <p:spPr>
          <a:xfrm>
            <a:off x="3910118" y="4144464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0712FD-B0D1-2768-20EF-E634AC15C4E6}"/>
              </a:ext>
            </a:extLst>
          </p:cNvPr>
          <p:cNvSpPr/>
          <p:nvPr/>
        </p:nvSpPr>
        <p:spPr>
          <a:xfrm>
            <a:off x="4882028" y="5116374"/>
            <a:ext cx="775061" cy="775061"/>
          </a:xfrm>
          <a:prstGeom prst="rect">
            <a:avLst/>
          </a:prstGeom>
          <a:solidFill>
            <a:schemeClr val="accent3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c</a:t>
            </a:r>
            <a:r>
              <a:rPr lang="en-US" sz="1100" dirty="0" smtClean="0"/>
              <a:t>ot(2π/7)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85343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58E3-AA29-F6B4-B80C-B9A42493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296D-B735-9ACF-29ED-FFF6A8BBF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Trigonometric Functions of Rational Angles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3937247A-5328-C852-B8A9-8406575B8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construction was found by sunny_lu_89 after </a:t>
            </a:r>
            <a:r>
              <a:rPr lang="en-US" dirty="0" err="1"/>
              <a:t>Arglin</a:t>
            </a:r>
            <a:r>
              <a:rPr lang="en-US" dirty="0"/>
              <a:t> Kampling’s mention of using SmartArt for PowerPoint constructions.</a:t>
            </a:r>
          </a:p>
          <a:p>
            <a:pPr marL="0" indent="0">
              <a:buNone/>
            </a:pPr>
            <a:r>
              <a:rPr lang="en-US" dirty="0"/>
              <a:t>Using the methods we have already established, we can now construct any trigonometric function of this angle:</a:t>
            </a:r>
          </a:p>
          <a:p>
            <a:pPr marL="0" indent="0">
              <a:buNone/>
            </a:pPr>
            <a:r>
              <a:rPr lang="en-US" dirty="0"/>
              <a:t>tan(</a:t>
            </a:r>
            <a:r>
              <a:rPr lang="en-US" i="1" dirty="0"/>
              <a:t>x</a:t>
            </a:r>
            <a:r>
              <a:rPr lang="en-US" dirty="0"/>
              <a:t>) = 1/cot(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sec²(</a:t>
            </a:r>
            <a:r>
              <a:rPr lang="en-US" i="1" dirty="0"/>
              <a:t>x</a:t>
            </a:r>
            <a:r>
              <a:rPr lang="en-US" dirty="0"/>
              <a:t>) = tan²(</a:t>
            </a:r>
            <a:r>
              <a:rPr lang="en-US" i="1" dirty="0"/>
              <a:t>x</a:t>
            </a:r>
            <a:r>
              <a:rPr lang="en-US" dirty="0"/>
              <a:t>) + 1 → sec(</a:t>
            </a:r>
            <a:r>
              <a:rPr lang="en-US" i="1" dirty="0"/>
              <a:t>x</a:t>
            </a:r>
            <a:r>
              <a:rPr lang="en-US" dirty="0"/>
              <a:t>) = √(tan²(</a:t>
            </a:r>
            <a:r>
              <a:rPr lang="en-US" i="1" dirty="0"/>
              <a:t>x</a:t>
            </a:r>
            <a:r>
              <a:rPr lang="en-US" dirty="0"/>
              <a:t>) + 1)</a:t>
            </a:r>
          </a:p>
          <a:p>
            <a:pPr marL="0" indent="0">
              <a:buNone/>
            </a:pPr>
            <a:r>
              <a:rPr lang="en-US" dirty="0"/>
              <a:t>cos(</a:t>
            </a:r>
            <a:r>
              <a:rPr lang="en-US" i="1" dirty="0"/>
              <a:t>x</a:t>
            </a:r>
            <a:r>
              <a:rPr lang="en-US" dirty="0"/>
              <a:t>) = 1/sec(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sin(</a:t>
            </a:r>
            <a:r>
              <a:rPr lang="en-US" i="1" dirty="0"/>
              <a:t>x</a:t>
            </a:r>
            <a:r>
              <a:rPr lang="en-US" dirty="0"/>
              <a:t>) = cos(</a:t>
            </a:r>
            <a:r>
              <a:rPr lang="en-US" i="1" dirty="0"/>
              <a:t>x</a:t>
            </a:r>
            <a:r>
              <a:rPr lang="en-US" dirty="0"/>
              <a:t>) tan(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csc(</a:t>
            </a:r>
            <a:r>
              <a:rPr lang="en-US" i="1" dirty="0"/>
              <a:t>x</a:t>
            </a:r>
            <a:r>
              <a:rPr lang="en-US" dirty="0"/>
              <a:t>) = 1/sin(</a:t>
            </a:r>
            <a:r>
              <a:rPr lang="en-US" i="1" dirty="0"/>
              <a:t>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2984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5494-B18B-0A72-6D7F-8D9EB296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D974-8473-6C85-3518-1BFC4F04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Trigonometric Functions of Rational Angles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E9D9E472-CB03-E577-9C9C-C5B368BE9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constructing SmartArt, the </a:t>
            </a:r>
            <a:r>
              <a:rPr lang="en-US" i="1" dirty="0"/>
              <a:t>n</a:t>
            </a:r>
            <a:r>
              <a:rPr lang="en-US" dirty="0"/>
              <a:t> circles are equally spaced around a circle. Therefore, each one has an angle of 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 radians counterclockwise from the upwards direction.</a:t>
            </a:r>
          </a:p>
          <a:p>
            <a:pPr marL="0" indent="0">
              <a:buNone/>
            </a:pPr>
            <a:r>
              <a:rPr lang="en-US" dirty="0"/>
              <a:t>If we rotate the assembly by a quarter turn clockwise, then each point is at (r cos(2π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), r sin(2π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)), where r is the distance from the center of the circle. Rotating it back results in </a:t>
            </a:r>
            <a:r>
              <a:rPr lang="en-US" dirty="0" smtClean="0"/>
              <a:t>(– </a:t>
            </a:r>
            <a:r>
              <a:rPr lang="en-US" dirty="0"/>
              <a:t>r </a:t>
            </a:r>
            <a:r>
              <a:rPr lang="en-US" dirty="0"/>
              <a:t>sin(2π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), r cos(2π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)).</a:t>
            </a:r>
          </a:p>
          <a:p>
            <a:pPr marL="0" indent="0">
              <a:buNone/>
            </a:pPr>
            <a:r>
              <a:rPr lang="en-US" dirty="0"/>
              <a:t>The topmost point is positioned at (0, r). The width of the rectangle is therefore </a:t>
            </a:r>
            <a:r>
              <a:rPr lang="en-US" dirty="0" smtClean="0"/>
              <a:t>– r </a:t>
            </a:r>
            <a:r>
              <a:rPr lang="en-US" dirty="0"/>
              <a:t>sin(2π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 and its height is r </a:t>
            </a:r>
            <a:r>
              <a:rPr lang="en-US" dirty="0" smtClean="0"/>
              <a:t>– </a:t>
            </a:r>
            <a:r>
              <a:rPr lang="en-US" dirty="0"/>
              <a:t>r cos(2π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79991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Trigonometric Functions of Rational Angles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When scaling it down, the dimensions are divided by the height, leaving a width of</a:t>
            </a:r>
          </a:p>
          <a:p>
            <a:pPr marL="0" indent="0">
              <a:buNone/>
            </a:pPr>
            <a:r>
              <a:rPr lang="en-US" dirty="0" smtClean="0"/>
              <a:t>(– </a:t>
            </a:r>
            <a:r>
              <a:rPr lang="en-US" dirty="0"/>
              <a:t>r </a:t>
            </a:r>
            <a:r>
              <a:rPr lang="en-US" dirty="0"/>
              <a:t>sin(2π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)) / (r </a:t>
            </a:r>
            <a:r>
              <a:rPr lang="en-US" dirty="0" smtClean="0"/>
              <a:t>– </a:t>
            </a:r>
            <a:r>
              <a:rPr lang="en-US" dirty="0"/>
              <a:t>r cos(2π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= sin(2π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 / (cos(2π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 </a:t>
            </a:r>
            <a:r>
              <a:rPr lang="en-US" dirty="0" smtClean="0"/>
              <a:t>– </a:t>
            </a:r>
            <a:r>
              <a:rPr lang="en-US" dirty="0"/>
              <a:t>1)</a:t>
            </a:r>
          </a:p>
          <a:p>
            <a:pPr marL="0" indent="0">
              <a:buNone/>
            </a:pPr>
            <a:r>
              <a:rPr lang="en-US" dirty="0"/>
              <a:t>= </a:t>
            </a:r>
            <a:r>
              <a:rPr lang="en-US" dirty="0" smtClean="0"/>
              <a:t>– </a:t>
            </a:r>
            <a:r>
              <a:rPr lang="en-US" dirty="0"/>
              <a:t>1 </a:t>
            </a:r>
            <a:r>
              <a:rPr lang="en-US" dirty="0"/>
              <a:t>/ (1 </a:t>
            </a:r>
            <a:r>
              <a:rPr lang="en-US" dirty="0" smtClean="0"/>
              <a:t>– </a:t>
            </a:r>
            <a:r>
              <a:rPr lang="en-US" dirty="0"/>
              <a:t>(cos(2π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)) / sin(2π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= </a:t>
            </a:r>
            <a:r>
              <a:rPr lang="en-US" dirty="0" smtClean="0"/>
              <a:t>– </a:t>
            </a:r>
            <a:r>
              <a:rPr lang="en-US" dirty="0"/>
              <a:t>1 </a:t>
            </a:r>
            <a:r>
              <a:rPr lang="en-US" dirty="0"/>
              <a:t>/ tan(π</a:t>
            </a:r>
            <a:r>
              <a:rPr lang="en-US" i="1" dirty="0"/>
              <a:t>k</a:t>
            </a:r>
            <a:r>
              <a:rPr lang="en-US" dirty="0"/>
              <a:t>/</a:t>
            </a:r>
            <a:r>
              <a:rPr lang="en-US" i="1" dirty="0"/>
              <a:t>n</a:t>
            </a:r>
            <a:r>
              <a:rPr lang="en-US" dirty="0"/>
              <a:t>) [half-angle formula]</a:t>
            </a:r>
          </a:p>
          <a:p>
            <a:pPr marL="0" indent="0">
              <a:buNone/>
            </a:pPr>
            <a:r>
              <a:rPr lang="en-US" dirty="0"/>
              <a:t>= </a:t>
            </a:r>
            <a:r>
              <a:rPr lang="en-US" dirty="0" smtClean="0"/>
              <a:t>– </a:t>
            </a:r>
            <a:r>
              <a:rPr lang="en-US" dirty="0"/>
              <a:t>cot(π</a:t>
            </a:r>
            <a:r>
              <a:rPr lang="en-US" i="1" dirty="0" smtClean="0"/>
              <a:t>k</a:t>
            </a:r>
            <a:r>
              <a:rPr lang="en-US" dirty="0" smtClean="0"/>
              <a:t>/</a:t>
            </a:r>
            <a:r>
              <a:rPr lang="en-US" i="1" dirty="0" smtClean="0"/>
              <a:t>n</a:t>
            </a:r>
            <a:r>
              <a:rPr lang="en-US" dirty="0"/>
              <a:t>) [but we can drop the negative sign, since we’re dealing with distances]</a:t>
            </a:r>
          </a:p>
          <a:p>
            <a:pPr marL="0" indent="0">
              <a:buNone/>
            </a:pPr>
            <a:r>
              <a:rPr lang="en-US" dirty="0"/>
              <a:t>Therefore, any trigonometric function of any rational multiple of a full turn is constructible.</a:t>
            </a:r>
          </a:p>
        </p:txBody>
      </p:sp>
    </p:spTree>
    <p:extLst>
      <p:ext uri="{BB962C8B-B14F-4D97-AF65-F5344CB8AC3E}">
        <p14:creationId xmlns:p14="http://schemas.microsoft.com/office/powerpoint/2010/main" val="4263703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4014-AFDF-A908-CA2D-CB69E063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D1944-6B7E-E7BA-E3E9-CC9CC45DD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</a:t>
            </a:r>
            <a:r>
              <a:rPr lang="en-US" dirty="0" err="1"/>
              <a:t>Arglin</a:t>
            </a:r>
            <a:r>
              <a:rPr lang="en-US" dirty="0"/>
              <a:t> Kampling.</a:t>
            </a:r>
          </a:p>
          <a:p>
            <a:pPr marL="0" indent="0">
              <a:buNone/>
            </a:pPr>
            <a:r>
              <a:rPr lang="en-US" dirty="0"/>
              <a:t>To construct an arbitrary cubic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 with constructible control points (P0, P1, P2, P3):</a:t>
            </a:r>
          </a:p>
          <a:p>
            <a:pPr marL="0" indent="0">
              <a:buNone/>
            </a:pPr>
            <a:r>
              <a:rPr lang="en-US" dirty="0"/>
              <a:t>Assume that we have constructed squares snapped to these points such that their upper-right corners are the corresponding </a:t>
            </a:r>
            <a:r>
              <a:rPr lang="en-US" dirty="0" smtClean="0"/>
              <a:t>control points (marked with ×).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406C49-2B95-E6C8-9BF8-A9BBD476F0D8}"/>
              </a:ext>
            </a:extLst>
          </p:cNvPr>
          <p:cNvSpPr/>
          <p:nvPr/>
        </p:nvSpPr>
        <p:spPr>
          <a:xfrm>
            <a:off x="5604234" y="5685197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C88040-BBC3-14CB-4B9A-C4F7159BA3D4}"/>
              </a:ext>
            </a:extLst>
          </p:cNvPr>
          <p:cNvSpPr/>
          <p:nvPr/>
        </p:nvSpPr>
        <p:spPr>
          <a:xfrm>
            <a:off x="6096000" y="5439314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99C6B-21B4-01E3-9CF6-94E5ECA0BD0C}"/>
              </a:ext>
            </a:extLst>
          </p:cNvPr>
          <p:cNvSpPr/>
          <p:nvPr/>
        </p:nvSpPr>
        <p:spPr>
          <a:xfrm>
            <a:off x="5604234" y="5193431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2D01C4-8C74-D89D-4334-1189080A8140}"/>
              </a:ext>
            </a:extLst>
          </p:cNvPr>
          <p:cNvSpPr/>
          <p:nvPr/>
        </p:nvSpPr>
        <p:spPr>
          <a:xfrm>
            <a:off x="6096000" y="4701665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050280" y="5147711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6050280" y="5147711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542046" y="465594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6542046" y="465594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538512" y="539359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538512" y="539359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050280" y="5639476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050280" y="5639476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656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5F9D8-3F92-CF52-37CE-AD4587A6F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4451-4322-5BD5-D807-BEC4CF8A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A52F5-08DD-7781-A584-6C1FB74CB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Arglin </a:t>
            </a:r>
            <a:r>
              <a:rPr lang="en-US" dirty="0" err="1"/>
              <a:t>Kampling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Construct the following reference triangles.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3EADD5-7A10-DE46-75FA-3945E38AF1E1}"/>
              </a:ext>
            </a:extLst>
          </p:cNvPr>
          <p:cNvSpPr/>
          <p:nvPr/>
        </p:nvSpPr>
        <p:spPr>
          <a:xfrm>
            <a:off x="957456" y="4029792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8F650C-743F-4FF5-F1A7-D4DCDBD22AD6}"/>
              </a:ext>
            </a:extLst>
          </p:cNvPr>
          <p:cNvSpPr/>
          <p:nvPr/>
        </p:nvSpPr>
        <p:spPr>
          <a:xfrm>
            <a:off x="1449222" y="3046260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8D95A0B5-E48A-63D0-AB98-71704B8AE6D2}"/>
              </a:ext>
            </a:extLst>
          </p:cNvPr>
          <p:cNvSpPr/>
          <p:nvPr/>
        </p:nvSpPr>
        <p:spPr>
          <a:xfrm flipH="1">
            <a:off x="1449222" y="3046260"/>
            <a:ext cx="491766" cy="983531"/>
          </a:xfrm>
          <a:prstGeom prst="rtTriangle">
            <a:avLst/>
          </a:prstGeom>
          <a:solidFill>
            <a:srgbClr val="E97132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EB6A5C-4ECF-A568-8C51-EBD12A4975C9}"/>
              </a:ext>
            </a:extLst>
          </p:cNvPr>
          <p:cNvSpPr/>
          <p:nvPr/>
        </p:nvSpPr>
        <p:spPr>
          <a:xfrm>
            <a:off x="3238731" y="3300082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8304FA-6BFB-3862-56A0-78994DA97C0B}"/>
              </a:ext>
            </a:extLst>
          </p:cNvPr>
          <p:cNvSpPr/>
          <p:nvPr/>
        </p:nvSpPr>
        <p:spPr>
          <a:xfrm>
            <a:off x="3730497" y="3054199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0E423A5B-F6F3-DFC9-51CE-46F01E283B88}"/>
              </a:ext>
            </a:extLst>
          </p:cNvPr>
          <p:cNvSpPr/>
          <p:nvPr/>
        </p:nvSpPr>
        <p:spPr>
          <a:xfrm flipH="1">
            <a:off x="3730493" y="3054197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CF3E3A-7F2B-3F7C-55FB-396BB973C55A}"/>
              </a:ext>
            </a:extLst>
          </p:cNvPr>
          <p:cNvSpPr/>
          <p:nvPr/>
        </p:nvSpPr>
        <p:spPr>
          <a:xfrm>
            <a:off x="4444875" y="4516534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BC6E61-CDDF-8E18-B844-D6F69CF8AEC6}"/>
              </a:ext>
            </a:extLst>
          </p:cNvPr>
          <p:cNvSpPr/>
          <p:nvPr/>
        </p:nvSpPr>
        <p:spPr>
          <a:xfrm>
            <a:off x="4936641" y="3533002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6D4EEA4C-1914-B2B4-8F72-DA4B7A3AD543}"/>
              </a:ext>
            </a:extLst>
          </p:cNvPr>
          <p:cNvSpPr/>
          <p:nvPr/>
        </p:nvSpPr>
        <p:spPr>
          <a:xfrm flipH="1">
            <a:off x="4936644" y="3533001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B1214CCF-4063-7D3A-A503-DCBB0DA9200A}"/>
              </a:ext>
            </a:extLst>
          </p:cNvPr>
          <p:cNvSpPr/>
          <p:nvPr/>
        </p:nvSpPr>
        <p:spPr>
          <a:xfrm flipH="1">
            <a:off x="4444876" y="3774630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AF46EBD1-D063-BBF0-836B-88445DF97020}"/>
              </a:ext>
            </a:extLst>
          </p:cNvPr>
          <p:cNvSpPr/>
          <p:nvPr/>
        </p:nvSpPr>
        <p:spPr>
          <a:xfrm flipH="1">
            <a:off x="3953107" y="4020513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C751A2D9-03C5-DD43-E852-88263E29415D}"/>
              </a:ext>
            </a:extLst>
          </p:cNvPr>
          <p:cNvSpPr/>
          <p:nvPr/>
        </p:nvSpPr>
        <p:spPr>
          <a:xfrm flipH="1">
            <a:off x="3461339" y="4262142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5D02DC3A-C4BF-0D2A-AD79-4457A1F185AA}"/>
              </a:ext>
            </a:extLst>
          </p:cNvPr>
          <p:cNvSpPr/>
          <p:nvPr/>
        </p:nvSpPr>
        <p:spPr>
          <a:xfrm flipH="1">
            <a:off x="2969570" y="4508025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46F2B383-EBF7-2341-830C-4B34353D7E4E}"/>
              </a:ext>
            </a:extLst>
          </p:cNvPr>
          <p:cNvSpPr/>
          <p:nvPr/>
        </p:nvSpPr>
        <p:spPr>
          <a:xfrm flipH="1">
            <a:off x="2477802" y="4749654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CAEEC4B7-E250-18FE-1AB2-1B1D61BDCC53}"/>
              </a:ext>
            </a:extLst>
          </p:cNvPr>
          <p:cNvSpPr/>
          <p:nvPr/>
        </p:nvSpPr>
        <p:spPr>
          <a:xfrm flipH="1">
            <a:off x="2477800" y="4503772"/>
            <a:ext cx="2458839" cy="491765"/>
          </a:xfrm>
          <a:prstGeom prst="rtTriangle">
            <a:avLst/>
          </a:prstGeom>
          <a:solidFill>
            <a:srgbClr val="84E291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87C91F-BCA4-5867-EF48-E654733915E9}"/>
              </a:ext>
            </a:extLst>
          </p:cNvPr>
          <p:cNvSpPr/>
          <p:nvPr/>
        </p:nvSpPr>
        <p:spPr>
          <a:xfrm>
            <a:off x="6241530" y="3538026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BFCD26-00A2-5F07-7447-5E5CD0870C47}"/>
              </a:ext>
            </a:extLst>
          </p:cNvPr>
          <p:cNvSpPr/>
          <p:nvPr/>
        </p:nvSpPr>
        <p:spPr>
          <a:xfrm>
            <a:off x="6733296" y="3046260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2AEF4C-4B4C-9E19-B24B-FEA0C7F4776D}"/>
              </a:ext>
            </a:extLst>
          </p:cNvPr>
          <p:cNvSpPr/>
          <p:nvPr/>
        </p:nvSpPr>
        <p:spPr>
          <a:xfrm>
            <a:off x="6237604" y="4824706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0DFFCD62-B08A-8A4E-5190-FFB6E4480BE9}"/>
              </a:ext>
            </a:extLst>
          </p:cNvPr>
          <p:cNvSpPr/>
          <p:nvPr/>
        </p:nvSpPr>
        <p:spPr>
          <a:xfrm flipH="1">
            <a:off x="6733289" y="3046260"/>
            <a:ext cx="491765" cy="491765"/>
          </a:xfrm>
          <a:prstGeom prst="rtTriangle">
            <a:avLst/>
          </a:prstGeom>
          <a:solidFill>
            <a:srgbClr val="C0000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F454E03C-972F-ED86-CDF1-17DC4BF12E9D}"/>
              </a:ext>
            </a:extLst>
          </p:cNvPr>
          <p:cNvSpPr/>
          <p:nvPr/>
        </p:nvSpPr>
        <p:spPr>
          <a:xfrm flipH="1">
            <a:off x="6733289" y="4332940"/>
            <a:ext cx="491765" cy="491765"/>
          </a:xfrm>
          <a:prstGeom prst="rtTriangle">
            <a:avLst/>
          </a:prstGeom>
          <a:solidFill>
            <a:srgbClr val="C0000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647FFB15-1A2F-9806-12B1-FE18C8A3B1D9}"/>
              </a:ext>
            </a:extLst>
          </p:cNvPr>
          <p:cNvSpPr/>
          <p:nvPr/>
        </p:nvSpPr>
        <p:spPr>
          <a:xfrm flipH="1">
            <a:off x="7225053" y="3841175"/>
            <a:ext cx="491765" cy="491765"/>
          </a:xfrm>
          <a:prstGeom prst="rtTriangle">
            <a:avLst/>
          </a:prstGeom>
          <a:solidFill>
            <a:srgbClr val="C0000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EEDE8F37-2C16-C28E-1BE3-359ABBD1FB2E}"/>
              </a:ext>
            </a:extLst>
          </p:cNvPr>
          <p:cNvSpPr/>
          <p:nvPr/>
        </p:nvSpPr>
        <p:spPr>
          <a:xfrm flipH="1">
            <a:off x="7716811" y="3349410"/>
            <a:ext cx="491765" cy="491765"/>
          </a:xfrm>
          <a:prstGeom prst="rtTriangle">
            <a:avLst/>
          </a:prstGeom>
          <a:solidFill>
            <a:srgbClr val="C0000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E39CD19A-97B0-7D93-2047-DB7167F82CF4}"/>
              </a:ext>
            </a:extLst>
          </p:cNvPr>
          <p:cNvSpPr/>
          <p:nvPr/>
        </p:nvSpPr>
        <p:spPr>
          <a:xfrm flipH="1">
            <a:off x="6726144" y="3349410"/>
            <a:ext cx="1475295" cy="1475295"/>
          </a:xfrm>
          <a:prstGeom prst="rtTriangle">
            <a:avLst/>
          </a:prstGeom>
          <a:solidFill>
            <a:srgbClr val="7030A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DED77510-02BC-03AF-6725-833028E6F54E}"/>
              </a:ext>
            </a:extLst>
          </p:cNvPr>
          <p:cNvSpPr/>
          <p:nvPr/>
        </p:nvSpPr>
        <p:spPr>
          <a:xfrm flipH="1">
            <a:off x="9826246" y="4947549"/>
            <a:ext cx="491766" cy="983531"/>
          </a:xfrm>
          <a:prstGeom prst="rtTriangle">
            <a:avLst/>
          </a:prstGeom>
          <a:solidFill>
            <a:srgbClr val="E97132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153A6E2E-39EA-7F2B-BBBF-F4D7C5DB081B}"/>
              </a:ext>
            </a:extLst>
          </p:cNvPr>
          <p:cNvSpPr/>
          <p:nvPr/>
        </p:nvSpPr>
        <p:spPr>
          <a:xfrm flipH="1">
            <a:off x="7367402" y="5931080"/>
            <a:ext cx="2458839" cy="491765"/>
          </a:xfrm>
          <a:prstGeom prst="rtTriangle">
            <a:avLst/>
          </a:prstGeom>
          <a:solidFill>
            <a:srgbClr val="84E291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Triangle 50">
            <a:extLst>
              <a:ext uri="{FF2B5EF4-FFF2-40B4-BE49-F238E27FC236}">
                <a16:creationId xmlns:a16="http://schemas.microsoft.com/office/drawing/2014/main" id="{F4452A84-00B0-7E30-80B3-5F9CFE0CE836}"/>
              </a:ext>
            </a:extLst>
          </p:cNvPr>
          <p:cNvSpPr/>
          <p:nvPr/>
        </p:nvSpPr>
        <p:spPr>
          <a:xfrm flipH="1">
            <a:off x="10318010" y="3472254"/>
            <a:ext cx="1475295" cy="1475295"/>
          </a:xfrm>
          <a:prstGeom prst="rtTriangle">
            <a:avLst/>
          </a:prstGeom>
          <a:solidFill>
            <a:srgbClr val="7030A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04247" y="370035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3×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3720068" y="380906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192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233E-EB3F-C60C-16EE-595AA39A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89B9-58D4-F201-E131-D7FDF8BE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90294-4ED1-50B1-17F0-0C5EA380C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</a:t>
            </a:r>
            <a:r>
              <a:rPr lang="en-US" dirty="0" err="1"/>
              <a:t>Arglin</a:t>
            </a:r>
            <a:r>
              <a:rPr lang="en-US" dirty="0"/>
              <a:t> Kampling.</a:t>
            </a:r>
          </a:p>
          <a:p>
            <a:pPr marL="0" indent="0">
              <a:buNone/>
            </a:pPr>
            <a:r>
              <a:rPr lang="en-US" dirty="0"/>
              <a:t>Add supporting shapes, then Merge Shapes &gt; Union.</a:t>
            </a:r>
          </a:p>
        </p:txBody>
      </p: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142CEBD6-490A-9F43-E08F-B503A7344919}"/>
              </a:ext>
            </a:extLst>
          </p:cNvPr>
          <p:cNvSpPr/>
          <p:nvPr/>
        </p:nvSpPr>
        <p:spPr>
          <a:xfrm flipH="1">
            <a:off x="3772660" y="4650687"/>
            <a:ext cx="491766" cy="983531"/>
          </a:xfrm>
          <a:prstGeom prst="rtTriangle">
            <a:avLst/>
          </a:prstGeom>
          <a:solidFill>
            <a:srgbClr val="E97132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A5829BBC-E832-C875-80D1-D27B54AAAF31}"/>
              </a:ext>
            </a:extLst>
          </p:cNvPr>
          <p:cNvSpPr/>
          <p:nvPr/>
        </p:nvSpPr>
        <p:spPr>
          <a:xfrm flipH="1">
            <a:off x="1313813" y="5634216"/>
            <a:ext cx="2458839" cy="491765"/>
          </a:xfrm>
          <a:prstGeom prst="rtTriangle">
            <a:avLst/>
          </a:prstGeom>
          <a:solidFill>
            <a:srgbClr val="84E291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Triangle 50">
            <a:extLst>
              <a:ext uri="{FF2B5EF4-FFF2-40B4-BE49-F238E27FC236}">
                <a16:creationId xmlns:a16="http://schemas.microsoft.com/office/drawing/2014/main" id="{720F4B93-1C3D-B14D-C8E0-6430F909D0FA}"/>
              </a:ext>
            </a:extLst>
          </p:cNvPr>
          <p:cNvSpPr/>
          <p:nvPr/>
        </p:nvSpPr>
        <p:spPr>
          <a:xfrm flipH="1">
            <a:off x="4264424" y="3175392"/>
            <a:ext cx="1475295" cy="1475295"/>
          </a:xfrm>
          <a:prstGeom prst="rtTriangle">
            <a:avLst/>
          </a:prstGeom>
          <a:solidFill>
            <a:srgbClr val="7030A0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2F4C2F-9D15-8DCB-FCA2-F25C019838D4}"/>
              </a:ext>
            </a:extLst>
          </p:cNvPr>
          <p:cNvSpPr/>
          <p:nvPr/>
        </p:nvSpPr>
        <p:spPr>
          <a:xfrm>
            <a:off x="3772655" y="5634217"/>
            <a:ext cx="491771" cy="491765"/>
          </a:xfrm>
          <a:prstGeom prst="rect">
            <a:avLst/>
          </a:prstGeom>
          <a:solidFill>
            <a:schemeClr val="accent4">
              <a:lumMod val="7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EAC4B-C15C-8E00-36FA-C6D140C8C136}"/>
              </a:ext>
            </a:extLst>
          </p:cNvPr>
          <p:cNvSpPr/>
          <p:nvPr/>
        </p:nvSpPr>
        <p:spPr>
          <a:xfrm>
            <a:off x="4264424" y="4650686"/>
            <a:ext cx="1475294" cy="1475295"/>
          </a:xfrm>
          <a:prstGeom prst="rect">
            <a:avLst/>
          </a:prstGeom>
          <a:solidFill>
            <a:schemeClr val="accent4">
              <a:lumMod val="7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 flipH="1">
            <a:off x="6707107" y="3175377"/>
            <a:ext cx="4425905" cy="2950603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29600" h="5486400">
                <a:moveTo>
                  <a:pt x="0" y="0"/>
                </a:moveTo>
                <a:lnTo>
                  <a:pt x="0" y="2743200"/>
                </a:lnTo>
                <a:lnTo>
                  <a:pt x="0" y="5486400"/>
                </a:lnTo>
                <a:lnTo>
                  <a:pt x="2743200" y="5486400"/>
                </a:lnTo>
                <a:lnTo>
                  <a:pt x="3657600" y="5486400"/>
                </a:lnTo>
                <a:lnTo>
                  <a:pt x="8229600" y="5486400"/>
                </a:lnTo>
                <a:lnTo>
                  <a:pt x="3657600" y="4572000"/>
                </a:lnTo>
                <a:lnTo>
                  <a:pt x="2743200" y="2743200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504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233E-EB3F-C60C-16EE-595AA39A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89B9-58D4-F201-E131-D7FDF8BE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90294-4ED1-50B1-17F0-0C5EA380C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</a:t>
            </a:r>
            <a:r>
              <a:rPr lang="en-US" dirty="0" err="1"/>
              <a:t>Arglin</a:t>
            </a:r>
            <a:r>
              <a:rPr lang="en-US" dirty="0"/>
              <a:t> Kampling.</a:t>
            </a:r>
          </a:p>
          <a:p>
            <a:pPr marL="0" indent="0">
              <a:buNone/>
            </a:pPr>
            <a:r>
              <a:rPr lang="en-US" dirty="0" smtClean="0"/>
              <a:t>Right click shape and click “Edit Points”.</a:t>
            </a:r>
          </a:p>
          <a:p>
            <a:pPr marL="0" indent="0">
              <a:buNone/>
            </a:pPr>
            <a:r>
              <a:rPr lang="en-US" dirty="0" smtClean="0"/>
              <a:t>Right click on the left control point, and set to “Smooth Point”.</a:t>
            </a:r>
          </a:p>
          <a:p>
            <a:pPr marL="0" indent="0">
              <a:buNone/>
            </a:pPr>
            <a:r>
              <a:rPr lang="en-US" dirty="0" smtClean="0"/>
              <a:t>Right click on the right control point and set to “Smooth Point”.</a:t>
            </a:r>
            <a:endParaRPr lang="en-US" dirty="0"/>
          </a:p>
        </p:txBody>
      </p:sp>
      <p:sp>
        <p:nvSpPr>
          <p:cNvPr id="35" name="Freeform 34"/>
          <p:cNvSpPr/>
          <p:nvPr/>
        </p:nvSpPr>
        <p:spPr>
          <a:xfrm flipH="1">
            <a:off x="1321359" y="4713401"/>
            <a:ext cx="2627915" cy="1751943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29600" h="5486400">
                <a:moveTo>
                  <a:pt x="0" y="0"/>
                </a:moveTo>
                <a:lnTo>
                  <a:pt x="0" y="2743200"/>
                </a:lnTo>
                <a:lnTo>
                  <a:pt x="0" y="5486400"/>
                </a:lnTo>
                <a:lnTo>
                  <a:pt x="2743200" y="5486400"/>
                </a:lnTo>
                <a:lnTo>
                  <a:pt x="3657600" y="5486400"/>
                </a:lnTo>
                <a:lnTo>
                  <a:pt x="8229600" y="5486400"/>
                </a:lnTo>
                <a:lnTo>
                  <a:pt x="3657600" y="4572000"/>
                </a:lnTo>
                <a:lnTo>
                  <a:pt x="2743200" y="2743200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 w="19050"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2294660" y="6172064"/>
            <a:ext cx="486651" cy="97330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781312" y="5977403"/>
            <a:ext cx="97331" cy="194660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2975972" y="5589373"/>
            <a:ext cx="97330" cy="194660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3073302" y="5297382"/>
            <a:ext cx="291991" cy="291991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 flipH="1">
            <a:off x="4762142" y="4713401"/>
            <a:ext cx="2627915" cy="1751943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5486400">
                <a:moveTo>
                  <a:pt x="0" y="0"/>
                </a:moveTo>
                <a:lnTo>
                  <a:pt x="0" y="2743200"/>
                </a:lnTo>
                <a:lnTo>
                  <a:pt x="0" y="5486400"/>
                </a:lnTo>
                <a:lnTo>
                  <a:pt x="2743200" y="5486400"/>
                </a:lnTo>
                <a:lnTo>
                  <a:pt x="3657600" y="5486400"/>
                </a:lnTo>
                <a:lnTo>
                  <a:pt x="8229600" y="5486400"/>
                </a:lnTo>
                <a:cubicBezTo>
                  <a:pt x="8229600" y="5334000"/>
                  <a:pt x="4572000" y="5029200"/>
                  <a:pt x="3657600" y="4572000"/>
                </a:cubicBezTo>
                <a:cubicBezTo>
                  <a:pt x="2743200" y="4114800"/>
                  <a:pt x="3352800" y="3505200"/>
                  <a:pt x="2743200" y="2743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 w="19050"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/>
          <p:cNvCxnSpPr/>
          <p:nvPr/>
        </p:nvCxnSpPr>
        <p:spPr>
          <a:xfrm flipH="1">
            <a:off x="6326981" y="5589373"/>
            <a:ext cx="187104" cy="251833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6514085" y="5297382"/>
            <a:ext cx="291991" cy="291991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5930103" y="6172707"/>
            <a:ext cx="291992" cy="145996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6222093" y="6025423"/>
            <a:ext cx="291992" cy="145996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 flipH="1">
            <a:off x="8202925" y="4713401"/>
            <a:ext cx="2627915" cy="1751943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5486400">
                <a:moveTo>
                  <a:pt x="0" y="0"/>
                </a:moveTo>
                <a:lnTo>
                  <a:pt x="0" y="2743200"/>
                </a:lnTo>
                <a:lnTo>
                  <a:pt x="0" y="5486400"/>
                </a:lnTo>
                <a:lnTo>
                  <a:pt x="2743200" y="5486400"/>
                </a:lnTo>
                <a:lnTo>
                  <a:pt x="3657600" y="5486400"/>
                </a:lnTo>
                <a:lnTo>
                  <a:pt x="8229600" y="5486400"/>
                </a:lnTo>
                <a:cubicBezTo>
                  <a:pt x="8229600" y="5334000"/>
                  <a:pt x="4572000" y="5029200"/>
                  <a:pt x="3657600" y="4572000"/>
                </a:cubicBezTo>
                <a:cubicBezTo>
                  <a:pt x="2743200" y="4114800"/>
                  <a:pt x="3657600" y="3657600"/>
                  <a:pt x="2743200" y="2743200"/>
                </a:cubicBezTo>
                <a:lnTo>
                  <a:pt x="0" y="0"/>
                </a:lnTo>
                <a:close/>
              </a:path>
            </a:pathLst>
          </a:cu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9954868" y="5297382"/>
            <a:ext cx="291991" cy="291991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9370886" y="6172707"/>
            <a:ext cx="291992" cy="145996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>
            <a:off x="9662876" y="6025423"/>
            <a:ext cx="291992" cy="145996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9662876" y="5589372"/>
            <a:ext cx="291991" cy="291991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6222093" y="4515438"/>
            <a:ext cx="0" cy="150998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9954867" y="4515438"/>
            <a:ext cx="0" cy="927939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461628" y="4136112"/>
            <a:ext cx="152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Smooth Point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9194402" y="4136112"/>
            <a:ext cx="152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Smooth 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6661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233E-EB3F-C60C-16EE-595AA39A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89B9-58D4-F201-E131-D7FDF8BE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90294-4ED1-50B1-17F0-0C5EA380C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Arglin </a:t>
            </a:r>
            <a:r>
              <a:rPr lang="en-US" dirty="0" err="1"/>
              <a:t>Kampling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Cull the remaining vertices as needed.</a:t>
            </a:r>
            <a:endParaRPr lang="en-US" dirty="0"/>
          </a:p>
        </p:txBody>
      </p:sp>
      <p:sp>
        <p:nvSpPr>
          <p:cNvPr id="23" name="Freeform 22"/>
          <p:cNvSpPr/>
          <p:nvPr/>
        </p:nvSpPr>
        <p:spPr>
          <a:xfrm flipH="1">
            <a:off x="5598318" y="3019425"/>
            <a:ext cx="1185863" cy="3557588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  <a:gd name="connsiteX0" fmla="*/ 0 w 3657600"/>
              <a:gd name="connsiteY0" fmla="*/ 0 h 5486400"/>
              <a:gd name="connsiteX1" fmla="*/ 0 w 3657600"/>
              <a:gd name="connsiteY1" fmla="*/ 2743200 h 5486400"/>
              <a:gd name="connsiteX2" fmla="*/ 0 w 3657600"/>
              <a:gd name="connsiteY2" fmla="*/ 5486400 h 5486400"/>
              <a:gd name="connsiteX3" fmla="*/ 2743200 w 3657600"/>
              <a:gd name="connsiteY3" fmla="*/ 5486400 h 5486400"/>
              <a:gd name="connsiteX4" fmla="*/ 3657600 w 3657600"/>
              <a:gd name="connsiteY4" fmla="*/ 5486400 h 5486400"/>
              <a:gd name="connsiteX5" fmla="*/ 3657600 w 3657600"/>
              <a:gd name="connsiteY5" fmla="*/ 4572000 h 5486400"/>
              <a:gd name="connsiteX6" fmla="*/ 2743200 w 3657600"/>
              <a:gd name="connsiteY6" fmla="*/ 2743200 h 5486400"/>
              <a:gd name="connsiteX7" fmla="*/ 0 w 3657600"/>
              <a:gd name="connsiteY7" fmla="*/ 0 h 5486400"/>
              <a:gd name="connsiteX0" fmla="*/ 2743200 w 3657600"/>
              <a:gd name="connsiteY0" fmla="*/ 0 h 2743200"/>
              <a:gd name="connsiteX1" fmla="*/ 0 w 3657600"/>
              <a:gd name="connsiteY1" fmla="*/ 0 h 2743200"/>
              <a:gd name="connsiteX2" fmla="*/ 0 w 3657600"/>
              <a:gd name="connsiteY2" fmla="*/ 2743200 h 2743200"/>
              <a:gd name="connsiteX3" fmla="*/ 2743200 w 3657600"/>
              <a:gd name="connsiteY3" fmla="*/ 2743200 h 2743200"/>
              <a:gd name="connsiteX4" fmla="*/ 3657600 w 3657600"/>
              <a:gd name="connsiteY4" fmla="*/ 2743200 h 2743200"/>
              <a:gd name="connsiteX5" fmla="*/ 3657600 w 3657600"/>
              <a:gd name="connsiteY5" fmla="*/ 1828800 h 2743200"/>
              <a:gd name="connsiteX6" fmla="*/ 2743200 w 3657600"/>
              <a:gd name="connsiteY6" fmla="*/ 0 h 2743200"/>
              <a:gd name="connsiteX0" fmla="*/ 2743200 w 3657600"/>
              <a:gd name="connsiteY0" fmla="*/ 0 h 2743200"/>
              <a:gd name="connsiteX1" fmla="*/ 0 w 3657600"/>
              <a:gd name="connsiteY1" fmla="*/ 2743200 h 2743200"/>
              <a:gd name="connsiteX2" fmla="*/ 2743200 w 3657600"/>
              <a:gd name="connsiteY2" fmla="*/ 2743200 h 2743200"/>
              <a:gd name="connsiteX3" fmla="*/ 3657600 w 3657600"/>
              <a:gd name="connsiteY3" fmla="*/ 2743200 h 2743200"/>
              <a:gd name="connsiteX4" fmla="*/ 3657600 w 3657600"/>
              <a:gd name="connsiteY4" fmla="*/ 1828800 h 2743200"/>
              <a:gd name="connsiteX5" fmla="*/ 2743200 w 3657600"/>
              <a:gd name="connsiteY5" fmla="*/ 0 h 2743200"/>
              <a:gd name="connsiteX0" fmla="*/ 0 w 914400"/>
              <a:gd name="connsiteY0" fmla="*/ 0 h 2743200"/>
              <a:gd name="connsiteX1" fmla="*/ 0 w 914400"/>
              <a:gd name="connsiteY1" fmla="*/ 2743200 h 2743200"/>
              <a:gd name="connsiteX2" fmla="*/ 914400 w 914400"/>
              <a:gd name="connsiteY2" fmla="*/ 2743200 h 2743200"/>
              <a:gd name="connsiteX3" fmla="*/ 914400 w 914400"/>
              <a:gd name="connsiteY3" fmla="*/ 1828800 h 2743200"/>
              <a:gd name="connsiteX4" fmla="*/ 0 w 9144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0" y="0"/>
                </a:moveTo>
                <a:lnTo>
                  <a:pt x="0" y="2743200"/>
                </a:lnTo>
                <a:lnTo>
                  <a:pt x="914400" y="2743200"/>
                </a:lnTo>
                <a:lnTo>
                  <a:pt x="914400" y="1828800"/>
                </a:lnTo>
                <a:cubicBezTo>
                  <a:pt x="0" y="1371600"/>
                  <a:pt x="914400" y="914400"/>
                  <a:pt x="0" y="0"/>
                </a:cubicBezTo>
                <a:close/>
              </a:path>
            </a:pathLst>
          </a:custGeom>
          <a:ln cap="rnd"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 flipH="1">
            <a:off x="5598314" y="3019425"/>
            <a:ext cx="1185863" cy="2371725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  <a:gd name="connsiteX0" fmla="*/ 0 w 3657600"/>
              <a:gd name="connsiteY0" fmla="*/ 0 h 5486400"/>
              <a:gd name="connsiteX1" fmla="*/ 0 w 3657600"/>
              <a:gd name="connsiteY1" fmla="*/ 2743200 h 5486400"/>
              <a:gd name="connsiteX2" fmla="*/ 0 w 3657600"/>
              <a:gd name="connsiteY2" fmla="*/ 5486400 h 5486400"/>
              <a:gd name="connsiteX3" fmla="*/ 2743200 w 3657600"/>
              <a:gd name="connsiteY3" fmla="*/ 5486400 h 5486400"/>
              <a:gd name="connsiteX4" fmla="*/ 3657600 w 3657600"/>
              <a:gd name="connsiteY4" fmla="*/ 5486400 h 5486400"/>
              <a:gd name="connsiteX5" fmla="*/ 3657600 w 3657600"/>
              <a:gd name="connsiteY5" fmla="*/ 4572000 h 5486400"/>
              <a:gd name="connsiteX6" fmla="*/ 2743200 w 3657600"/>
              <a:gd name="connsiteY6" fmla="*/ 2743200 h 5486400"/>
              <a:gd name="connsiteX7" fmla="*/ 0 w 3657600"/>
              <a:gd name="connsiteY7" fmla="*/ 0 h 5486400"/>
              <a:gd name="connsiteX0" fmla="*/ 2743200 w 3657600"/>
              <a:gd name="connsiteY0" fmla="*/ 0 h 2743200"/>
              <a:gd name="connsiteX1" fmla="*/ 0 w 3657600"/>
              <a:gd name="connsiteY1" fmla="*/ 0 h 2743200"/>
              <a:gd name="connsiteX2" fmla="*/ 0 w 3657600"/>
              <a:gd name="connsiteY2" fmla="*/ 2743200 h 2743200"/>
              <a:gd name="connsiteX3" fmla="*/ 2743200 w 3657600"/>
              <a:gd name="connsiteY3" fmla="*/ 2743200 h 2743200"/>
              <a:gd name="connsiteX4" fmla="*/ 3657600 w 3657600"/>
              <a:gd name="connsiteY4" fmla="*/ 2743200 h 2743200"/>
              <a:gd name="connsiteX5" fmla="*/ 3657600 w 3657600"/>
              <a:gd name="connsiteY5" fmla="*/ 1828800 h 2743200"/>
              <a:gd name="connsiteX6" fmla="*/ 2743200 w 3657600"/>
              <a:gd name="connsiteY6" fmla="*/ 0 h 2743200"/>
              <a:gd name="connsiteX0" fmla="*/ 2743200 w 3657600"/>
              <a:gd name="connsiteY0" fmla="*/ 0 h 2743200"/>
              <a:gd name="connsiteX1" fmla="*/ 0 w 3657600"/>
              <a:gd name="connsiteY1" fmla="*/ 2743200 h 2743200"/>
              <a:gd name="connsiteX2" fmla="*/ 2743200 w 3657600"/>
              <a:gd name="connsiteY2" fmla="*/ 2743200 h 2743200"/>
              <a:gd name="connsiteX3" fmla="*/ 3657600 w 3657600"/>
              <a:gd name="connsiteY3" fmla="*/ 2743200 h 2743200"/>
              <a:gd name="connsiteX4" fmla="*/ 3657600 w 3657600"/>
              <a:gd name="connsiteY4" fmla="*/ 1828800 h 2743200"/>
              <a:gd name="connsiteX5" fmla="*/ 2743200 w 3657600"/>
              <a:gd name="connsiteY5" fmla="*/ 0 h 2743200"/>
              <a:gd name="connsiteX0" fmla="*/ 0 w 914400"/>
              <a:gd name="connsiteY0" fmla="*/ 0 h 2743200"/>
              <a:gd name="connsiteX1" fmla="*/ 0 w 914400"/>
              <a:gd name="connsiteY1" fmla="*/ 2743200 h 2743200"/>
              <a:gd name="connsiteX2" fmla="*/ 914400 w 914400"/>
              <a:gd name="connsiteY2" fmla="*/ 2743200 h 2743200"/>
              <a:gd name="connsiteX3" fmla="*/ 914400 w 914400"/>
              <a:gd name="connsiteY3" fmla="*/ 1828800 h 2743200"/>
              <a:gd name="connsiteX4" fmla="*/ 0 w 914400"/>
              <a:gd name="connsiteY4" fmla="*/ 0 h 2743200"/>
              <a:gd name="connsiteX0" fmla="*/ 914400 w 984908"/>
              <a:gd name="connsiteY0" fmla="*/ 2743200 h 2813708"/>
              <a:gd name="connsiteX1" fmla="*/ 914400 w 984908"/>
              <a:gd name="connsiteY1" fmla="*/ 1828800 h 2813708"/>
              <a:gd name="connsiteX2" fmla="*/ 0 w 984908"/>
              <a:gd name="connsiteY2" fmla="*/ 0 h 2813708"/>
              <a:gd name="connsiteX3" fmla="*/ 0 w 984908"/>
              <a:gd name="connsiteY3" fmla="*/ 2743200 h 2813708"/>
              <a:gd name="connsiteX4" fmla="*/ 984908 w 984908"/>
              <a:gd name="connsiteY4" fmla="*/ 2813708 h 2813708"/>
              <a:gd name="connsiteX0" fmla="*/ 914400 w 914400"/>
              <a:gd name="connsiteY0" fmla="*/ 2743200 h 2743200"/>
              <a:gd name="connsiteX1" fmla="*/ 914400 w 914400"/>
              <a:gd name="connsiteY1" fmla="*/ 1828800 h 2743200"/>
              <a:gd name="connsiteX2" fmla="*/ 0 w 914400"/>
              <a:gd name="connsiteY2" fmla="*/ 0 h 2743200"/>
              <a:gd name="connsiteX3" fmla="*/ 0 w 914400"/>
              <a:gd name="connsiteY3" fmla="*/ 2743200 h 2743200"/>
              <a:gd name="connsiteX0" fmla="*/ 914400 w 914400"/>
              <a:gd name="connsiteY0" fmla="*/ 182880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0" fmla="*/ 914400 w 914400"/>
              <a:gd name="connsiteY0" fmla="*/ 1828800 h 1828800"/>
              <a:gd name="connsiteX1" fmla="*/ 0 w 914400"/>
              <a:gd name="connsiteY1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" h="1828800">
                <a:moveTo>
                  <a:pt x="914400" y="1828800"/>
                </a:moveTo>
                <a:cubicBezTo>
                  <a:pt x="0" y="1371600"/>
                  <a:pt x="914400" y="914400"/>
                  <a:pt x="0" y="0"/>
                </a:cubicBezTo>
              </a:path>
            </a:pathLst>
          </a:custGeom>
          <a:noFill/>
          <a:ln w="28575" cap="rnd">
            <a:solidFill>
              <a:srgbClr val="FFDB69"/>
            </a:solidFill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endCxn id="23" idx="3"/>
          </p:cNvCxnSpPr>
          <p:nvPr/>
        </p:nvCxnSpPr>
        <p:spPr>
          <a:xfrm flipH="1">
            <a:off x="5598318" y="4798219"/>
            <a:ext cx="1185858" cy="592931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3" idx="0"/>
          </p:cNvCxnSpPr>
          <p:nvPr/>
        </p:nvCxnSpPr>
        <p:spPr>
          <a:xfrm flipH="1">
            <a:off x="5598318" y="3019425"/>
            <a:ext cx="1185863" cy="1185861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 flipV="1">
            <a:off x="5598316" y="4205286"/>
            <a:ext cx="1185860" cy="592926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552600" y="534543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552600" y="534543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6738456" y="4752502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6738456" y="4752502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552600" y="415957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552600" y="415957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738456" y="2973710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6738456" y="2973710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0694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PowerPoint control handles are still not fully understood, but for the context of this, we will focus on the behavior of Smooth Point.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Smooth point has two behaviors: averaging and overwriting, shown below.</a:t>
            </a:r>
            <a:endParaRPr lang="en-US" dirty="0" smtClean="0"/>
          </a:p>
        </p:txBody>
      </p:sp>
      <p:sp>
        <p:nvSpPr>
          <p:cNvPr id="42" name="Freeform 41"/>
          <p:cNvSpPr/>
          <p:nvPr/>
        </p:nvSpPr>
        <p:spPr>
          <a:xfrm>
            <a:off x="2046515" y="5262563"/>
            <a:ext cx="1828800" cy="914400"/>
          </a:xfrm>
          <a:custGeom>
            <a:avLst/>
            <a:gdLst>
              <a:gd name="connsiteX0" fmla="*/ 914400 w 1828800"/>
              <a:gd name="connsiteY0" fmla="*/ 0 h 914400"/>
              <a:gd name="connsiteX1" fmla="*/ 1828800 w 1828800"/>
              <a:gd name="connsiteY1" fmla="*/ 0 h 914400"/>
              <a:gd name="connsiteX2" fmla="*/ 1828800 w 1828800"/>
              <a:gd name="connsiteY2" fmla="*/ 914400 h 914400"/>
              <a:gd name="connsiteX3" fmla="*/ 914400 w 1828800"/>
              <a:gd name="connsiteY3" fmla="*/ 914400 h 914400"/>
              <a:gd name="connsiteX4" fmla="*/ 0 w 1828800"/>
              <a:gd name="connsiteY4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914400">
                <a:moveTo>
                  <a:pt x="914400" y="0"/>
                </a:moveTo>
                <a:lnTo>
                  <a:pt x="1828800" y="0"/>
                </a:lnTo>
                <a:lnTo>
                  <a:pt x="1828800" y="91440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>
            <a:off x="5634446" y="5148263"/>
            <a:ext cx="1828800" cy="1028700"/>
          </a:xfrm>
          <a:custGeom>
            <a:avLst/>
            <a:gdLst>
              <a:gd name="connsiteX0" fmla="*/ 914400 w 1828800"/>
              <a:gd name="connsiteY0" fmla="*/ 0 h 914400"/>
              <a:gd name="connsiteX1" fmla="*/ 1828800 w 1828800"/>
              <a:gd name="connsiteY1" fmla="*/ 0 h 914400"/>
              <a:gd name="connsiteX2" fmla="*/ 1828800 w 1828800"/>
              <a:gd name="connsiteY2" fmla="*/ 914400 h 914400"/>
              <a:gd name="connsiteX3" fmla="*/ 914400 w 1828800"/>
              <a:gd name="connsiteY3" fmla="*/ 914400 h 914400"/>
              <a:gd name="connsiteX4" fmla="*/ 0 w 1828800"/>
              <a:gd name="connsiteY4" fmla="*/ 914400 h 914400"/>
              <a:gd name="connsiteX0" fmla="*/ 914400 w 1828800"/>
              <a:gd name="connsiteY0" fmla="*/ 114300 h 1028700"/>
              <a:gd name="connsiteX1" fmla="*/ 1828800 w 1828800"/>
              <a:gd name="connsiteY1" fmla="*/ 114300 h 1028700"/>
              <a:gd name="connsiteX2" fmla="*/ 1828800 w 1828800"/>
              <a:gd name="connsiteY2" fmla="*/ 1028700 h 1028700"/>
              <a:gd name="connsiteX3" fmla="*/ 914400 w 1828800"/>
              <a:gd name="connsiteY3" fmla="*/ 1028700 h 1028700"/>
              <a:gd name="connsiteX4" fmla="*/ 0 w 1828800"/>
              <a:gd name="connsiteY4" fmla="*/ 1028700 h 1028700"/>
              <a:gd name="connsiteX5" fmla="*/ 914400 w 1828800"/>
              <a:gd name="connsiteY5" fmla="*/ 11430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1028700">
                <a:moveTo>
                  <a:pt x="914400" y="114300"/>
                </a:moveTo>
                <a:cubicBezTo>
                  <a:pt x="1219200" y="-38100"/>
                  <a:pt x="1676400" y="-38100"/>
                  <a:pt x="1828800" y="114300"/>
                </a:cubicBezTo>
                <a:lnTo>
                  <a:pt x="1828800" y="1028700"/>
                </a:lnTo>
                <a:lnTo>
                  <a:pt x="914400" y="1028700"/>
                </a:lnTo>
                <a:lnTo>
                  <a:pt x="0" y="1028700"/>
                </a:lnTo>
                <a:cubicBezTo>
                  <a:pt x="0" y="876300"/>
                  <a:pt x="609600" y="266700"/>
                  <a:pt x="914400" y="114300"/>
                </a:cubicBezTo>
                <a:close/>
              </a:path>
            </a:pathLst>
          </a:cu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/>
          <p:cNvSpPr/>
          <p:nvPr/>
        </p:nvSpPr>
        <p:spPr>
          <a:xfrm>
            <a:off x="8072977" y="5262563"/>
            <a:ext cx="1828800" cy="914400"/>
          </a:xfrm>
          <a:custGeom>
            <a:avLst/>
            <a:gdLst>
              <a:gd name="connsiteX0" fmla="*/ 914400 w 1828800"/>
              <a:gd name="connsiteY0" fmla="*/ 0 h 914400"/>
              <a:gd name="connsiteX1" fmla="*/ 1828800 w 1828800"/>
              <a:gd name="connsiteY1" fmla="*/ 0 h 914400"/>
              <a:gd name="connsiteX2" fmla="*/ 1828800 w 1828800"/>
              <a:gd name="connsiteY2" fmla="*/ 914400 h 914400"/>
              <a:gd name="connsiteX3" fmla="*/ 914400 w 1828800"/>
              <a:gd name="connsiteY3" fmla="*/ 914400 h 914400"/>
              <a:gd name="connsiteX4" fmla="*/ 0 w 1828800"/>
              <a:gd name="connsiteY4" fmla="*/ 914400 h 914400"/>
              <a:gd name="connsiteX0" fmla="*/ 914400 w 1828800"/>
              <a:gd name="connsiteY0" fmla="*/ 0 h 914400"/>
              <a:gd name="connsiteX1" fmla="*/ 1828800 w 1828800"/>
              <a:gd name="connsiteY1" fmla="*/ 0 h 914400"/>
              <a:gd name="connsiteX2" fmla="*/ 1828800 w 1828800"/>
              <a:gd name="connsiteY2" fmla="*/ 914400 h 914400"/>
              <a:gd name="connsiteX3" fmla="*/ 914400 w 1828800"/>
              <a:gd name="connsiteY3" fmla="*/ 914400 h 914400"/>
              <a:gd name="connsiteX4" fmla="*/ 0 w 1828800"/>
              <a:gd name="connsiteY4" fmla="*/ 914400 h 914400"/>
              <a:gd name="connsiteX5" fmla="*/ 139337 w 1828800"/>
              <a:gd name="connsiteY5" fmla="*/ 371883 h 914400"/>
              <a:gd name="connsiteX6" fmla="*/ 914400 w 1828800"/>
              <a:gd name="connsiteY6" fmla="*/ 0 h 914400"/>
              <a:gd name="connsiteX0" fmla="*/ 139337 w 1828800"/>
              <a:gd name="connsiteY0" fmla="*/ 371883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6" fmla="*/ 230777 w 1828800"/>
              <a:gd name="connsiteY6" fmla="*/ 463323 h 914400"/>
              <a:gd name="connsiteX0" fmla="*/ 903476 w 2592939"/>
              <a:gd name="connsiteY0" fmla="*/ 422366 h 964883"/>
              <a:gd name="connsiteX1" fmla="*/ 1678539 w 2592939"/>
              <a:gd name="connsiteY1" fmla="*/ 50483 h 964883"/>
              <a:gd name="connsiteX2" fmla="*/ 2592939 w 2592939"/>
              <a:gd name="connsiteY2" fmla="*/ 50483 h 964883"/>
              <a:gd name="connsiteX3" fmla="*/ 2592939 w 2592939"/>
              <a:gd name="connsiteY3" fmla="*/ 964883 h 964883"/>
              <a:gd name="connsiteX4" fmla="*/ 1678539 w 2592939"/>
              <a:gd name="connsiteY4" fmla="*/ 964883 h 964883"/>
              <a:gd name="connsiteX5" fmla="*/ 764139 w 2592939"/>
              <a:gd name="connsiteY5" fmla="*/ 964883 h 964883"/>
              <a:gd name="connsiteX6" fmla="*/ 36973 w 2592939"/>
              <a:gd name="connsiteY6" fmla="*/ 0 h 964883"/>
              <a:gd name="connsiteX0" fmla="*/ 139337 w 1828800"/>
              <a:gd name="connsiteY0" fmla="*/ 371883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0" fmla="*/ 0 w 2002971"/>
              <a:gd name="connsiteY0" fmla="*/ 1443038 h 1443038"/>
              <a:gd name="connsiteX1" fmla="*/ 1088571 w 2002971"/>
              <a:gd name="connsiteY1" fmla="*/ 0 h 1443038"/>
              <a:gd name="connsiteX2" fmla="*/ 2002971 w 2002971"/>
              <a:gd name="connsiteY2" fmla="*/ 0 h 1443038"/>
              <a:gd name="connsiteX3" fmla="*/ 2002971 w 2002971"/>
              <a:gd name="connsiteY3" fmla="*/ 914400 h 1443038"/>
              <a:gd name="connsiteX4" fmla="*/ 1088571 w 2002971"/>
              <a:gd name="connsiteY4" fmla="*/ 914400 h 1443038"/>
              <a:gd name="connsiteX5" fmla="*/ 174171 w 2002971"/>
              <a:gd name="connsiteY5" fmla="*/ 914400 h 1443038"/>
              <a:gd name="connsiteX0" fmla="*/ 0 w 2281645"/>
              <a:gd name="connsiteY0" fmla="*/ 537346 h 914400"/>
              <a:gd name="connsiteX1" fmla="*/ 1367245 w 2281645"/>
              <a:gd name="connsiteY1" fmla="*/ 0 h 914400"/>
              <a:gd name="connsiteX2" fmla="*/ 2281645 w 2281645"/>
              <a:gd name="connsiteY2" fmla="*/ 0 h 914400"/>
              <a:gd name="connsiteX3" fmla="*/ 2281645 w 2281645"/>
              <a:gd name="connsiteY3" fmla="*/ 914400 h 914400"/>
              <a:gd name="connsiteX4" fmla="*/ 1367245 w 2281645"/>
              <a:gd name="connsiteY4" fmla="*/ 914400 h 914400"/>
              <a:gd name="connsiteX5" fmla="*/ 452845 w 2281645"/>
              <a:gd name="connsiteY5" fmla="*/ 914400 h 914400"/>
              <a:gd name="connsiteX0" fmla="*/ 0 w 2281645"/>
              <a:gd name="connsiteY0" fmla="*/ 537346 h 914400"/>
              <a:gd name="connsiteX1" fmla="*/ 1367245 w 2281645"/>
              <a:gd name="connsiteY1" fmla="*/ 0 h 914400"/>
              <a:gd name="connsiteX2" fmla="*/ 2281645 w 2281645"/>
              <a:gd name="connsiteY2" fmla="*/ 0 h 914400"/>
              <a:gd name="connsiteX3" fmla="*/ 2281645 w 2281645"/>
              <a:gd name="connsiteY3" fmla="*/ 914400 h 914400"/>
              <a:gd name="connsiteX4" fmla="*/ 1367245 w 2281645"/>
              <a:gd name="connsiteY4" fmla="*/ 914400 h 914400"/>
              <a:gd name="connsiteX5" fmla="*/ 452845 w 2281645"/>
              <a:gd name="connsiteY5" fmla="*/ 914400 h 914400"/>
              <a:gd name="connsiteX6" fmla="*/ 0 w 2281645"/>
              <a:gd name="connsiteY6" fmla="*/ 537346 h 914400"/>
              <a:gd name="connsiteX0" fmla="*/ 269966 w 1828800"/>
              <a:gd name="connsiteY0" fmla="*/ 720226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6" fmla="*/ 269966 w 1828800"/>
              <a:gd name="connsiteY6" fmla="*/ 720226 h 914400"/>
              <a:gd name="connsiteX0" fmla="*/ 209006 w 1828800"/>
              <a:gd name="connsiteY0" fmla="*/ 667974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6" fmla="*/ 209006 w 1828800"/>
              <a:gd name="connsiteY6" fmla="*/ 667974 h 914400"/>
              <a:gd name="connsiteX0" fmla="*/ 0 w 1828800"/>
              <a:gd name="connsiteY0" fmla="*/ 914400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0" fmla="*/ 0 w 1828800"/>
              <a:gd name="connsiteY0" fmla="*/ 914400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0" fmla="*/ 0 w 1828800"/>
              <a:gd name="connsiteY0" fmla="*/ 920575 h 920575"/>
              <a:gd name="connsiteX1" fmla="*/ 914400 w 1828800"/>
              <a:gd name="connsiteY1" fmla="*/ 6175 h 920575"/>
              <a:gd name="connsiteX2" fmla="*/ 1828800 w 1828800"/>
              <a:gd name="connsiteY2" fmla="*/ 6175 h 920575"/>
              <a:gd name="connsiteX3" fmla="*/ 1828800 w 1828800"/>
              <a:gd name="connsiteY3" fmla="*/ 920575 h 920575"/>
              <a:gd name="connsiteX4" fmla="*/ 914400 w 1828800"/>
              <a:gd name="connsiteY4" fmla="*/ 920575 h 920575"/>
              <a:gd name="connsiteX5" fmla="*/ 0 w 1828800"/>
              <a:gd name="connsiteY5" fmla="*/ 920575 h 920575"/>
              <a:gd name="connsiteX0" fmla="*/ 0 w 1828800"/>
              <a:gd name="connsiteY0" fmla="*/ 914400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0" fmla="*/ 0 w 1828800"/>
              <a:gd name="connsiteY0" fmla="*/ 914400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914400"/>
                </a:moveTo>
                <a:cubicBezTo>
                  <a:pt x="0" y="762000"/>
                  <a:pt x="609600" y="0"/>
                  <a:pt x="914400" y="0"/>
                </a:cubicBezTo>
                <a:lnTo>
                  <a:pt x="1828800" y="0"/>
                </a:lnTo>
                <a:lnTo>
                  <a:pt x="1828800" y="91440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/>
          <p:nvPr/>
        </p:nvCxnSpPr>
        <p:spPr>
          <a:xfrm flipV="1">
            <a:off x="2656115" y="5262563"/>
            <a:ext cx="304800" cy="304800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2960915" y="5262563"/>
            <a:ext cx="304800" cy="0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6244177" y="5262564"/>
            <a:ext cx="305061" cy="152400"/>
          </a:xfrm>
          <a:prstGeom prst="line">
            <a:avLst/>
          </a:prstGeom>
          <a:ln>
            <a:solidFill>
              <a:srgbClr val="92D050"/>
            </a:solidFill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>
            <a:off x="6548846" y="5110163"/>
            <a:ext cx="305061" cy="152400"/>
          </a:xfrm>
          <a:prstGeom prst="line">
            <a:avLst/>
          </a:prstGeom>
          <a:ln>
            <a:solidFill>
              <a:srgbClr val="92D050"/>
            </a:solidFill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8987377" y="5262563"/>
            <a:ext cx="304800" cy="0"/>
          </a:xfrm>
          <a:prstGeom prst="line">
            <a:avLst/>
          </a:prstGeom>
          <a:ln cap="rnd">
            <a:solidFill>
              <a:srgbClr val="92D05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8682577" y="5262563"/>
            <a:ext cx="304800" cy="0"/>
          </a:xfrm>
          <a:prstGeom prst="line">
            <a:avLst/>
          </a:prstGeom>
          <a:ln cap="rnd">
            <a:solidFill>
              <a:srgbClr val="92D05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4598305" y="5684537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978080" y="4651416"/>
            <a:ext cx="114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Averaging</a:t>
            </a:r>
            <a:endParaRPr 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8325368" y="4651416"/>
            <a:ext cx="132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Overwriting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4185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Averaging occurs when neither control point has </a:t>
            </a:r>
            <a:r>
              <a:rPr lang="en-US" dirty="0"/>
              <a:t>been previously updated.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When averaging, the midpoint of the two existing control points is taken, then the control points are moved to match with the midpoint at the vertex.</a:t>
            </a:r>
            <a:endParaRPr lang="en-US" dirty="0" smtClean="0"/>
          </a:p>
        </p:txBody>
      </p:sp>
      <p:sp>
        <p:nvSpPr>
          <p:cNvPr id="42" name="Freeform 41"/>
          <p:cNvSpPr/>
          <p:nvPr/>
        </p:nvSpPr>
        <p:spPr>
          <a:xfrm>
            <a:off x="672365" y="4389121"/>
            <a:ext cx="3575684" cy="1787842"/>
          </a:xfrm>
          <a:custGeom>
            <a:avLst/>
            <a:gdLst>
              <a:gd name="connsiteX0" fmla="*/ 914400 w 1828800"/>
              <a:gd name="connsiteY0" fmla="*/ 0 h 914400"/>
              <a:gd name="connsiteX1" fmla="*/ 1828800 w 1828800"/>
              <a:gd name="connsiteY1" fmla="*/ 0 h 914400"/>
              <a:gd name="connsiteX2" fmla="*/ 1828800 w 1828800"/>
              <a:gd name="connsiteY2" fmla="*/ 914400 h 914400"/>
              <a:gd name="connsiteX3" fmla="*/ 914400 w 1828800"/>
              <a:gd name="connsiteY3" fmla="*/ 914400 h 914400"/>
              <a:gd name="connsiteX4" fmla="*/ 0 w 1828800"/>
              <a:gd name="connsiteY4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914400">
                <a:moveTo>
                  <a:pt x="914400" y="0"/>
                </a:moveTo>
                <a:lnTo>
                  <a:pt x="1828800" y="0"/>
                </a:lnTo>
                <a:lnTo>
                  <a:pt x="1828800" y="91440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/>
          <p:nvPr/>
        </p:nvCxnSpPr>
        <p:spPr>
          <a:xfrm flipV="1">
            <a:off x="1864260" y="4389121"/>
            <a:ext cx="595947" cy="595947"/>
          </a:xfrm>
          <a:prstGeom prst="line">
            <a:avLst/>
          </a:prstGeom>
          <a:ln w="38100" cap="rnd">
            <a:solidFill>
              <a:srgbClr val="FF000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2460207" y="4389121"/>
            <a:ext cx="595947" cy="0"/>
          </a:xfrm>
          <a:prstGeom prst="line">
            <a:avLst/>
          </a:prstGeom>
          <a:ln w="38100" cap="rnd">
            <a:solidFill>
              <a:srgbClr val="FF000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7901919" y="4165640"/>
            <a:ext cx="3575685" cy="2011323"/>
          </a:xfrm>
          <a:custGeom>
            <a:avLst/>
            <a:gdLst>
              <a:gd name="connsiteX0" fmla="*/ 914400 w 1828800"/>
              <a:gd name="connsiteY0" fmla="*/ 0 h 914400"/>
              <a:gd name="connsiteX1" fmla="*/ 1828800 w 1828800"/>
              <a:gd name="connsiteY1" fmla="*/ 0 h 914400"/>
              <a:gd name="connsiteX2" fmla="*/ 1828800 w 1828800"/>
              <a:gd name="connsiteY2" fmla="*/ 914400 h 914400"/>
              <a:gd name="connsiteX3" fmla="*/ 914400 w 1828800"/>
              <a:gd name="connsiteY3" fmla="*/ 914400 h 914400"/>
              <a:gd name="connsiteX4" fmla="*/ 0 w 1828800"/>
              <a:gd name="connsiteY4" fmla="*/ 914400 h 914400"/>
              <a:gd name="connsiteX0" fmla="*/ 914400 w 1828800"/>
              <a:gd name="connsiteY0" fmla="*/ 114300 h 1028700"/>
              <a:gd name="connsiteX1" fmla="*/ 1828800 w 1828800"/>
              <a:gd name="connsiteY1" fmla="*/ 114300 h 1028700"/>
              <a:gd name="connsiteX2" fmla="*/ 1828800 w 1828800"/>
              <a:gd name="connsiteY2" fmla="*/ 1028700 h 1028700"/>
              <a:gd name="connsiteX3" fmla="*/ 914400 w 1828800"/>
              <a:gd name="connsiteY3" fmla="*/ 1028700 h 1028700"/>
              <a:gd name="connsiteX4" fmla="*/ 0 w 1828800"/>
              <a:gd name="connsiteY4" fmla="*/ 1028700 h 1028700"/>
              <a:gd name="connsiteX5" fmla="*/ 914400 w 1828800"/>
              <a:gd name="connsiteY5" fmla="*/ 11430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1028700">
                <a:moveTo>
                  <a:pt x="914400" y="114300"/>
                </a:moveTo>
                <a:cubicBezTo>
                  <a:pt x="1219200" y="-38100"/>
                  <a:pt x="1676400" y="-38100"/>
                  <a:pt x="1828800" y="114300"/>
                </a:cubicBezTo>
                <a:lnTo>
                  <a:pt x="1828800" y="1028700"/>
                </a:lnTo>
                <a:lnTo>
                  <a:pt x="914400" y="1028700"/>
                </a:lnTo>
                <a:lnTo>
                  <a:pt x="0" y="1028700"/>
                </a:lnTo>
                <a:cubicBezTo>
                  <a:pt x="0" y="876300"/>
                  <a:pt x="609600" y="266700"/>
                  <a:pt x="914400" y="114300"/>
                </a:cubicBezTo>
                <a:close/>
              </a:path>
            </a:pathLst>
          </a:cu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/>
          <p:cNvCxnSpPr/>
          <p:nvPr/>
        </p:nvCxnSpPr>
        <p:spPr>
          <a:xfrm flipH="1">
            <a:off x="9094070" y="4389123"/>
            <a:ext cx="596458" cy="297974"/>
          </a:xfrm>
          <a:prstGeom prst="line">
            <a:avLst/>
          </a:prstGeom>
          <a:ln w="38100" cap="rnd">
            <a:solidFill>
              <a:srgbClr val="92D05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>
            <a:off x="9689762" y="4091147"/>
            <a:ext cx="596458" cy="297974"/>
          </a:xfrm>
          <a:prstGeom prst="line">
            <a:avLst/>
          </a:prstGeom>
          <a:ln w="38100" cap="rnd">
            <a:solidFill>
              <a:srgbClr val="92D05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4771573" y="5266442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667540" y="5283044"/>
            <a:ext cx="596458" cy="297974"/>
          </a:xfrm>
          <a:prstGeom prst="line">
            <a:avLst/>
          </a:prstGeom>
          <a:ln w="38100" cap="rnd">
            <a:solidFill>
              <a:srgbClr val="92D050"/>
            </a:solidFill>
            <a:round/>
            <a:headEnd type="oval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6263232" y="4985068"/>
            <a:ext cx="596458" cy="297974"/>
          </a:xfrm>
          <a:prstGeom prst="line">
            <a:avLst/>
          </a:prstGeom>
          <a:ln w="38100" cap="rnd">
            <a:solidFill>
              <a:srgbClr val="92D050"/>
            </a:solidFill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5667540" y="4985069"/>
            <a:ext cx="595947" cy="595947"/>
          </a:xfrm>
          <a:prstGeom prst="line">
            <a:avLst/>
          </a:prstGeom>
          <a:ln w="38100" cap="rnd">
            <a:solidFill>
              <a:srgbClr val="FF000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263487" y="4985069"/>
            <a:ext cx="595947" cy="0"/>
          </a:xfrm>
          <a:prstGeom prst="line">
            <a:avLst/>
          </a:prstGeom>
          <a:ln w="38100" cap="rnd">
            <a:solidFill>
              <a:srgbClr val="FF000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262224" y="5266442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2446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Overwriting occurs when one control point has been previously updated.</a:t>
            </a:r>
          </a:p>
          <a:p>
            <a:pPr marL="0" indent="0">
              <a:buNone/>
            </a:pPr>
            <a:r>
              <a:rPr lang="en-US" dirty="0" smtClean="0"/>
              <a:t>When averaging, the midpoint of the two existing control points is taken, then the control points are moved to match with the midpoint at the vertex.</a:t>
            </a:r>
            <a:endParaRPr lang="en-US" dirty="0" smtClean="0"/>
          </a:p>
        </p:txBody>
      </p:sp>
      <p:sp>
        <p:nvSpPr>
          <p:cNvPr id="42" name="Freeform 41"/>
          <p:cNvSpPr/>
          <p:nvPr/>
        </p:nvSpPr>
        <p:spPr>
          <a:xfrm>
            <a:off x="672365" y="4389121"/>
            <a:ext cx="3575684" cy="1787842"/>
          </a:xfrm>
          <a:custGeom>
            <a:avLst/>
            <a:gdLst>
              <a:gd name="connsiteX0" fmla="*/ 914400 w 1828800"/>
              <a:gd name="connsiteY0" fmla="*/ 0 h 914400"/>
              <a:gd name="connsiteX1" fmla="*/ 1828800 w 1828800"/>
              <a:gd name="connsiteY1" fmla="*/ 0 h 914400"/>
              <a:gd name="connsiteX2" fmla="*/ 1828800 w 1828800"/>
              <a:gd name="connsiteY2" fmla="*/ 914400 h 914400"/>
              <a:gd name="connsiteX3" fmla="*/ 914400 w 1828800"/>
              <a:gd name="connsiteY3" fmla="*/ 914400 h 914400"/>
              <a:gd name="connsiteX4" fmla="*/ 0 w 1828800"/>
              <a:gd name="connsiteY4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914400">
                <a:moveTo>
                  <a:pt x="914400" y="0"/>
                </a:moveTo>
                <a:lnTo>
                  <a:pt x="1828800" y="0"/>
                </a:lnTo>
                <a:lnTo>
                  <a:pt x="1828800" y="91440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/>
          <p:nvPr/>
        </p:nvCxnSpPr>
        <p:spPr>
          <a:xfrm flipV="1">
            <a:off x="1864260" y="4389121"/>
            <a:ext cx="595947" cy="595947"/>
          </a:xfrm>
          <a:prstGeom prst="line">
            <a:avLst/>
          </a:prstGeom>
          <a:ln w="38100" cap="rnd">
            <a:solidFill>
              <a:srgbClr val="FF000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2460207" y="4389121"/>
            <a:ext cx="595947" cy="0"/>
          </a:xfrm>
          <a:prstGeom prst="line">
            <a:avLst/>
          </a:prstGeom>
          <a:ln w="38100" cap="rnd">
            <a:solidFill>
              <a:srgbClr val="FF000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4771573" y="5266442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262224" y="5266442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7901408" y="4389121"/>
            <a:ext cx="3575684" cy="1787842"/>
          </a:xfrm>
          <a:custGeom>
            <a:avLst/>
            <a:gdLst>
              <a:gd name="connsiteX0" fmla="*/ 914400 w 1828800"/>
              <a:gd name="connsiteY0" fmla="*/ 0 h 914400"/>
              <a:gd name="connsiteX1" fmla="*/ 1828800 w 1828800"/>
              <a:gd name="connsiteY1" fmla="*/ 0 h 914400"/>
              <a:gd name="connsiteX2" fmla="*/ 1828800 w 1828800"/>
              <a:gd name="connsiteY2" fmla="*/ 914400 h 914400"/>
              <a:gd name="connsiteX3" fmla="*/ 914400 w 1828800"/>
              <a:gd name="connsiteY3" fmla="*/ 914400 h 914400"/>
              <a:gd name="connsiteX4" fmla="*/ 0 w 1828800"/>
              <a:gd name="connsiteY4" fmla="*/ 914400 h 914400"/>
              <a:gd name="connsiteX0" fmla="*/ 914400 w 1828800"/>
              <a:gd name="connsiteY0" fmla="*/ 0 h 914400"/>
              <a:gd name="connsiteX1" fmla="*/ 1828800 w 1828800"/>
              <a:gd name="connsiteY1" fmla="*/ 0 h 914400"/>
              <a:gd name="connsiteX2" fmla="*/ 1828800 w 1828800"/>
              <a:gd name="connsiteY2" fmla="*/ 914400 h 914400"/>
              <a:gd name="connsiteX3" fmla="*/ 914400 w 1828800"/>
              <a:gd name="connsiteY3" fmla="*/ 914400 h 914400"/>
              <a:gd name="connsiteX4" fmla="*/ 0 w 1828800"/>
              <a:gd name="connsiteY4" fmla="*/ 914400 h 914400"/>
              <a:gd name="connsiteX5" fmla="*/ 139337 w 1828800"/>
              <a:gd name="connsiteY5" fmla="*/ 371883 h 914400"/>
              <a:gd name="connsiteX6" fmla="*/ 914400 w 1828800"/>
              <a:gd name="connsiteY6" fmla="*/ 0 h 914400"/>
              <a:gd name="connsiteX0" fmla="*/ 139337 w 1828800"/>
              <a:gd name="connsiteY0" fmla="*/ 371883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6" fmla="*/ 230777 w 1828800"/>
              <a:gd name="connsiteY6" fmla="*/ 463323 h 914400"/>
              <a:gd name="connsiteX0" fmla="*/ 903476 w 2592939"/>
              <a:gd name="connsiteY0" fmla="*/ 422366 h 964883"/>
              <a:gd name="connsiteX1" fmla="*/ 1678539 w 2592939"/>
              <a:gd name="connsiteY1" fmla="*/ 50483 h 964883"/>
              <a:gd name="connsiteX2" fmla="*/ 2592939 w 2592939"/>
              <a:gd name="connsiteY2" fmla="*/ 50483 h 964883"/>
              <a:gd name="connsiteX3" fmla="*/ 2592939 w 2592939"/>
              <a:gd name="connsiteY3" fmla="*/ 964883 h 964883"/>
              <a:gd name="connsiteX4" fmla="*/ 1678539 w 2592939"/>
              <a:gd name="connsiteY4" fmla="*/ 964883 h 964883"/>
              <a:gd name="connsiteX5" fmla="*/ 764139 w 2592939"/>
              <a:gd name="connsiteY5" fmla="*/ 964883 h 964883"/>
              <a:gd name="connsiteX6" fmla="*/ 36973 w 2592939"/>
              <a:gd name="connsiteY6" fmla="*/ 0 h 964883"/>
              <a:gd name="connsiteX0" fmla="*/ 139337 w 1828800"/>
              <a:gd name="connsiteY0" fmla="*/ 371883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0" fmla="*/ 0 w 2002971"/>
              <a:gd name="connsiteY0" fmla="*/ 1443038 h 1443038"/>
              <a:gd name="connsiteX1" fmla="*/ 1088571 w 2002971"/>
              <a:gd name="connsiteY1" fmla="*/ 0 h 1443038"/>
              <a:gd name="connsiteX2" fmla="*/ 2002971 w 2002971"/>
              <a:gd name="connsiteY2" fmla="*/ 0 h 1443038"/>
              <a:gd name="connsiteX3" fmla="*/ 2002971 w 2002971"/>
              <a:gd name="connsiteY3" fmla="*/ 914400 h 1443038"/>
              <a:gd name="connsiteX4" fmla="*/ 1088571 w 2002971"/>
              <a:gd name="connsiteY4" fmla="*/ 914400 h 1443038"/>
              <a:gd name="connsiteX5" fmla="*/ 174171 w 2002971"/>
              <a:gd name="connsiteY5" fmla="*/ 914400 h 1443038"/>
              <a:gd name="connsiteX0" fmla="*/ 0 w 2281645"/>
              <a:gd name="connsiteY0" fmla="*/ 537346 h 914400"/>
              <a:gd name="connsiteX1" fmla="*/ 1367245 w 2281645"/>
              <a:gd name="connsiteY1" fmla="*/ 0 h 914400"/>
              <a:gd name="connsiteX2" fmla="*/ 2281645 w 2281645"/>
              <a:gd name="connsiteY2" fmla="*/ 0 h 914400"/>
              <a:gd name="connsiteX3" fmla="*/ 2281645 w 2281645"/>
              <a:gd name="connsiteY3" fmla="*/ 914400 h 914400"/>
              <a:gd name="connsiteX4" fmla="*/ 1367245 w 2281645"/>
              <a:gd name="connsiteY4" fmla="*/ 914400 h 914400"/>
              <a:gd name="connsiteX5" fmla="*/ 452845 w 2281645"/>
              <a:gd name="connsiteY5" fmla="*/ 914400 h 914400"/>
              <a:gd name="connsiteX0" fmla="*/ 0 w 2281645"/>
              <a:gd name="connsiteY0" fmla="*/ 537346 h 914400"/>
              <a:gd name="connsiteX1" fmla="*/ 1367245 w 2281645"/>
              <a:gd name="connsiteY1" fmla="*/ 0 h 914400"/>
              <a:gd name="connsiteX2" fmla="*/ 2281645 w 2281645"/>
              <a:gd name="connsiteY2" fmla="*/ 0 h 914400"/>
              <a:gd name="connsiteX3" fmla="*/ 2281645 w 2281645"/>
              <a:gd name="connsiteY3" fmla="*/ 914400 h 914400"/>
              <a:gd name="connsiteX4" fmla="*/ 1367245 w 2281645"/>
              <a:gd name="connsiteY4" fmla="*/ 914400 h 914400"/>
              <a:gd name="connsiteX5" fmla="*/ 452845 w 2281645"/>
              <a:gd name="connsiteY5" fmla="*/ 914400 h 914400"/>
              <a:gd name="connsiteX6" fmla="*/ 0 w 2281645"/>
              <a:gd name="connsiteY6" fmla="*/ 537346 h 914400"/>
              <a:gd name="connsiteX0" fmla="*/ 269966 w 1828800"/>
              <a:gd name="connsiteY0" fmla="*/ 720226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6" fmla="*/ 269966 w 1828800"/>
              <a:gd name="connsiteY6" fmla="*/ 720226 h 914400"/>
              <a:gd name="connsiteX0" fmla="*/ 209006 w 1828800"/>
              <a:gd name="connsiteY0" fmla="*/ 667974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6" fmla="*/ 209006 w 1828800"/>
              <a:gd name="connsiteY6" fmla="*/ 667974 h 914400"/>
              <a:gd name="connsiteX0" fmla="*/ 0 w 1828800"/>
              <a:gd name="connsiteY0" fmla="*/ 914400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0" fmla="*/ 0 w 1828800"/>
              <a:gd name="connsiteY0" fmla="*/ 914400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0" fmla="*/ 0 w 1828800"/>
              <a:gd name="connsiteY0" fmla="*/ 920575 h 920575"/>
              <a:gd name="connsiteX1" fmla="*/ 914400 w 1828800"/>
              <a:gd name="connsiteY1" fmla="*/ 6175 h 920575"/>
              <a:gd name="connsiteX2" fmla="*/ 1828800 w 1828800"/>
              <a:gd name="connsiteY2" fmla="*/ 6175 h 920575"/>
              <a:gd name="connsiteX3" fmla="*/ 1828800 w 1828800"/>
              <a:gd name="connsiteY3" fmla="*/ 920575 h 920575"/>
              <a:gd name="connsiteX4" fmla="*/ 914400 w 1828800"/>
              <a:gd name="connsiteY4" fmla="*/ 920575 h 920575"/>
              <a:gd name="connsiteX5" fmla="*/ 0 w 1828800"/>
              <a:gd name="connsiteY5" fmla="*/ 920575 h 920575"/>
              <a:gd name="connsiteX0" fmla="*/ 0 w 1828800"/>
              <a:gd name="connsiteY0" fmla="*/ 914400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  <a:gd name="connsiteX0" fmla="*/ 0 w 1828800"/>
              <a:gd name="connsiteY0" fmla="*/ 914400 h 914400"/>
              <a:gd name="connsiteX1" fmla="*/ 914400 w 1828800"/>
              <a:gd name="connsiteY1" fmla="*/ 0 h 914400"/>
              <a:gd name="connsiteX2" fmla="*/ 1828800 w 1828800"/>
              <a:gd name="connsiteY2" fmla="*/ 0 h 914400"/>
              <a:gd name="connsiteX3" fmla="*/ 1828800 w 1828800"/>
              <a:gd name="connsiteY3" fmla="*/ 914400 h 914400"/>
              <a:gd name="connsiteX4" fmla="*/ 914400 w 1828800"/>
              <a:gd name="connsiteY4" fmla="*/ 914400 h 914400"/>
              <a:gd name="connsiteX5" fmla="*/ 0 w 1828800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914400"/>
                </a:moveTo>
                <a:cubicBezTo>
                  <a:pt x="0" y="762000"/>
                  <a:pt x="609600" y="0"/>
                  <a:pt x="914400" y="0"/>
                </a:cubicBezTo>
                <a:lnTo>
                  <a:pt x="1828800" y="0"/>
                </a:lnTo>
                <a:lnTo>
                  <a:pt x="1828800" y="91440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9689250" y="4389121"/>
            <a:ext cx="595947" cy="0"/>
          </a:xfrm>
          <a:prstGeom prst="line">
            <a:avLst/>
          </a:prstGeom>
          <a:ln w="38100" cap="rnd">
            <a:solidFill>
              <a:srgbClr val="92D05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093303" y="4389121"/>
            <a:ext cx="595947" cy="0"/>
          </a:xfrm>
          <a:prstGeom prst="line">
            <a:avLst/>
          </a:prstGeom>
          <a:ln w="38100" cap="rnd">
            <a:solidFill>
              <a:srgbClr val="92D05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667540" y="5252790"/>
            <a:ext cx="595947" cy="0"/>
          </a:xfrm>
          <a:prstGeom prst="line">
            <a:avLst/>
          </a:prstGeom>
          <a:ln w="38100" cap="rnd">
            <a:solidFill>
              <a:srgbClr val="92D050"/>
            </a:solidFill>
            <a:round/>
            <a:headEnd type="oval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263487" y="5252791"/>
            <a:ext cx="595947" cy="0"/>
          </a:xfrm>
          <a:prstGeom prst="line">
            <a:avLst/>
          </a:prstGeom>
          <a:ln w="38100" cap="rnd">
            <a:solidFill>
              <a:srgbClr val="FF000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8200" y="6311900"/>
            <a:ext cx="6660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Which control point it chooses to overwrite is still uncertain.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4261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When a vertex undergoes averaging, the control points in adjacent sections are adjusted.</a:t>
            </a:r>
          </a:p>
          <a:p>
            <a:pPr marL="0" indent="0">
              <a:buNone/>
            </a:pPr>
            <a:r>
              <a:rPr lang="en-US" dirty="0" smtClean="0"/>
              <a:t>This is why when the first vertex is set to averaging, the neighboring vertex undergoes overwriting rather than averaging.</a:t>
            </a:r>
            <a:endParaRPr lang="en-US" dirty="0"/>
          </a:p>
        </p:txBody>
      </p:sp>
      <p:sp>
        <p:nvSpPr>
          <p:cNvPr id="14" name="Freeform 13"/>
          <p:cNvSpPr/>
          <p:nvPr/>
        </p:nvSpPr>
        <p:spPr>
          <a:xfrm flipH="1">
            <a:off x="1321359" y="4329770"/>
            <a:ext cx="2627915" cy="1751943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29600" h="5486400">
                <a:moveTo>
                  <a:pt x="0" y="0"/>
                </a:moveTo>
                <a:lnTo>
                  <a:pt x="0" y="2743200"/>
                </a:lnTo>
                <a:lnTo>
                  <a:pt x="0" y="5486400"/>
                </a:lnTo>
                <a:lnTo>
                  <a:pt x="2743200" y="5486400"/>
                </a:lnTo>
                <a:lnTo>
                  <a:pt x="3657600" y="5486400"/>
                </a:lnTo>
                <a:lnTo>
                  <a:pt x="8229600" y="5486400"/>
                </a:lnTo>
                <a:lnTo>
                  <a:pt x="3657600" y="4572000"/>
                </a:lnTo>
                <a:lnTo>
                  <a:pt x="2743200" y="2743200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 w="19050"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2294660" y="5788433"/>
            <a:ext cx="486651" cy="97330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81312" y="5593772"/>
            <a:ext cx="97331" cy="194660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2975972" y="5205742"/>
            <a:ext cx="97330" cy="194660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3073302" y="4913751"/>
            <a:ext cx="291991" cy="291991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 flipH="1">
            <a:off x="4762142" y="4329770"/>
            <a:ext cx="2627915" cy="1751943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5486400">
                <a:moveTo>
                  <a:pt x="0" y="0"/>
                </a:moveTo>
                <a:lnTo>
                  <a:pt x="0" y="2743200"/>
                </a:lnTo>
                <a:lnTo>
                  <a:pt x="0" y="5486400"/>
                </a:lnTo>
                <a:lnTo>
                  <a:pt x="2743200" y="5486400"/>
                </a:lnTo>
                <a:lnTo>
                  <a:pt x="3657600" y="5486400"/>
                </a:lnTo>
                <a:lnTo>
                  <a:pt x="8229600" y="5486400"/>
                </a:lnTo>
                <a:cubicBezTo>
                  <a:pt x="8229600" y="5334000"/>
                  <a:pt x="4572000" y="5029200"/>
                  <a:pt x="3657600" y="4572000"/>
                </a:cubicBezTo>
                <a:cubicBezTo>
                  <a:pt x="2743200" y="4114800"/>
                  <a:pt x="3352800" y="3505200"/>
                  <a:pt x="2743200" y="2743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65000"/>
            </a:schemeClr>
          </a:solidFill>
          <a:ln w="19050"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6326981" y="5205742"/>
            <a:ext cx="187104" cy="251833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6514085" y="4913751"/>
            <a:ext cx="291991" cy="291991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930103" y="5789076"/>
            <a:ext cx="291992" cy="145996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6222093" y="5641792"/>
            <a:ext cx="291992" cy="145996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 flipH="1">
            <a:off x="8202925" y="4329770"/>
            <a:ext cx="2627915" cy="1751943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5486400">
                <a:moveTo>
                  <a:pt x="0" y="0"/>
                </a:moveTo>
                <a:lnTo>
                  <a:pt x="0" y="2743200"/>
                </a:lnTo>
                <a:lnTo>
                  <a:pt x="0" y="5486400"/>
                </a:lnTo>
                <a:lnTo>
                  <a:pt x="2743200" y="5486400"/>
                </a:lnTo>
                <a:lnTo>
                  <a:pt x="3657600" y="5486400"/>
                </a:lnTo>
                <a:lnTo>
                  <a:pt x="8229600" y="5486400"/>
                </a:lnTo>
                <a:cubicBezTo>
                  <a:pt x="8229600" y="5334000"/>
                  <a:pt x="4572000" y="5029200"/>
                  <a:pt x="3657600" y="4572000"/>
                </a:cubicBezTo>
                <a:cubicBezTo>
                  <a:pt x="2743200" y="4114800"/>
                  <a:pt x="3657600" y="3657600"/>
                  <a:pt x="2743200" y="2743200"/>
                </a:cubicBezTo>
                <a:lnTo>
                  <a:pt x="0" y="0"/>
                </a:lnTo>
                <a:close/>
              </a:path>
            </a:pathLst>
          </a:cu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9954868" y="4913751"/>
            <a:ext cx="291991" cy="291991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9370886" y="5789076"/>
            <a:ext cx="291992" cy="145996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9662876" y="5641792"/>
            <a:ext cx="291992" cy="145996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9662876" y="5205741"/>
            <a:ext cx="291991" cy="291991"/>
          </a:xfrm>
          <a:prstGeom prst="line">
            <a:avLst/>
          </a:prstGeom>
          <a:ln cap="rnd">
            <a:solidFill>
              <a:srgbClr val="FF0000"/>
            </a:solidFill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222093" y="4131807"/>
            <a:ext cx="0" cy="150998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954867" y="4131807"/>
            <a:ext cx="0" cy="927939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51327" y="3752481"/>
            <a:ext cx="114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Averaging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9292862" y="3752481"/>
            <a:ext cx="132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Overwriting</a:t>
            </a:r>
            <a:endParaRPr lang="en-US" dirty="0"/>
          </a:p>
        </p:txBody>
      </p:sp>
      <p:cxnSp>
        <p:nvCxnSpPr>
          <p:cNvPr id="40" name="Straight Arrow Connector 39"/>
          <p:cNvCxnSpPr/>
          <p:nvPr/>
        </p:nvCxnSpPr>
        <p:spPr>
          <a:xfrm flipH="1" flipV="1">
            <a:off x="6470553" y="5373221"/>
            <a:ext cx="963038" cy="843429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51327" y="6266943"/>
            <a:ext cx="5856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neighboring vertex’s control point shifted = updated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0896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When using linear sections, the control points are by default spaced 1/3 along the length of the segment.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276350" y="4419600"/>
            <a:ext cx="3981450" cy="1504950"/>
          </a:xfrm>
          <a:prstGeom prst="line">
            <a:avLst/>
          </a:prstGeom>
          <a:ln w="38100" cap="rnd">
            <a:round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257800" y="3314700"/>
            <a:ext cx="5791200" cy="2609850"/>
          </a:xfrm>
          <a:prstGeom prst="line">
            <a:avLst/>
          </a:prstGeom>
          <a:ln w="38100" cap="rnd">
            <a:round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257800" y="5055870"/>
            <a:ext cx="1929384" cy="868680"/>
          </a:xfrm>
          <a:prstGeom prst="line">
            <a:avLst/>
          </a:prstGeom>
          <a:ln w="38100" cap="rnd">
            <a:solidFill>
              <a:srgbClr val="FF000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931920" y="5421630"/>
            <a:ext cx="1325880" cy="502920"/>
          </a:xfrm>
          <a:prstGeom prst="line">
            <a:avLst/>
          </a:prstGeom>
          <a:ln w="38100" cap="rnd">
            <a:solidFill>
              <a:srgbClr val="FF0000"/>
            </a:solidFill>
            <a:round/>
            <a:headEnd type="oval" w="med" len="med"/>
            <a:tailEnd type="oval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1248728" y="4573269"/>
            <a:ext cx="3981450" cy="150495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arrow" w="sm" len="sm"/>
            <a:tailEnd type="arrow" w="sm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3862769" y="5692775"/>
            <a:ext cx="1325880" cy="50292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arrow" w="sm" len="sm"/>
            <a:tailEnd type="arrow" w="sm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285422" y="3478212"/>
            <a:ext cx="5791200" cy="260985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arrow" w="sm" len="sm"/>
            <a:tailEnd type="arrow" w="sm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5335523" y="5325744"/>
            <a:ext cx="1929384" cy="86868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arrow" w="sm" len="sm"/>
            <a:tailEnd type="arrow" w="sm" len="sm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96037" y="50522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  <a:endParaRPr lang="en-US" i="1" dirty="0"/>
          </a:p>
        </p:txBody>
      </p:sp>
      <p:sp>
        <p:nvSpPr>
          <p:cNvPr id="48" name="TextBox 47"/>
          <p:cNvSpPr txBox="1"/>
          <p:nvPr/>
        </p:nvSpPr>
        <p:spPr>
          <a:xfrm>
            <a:off x="4134362" y="5970388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a</a:t>
            </a:r>
            <a:r>
              <a:rPr lang="en-US" dirty="0" smtClean="0"/>
              <a:t>/3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261396" y="5774135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b</a:t>
            </a:r>
            <a:r>
              <a:rPr lang="en-US" dirty="0" smtClean="0"/>
              <a:t>/3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925693" y="443495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7084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stCxn id="17" idx="1"/>
            <a:endCxn id="17" idx="0"/>
          </p:cNvCxnSpPr>
          <p:nvPr/>
        </p:nvCxnSpPr>
        <p:spPr>
          <a:xfrm flipH="1">
            <a:off x="8254817" y="2922259"/>
            <a:ext cx="1185863" cy="2371725"/>
          </a:xfrm>
          <a:prstGeom prst="line">
            <a:avLst/>
          </a:prstGeom>
          <a:ln w="12700" cap="rnd">
            <a:solidFill>
              <a:srgbClr val="FFDB69">
                <a:alpha val="5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9440674" y="1736403"/>
            <a:ext cx="1185863" cy="1185861"/>
          </a:xfrm>
          <a:prstGeom prst="line">
            <a:avLst/>
          </a:prstGeom>
          <a:ln w="28575" cap="rnd">
            <a:solidFill>
              <a:srgbClr val="C0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797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smooth point tool is used so that a previously linear spline is transformed into a desired cubic </a:t>
            </a:r>
            <a:r>
              <a:rPr lang="en-US" dirty="0" err="1" smtClean="0"/>
              <a:t>Bézier</a:t>
            </a:r>
            <a:r>
              <a:rPr lang="en-US" dirty="0" smtClean="0"/>
              <a:t> curve.</a:t>
            </a:r>
          </a:p>
          <a:p>
            <a:pPr marL="0" indent="0">
              <a:buNone/>
            </a:pPr>
            <a:r>
              <a:rPr lang="en-US" dirty="0" smtClean="0"/>
              <a:t>The initial spline is defined between P0 and P3, with the adjacent triangles being used to manipulate the control points.</a:t>
            </a:r>
          </a:p>
        </p:txBody>
      </p:sp>
      <p:sp>
        <p:nvSpPr>
          <p:cNvPr id="17" name="Freeform 16"/>
          <p:cNvSpPr/>
          <p:nvPr/>
        </p:nvSpPr>
        <p:spPr>
          <a:xfrm flipH="1">
            <a:off x="8254817" y="2922259"/>
            <a:ext cx="1185863" cy="2371725"/>
          </a:xfrm>
          <a:custGeom>
            <a:avLst/>
            <a:gdLst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  <a:gd name="connsiteX0" fmla="*/ 0 w 8229600"/>
              <a:gd name="connsiteY0" fmla="*/ 0 h 5486400"/>
              <a:gd name="connsiteX1" fmla="*/ 0 w 8229600"/>
              <a:gd name="connsiteY1" fmla="*/ 2743200 h 5486400"/>
              <a:gd name="connsiteX2" fmla="*/ 0 w 8229600"/>
              <a:gd name="connsiteY2" fmla="*/ 5486400 h 5486400"/>
              <a:gd name="connsiteX3" fmla="*/ 2743200 w 8229600"/>
              <a:gd name="connsiteY3" fmla="*/ 5486400 h 5486400"/>
              <a:gd name="connsiteX4" fmla="*/ 3657600 w 8229600"/>
              <a:gd name="connsiteY4" fmla="*/ 5486400 h 5486400"/>
              <a:gd name="connsiteX5" fmla="*/ 8229600 w 8229600"/>
              <a:gd name="connsiteY5" fmla="*/ 5486400 h 5486400"/>
              <a:gd name="connsiteX6" fmla="*/ 3657600 w 8229600"/>
              <a:gd name="connsiteY6" fmla="*/ 4572000 h 5486400"/>
              <a:gd name="connsiteX7" fmla="*/ 2743200 w 8229600"/>
              <a:gd name="connsiteY7" fmla="*/ 2743200 h 5486400"/>
              <a:gd name="connsiteX8" fmla="*/ 0 w 8229600"/>
              <a:gd name="connsiteY8" fmla="*/ 0 h 5486400"/>
              <a:gd name="connsiteX0" fmla="*/ 0 w 3657600"/>
              <a:gd name="connsiteY0" fmla="*/ 0 h 5486400"/>
              <a:gd name="connsiteX1" fmla="*/ 0 w 3657600"/>
              <a:gd name="connsiteY1" fmla="*/ 2743200 h 5486400"/>
              <a:gd name="connsiteX2" fmla="*/ 0 w 3657600"/>
              <a:gd name="connsiteY2" fmla="*/ 5486400 h 5486400"/>
              <a:gd name="connsiteX3" fmla="*/ 2743200 w 3657600"/>
              <a:gd name="connsiteY3" fmla="*/ 5486400 h 5486400"/>
              <a:gd name="connsiteX4" fmla="*/ 3657600 w 3657600"/>
              <a:gd name="connsiteY4" fmla="*/ 5486400 h 5486400"/>
              <a:gd name="connsiteX5" fmla="*/ 3657600 w 3657600"/>
              <a:gd name="connsiteY5" fmla="*/ 4572000 h 5486400"/>
              <a:gd name="connsiteX6" fmla="*/ 2743200 w 3657600"/>
              <a:gd name="connsiteY6" fmla="*/ 2743200 h 5486400"/>
              <a:gd name="connsiteX7" fmla="*/ 0 w 3657600"/>
              <a:gd name="connsiteY7" fmla="*/ 0 h 5486400"/>
              <a:gd name="connsiteX0" fmla="*/ 2743200 w 3657600"/>
              <a:gd name="connsiteY0" fmla="*/ 0 h 2743200"/>
              <a:gd name="connsiteX1" fmla="*/ 0 w 3657600"/>
              <a:gd name="connsiteY1" fmla="*/ 0 h 2743200"/>
              <a:gd name="connsiteX2" fmla="*/ 0 w 3657600"/>
              <a:gd name="connsiteY2" fmla="*/ 2743200 h 2743200"/>
              <a:gd name="connsiteX3" fmla="*/ 2743200 w 3657600"/>
              <a:gd name="connsiteY3" fmla="*/ 2743200 h 2743200"/>
              <a:gd name="connsiteX4" fmla="*/ 3657600 w 3657600"/>
              <a:gd name="connsiteY4" fmla="*/ 2743200 h 2743200"/>
              <a:gd name="connsiteX5" fmla="*/ 3657600 w 3657600"/>
              <a:gd name="connsiteY5" fmla="*/ 1828800 h 2743200"/>
              <a:gd name="connsiteX6" fmla="*/ 2743200 w 3657600"/>
              <a:gd name="connsiteY6" fmla="*/ 0 h 2743200"/>
              <a:gd name="connsiteX0" fmla="*/ 2743200 w 3657600"/>
              <a:gd name="connsiteY0" fmla="*/ 0 h 2743200"/>
              <a:gd name="connsiteX1" fmla="*/ 0 w 3657600"/>
              <a:gd name="connsiteY1" fmla="*/ 2743200 h 2743200"/>
              <a:gd name="connsiteX2" fmla="*/ 2743200 w 3657600"/>
              <a:gd name="connsiteY2" fmla="*/ 2743200 h 2743200"/>
              <a:gd name="connsiteX3" fmla="*/ 3657600 w 3657600"/>
              <a:gd name="connsiteY3" fmla="*/ 2743200 h 2743200"/>
              <a:gd name="connsiteX4" fmla="*/ 3657600 w 3657600"/>
              <a:gd name="connsiteY4" fmla="*/ 1828800 h 2743200"/>
              <a:gd name="connsiteX5" fmla="*/ 2743200 w 3657600"/>
              <a:gd name="connsiteY5" fmla="*/ 0 h 2743200"/>
              <a:gd name="connsiteX0" fmla="*/ 0 w 914400"/>
              <a:gd name="connsiteY0" fmla="*/ 0 h 2743200"/>
              <a:gd name="connsiteX1" fmla="*/ 0 w 914400"/>
              <a:gd name="connsiteY1" fmla="*/ 2743200 h 2743200"/>
              <a:gd name="connsiteX2" fmla="*/ 914400 w 914400"/>
              <a:gd name="connsiteY2" fmla="*/ 2743200 h 2743200"/>
              <a:gd name="connsiteX3" fmla="*/ 914400 w 914400"/>
              <a:gd name="connsiteY3" fmla="*/ 1828800 h 2743200"/>
              <a:gd name="connsiteX4" fmla="*/ 0 w 914400"/>
              <a:gd name="connsiteY4" fmla="*/ 0 h 2743200"/>
              <a:gd name="connsiteX0" fmla="*/ 914400 w 984908"/>
              <a:gd name="connsiteY0" fmla="*/ 2743200 h 2813708"/>
              <a:gd name="connsiteX1" fmla="*/ 914400 w 984908"/>
              <a:gd name="connsiteY1" fmla="*/ 1828800 h 2813708"/>
              <a:gd name="connsiteX2" fmla="*/ 0 w 984908"/>
              <a:gd name="connsiteY2" fmla="*/ 0 h 2813708"/>
              <a:gd name="connsiteX3" fmla="*/ 0 w 984908"/>
              <a:gd name="connsiteY3" fmla="*/ 2743200 h 2813708"/>
              <a:gd name="connsiteX4" fmla="*/ 984908 w 984908"/>
              <a:gd name="connsiteY4" fmla="*/ 2813708 h 2813708"/>
              <a:gd name="connsiteX0" fmla="*/ 914400 w 914400"/>
              <a:gd name="connsiteY0" fmla="*/ 2743200 h 2743200"/>
              <a:gd name="connsiteX1" fmla="*/ 914400 w 914400"/>
              <a:gd name="connsiteY1" fmla="*/ 1828800 h 2743200"/>
              <a:gd name="connsiteX2" fmla="*/ 0 w 914400"/>
              <a:gd name="connsiteY2" fmla="*/ 0 h 2743200"/>
              <a:gd name="connsiteX3" fmla="*/ 0 w 914400"/>
              <a:gd name="connsiteY3" fmla="*/ 2743200 h 2743200"/>
              <a:gd name="connsiteX0" fmla="*/ 914400 w 914400"/>
              <a:gd name="connsiteY0" fmla="*/ 182880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0" fmla="*/ 914400 w 914400"/>
              <a:gd name="connsiteY0" fmla="*/ 1828800 h 1828800"/>
              <a:gd name="connsiteX1" fmla="*/ 0 w 914400"/>
              <a:gd name="connsiteY1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" h="1828800">
                <a:moveTo>
                  <a:pt x="914400" y="1828800"/>
                </a:moveTo>
                <a:cubicBezTo>
                  <a:pt x="0" y="1371600"/>
                  <a:pt x="914400" y="914400"/>
                  <a:pt x="0" y="0"/>
                </a:cubicBezTo>
              </a:path>
            </a:pathLst>
          </a:custGeom>
          <a:noFill/>
          <a:ln w="28575" cap="rnd">
            <a:solidFill>
              <a:srgbClr val="FFDB69"/>
            </a:solidFill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8254821" y="4701053"/>
            <a:ext cx="1185858" cy="592931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8254821" y="2922259"/>
            <a:ext cx="1185863" cy="1185861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8254819" y="4108120"/>
            <a:ext cx="1185860" cy="592926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394959" y="4655336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9394959" y="4655336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209103" y="4062408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8209103" y="4062408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394959" y="287654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9394959" y="2876544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7068955" y="5293976"/>
            <a:ext cx="1185858" cy="592931"/>
          </a:xfrm>
          <a:prstGeom prst="line">
            <a:avLst/>
          </a:prstGeom>
          <a:ln w="28575" cap="rnd">
            <a:solidFill>
              <a:srgbClr val="FF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7023237" y="5841191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7023237" y="5841191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209103" y="5248268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8209103" y="5248268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10580812" y="1690688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10580812" y="1690688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54597" y="5339692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P0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9486384" y="287654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P3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614487" y="3761658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Original (linear) spline</a:t>
            </a:r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 flipV="1">
            <a:off x="9175430" y="3614450"/>
            <a:ext cx="439057" cy="26735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266369" y="5028724"/>
            <a:ext cx="20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Manipulated spline</a:t>
            </a:r>
            <a:endParaRPr lang="en-US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 flipV="1">
            <a:off x="8827312" y="4881516"/>
            <a:ext cx="439057" cy="26735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3040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Straight Connector 78"/>
          <p:cNvCxnSpPr/>
          <p:nvPr/>
        </p:nvCxnSpPr>
        <p:spPr>
          <a:xfrm flipH="1" flipV="1">
            <a:off x="9064350" y="4512883"/>
            <a:ext cx="376329" cy="188163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6274253" y="4512883"/>
            <a:ext cx="2371726" cy="1185867"/>
          </a:xfrm>
          <a:prstGeom prst="line">
            <a:avLst/>
          </a:prstGeom>
          <a:ln w="28575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938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For the control point P1, P0 undergoes averaging when selecting smooth point.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The original control point is indicated at </a:t>
            </a:r>
            <a:r>
              <a:rPr lang="en-US" sz="2400" i="1" dirty="0" smtClean="0"/>
              <a:t>A</a:t>
            </a:r>
            <a:r>
              <a:rPr lang="en-US" sz="2400" dirty="0" smtClean="0"/>
              <a:t>, which is 1/3 up the linear spline.</a:t>
            </a:r>
          </a:p>
          <a:p>
            <a:pPr marL="0" indent="0">
              <a:buNone/>
            </a:pPr>
            <a:r>
              <a:rPr lang="en-US" sz="2400" dirty="0" smtClean="0"/>
              <a:t>Given </a:t>
            </a:r>
            <a:r>
              <a:rPr lang="en-US" sz="2400" dirty="0"/>
              <a:t>antipode</a:t>
            </a:r>
            <a:r>
              <a:rPr lang="en-US" sz="2400" dirty="0" smtClean="0"/>
              <a:t> P1</a:t>
            </a:r>
            <a:r>
              <a:rPr lang="en-US" sz="2400" i="1" dirty="0" smtClean="0"/>
              <a:t>'</a:t>
            </a:r>
            <a:r>
              <a:rPr lang="en-US" sz="2400" dirty="0" smtClean="0"/>
              <a:t>, position of the manipulating control point </a:t>
            </a:r>
            <a:r>
              <a:rPr lang="en-US" sz="2400" i="1" dirty="0" smtClean="0"/>
              <a:t>U</a:t>
            </a:r>
            <a:r>
              <a:rPr lang="en-US" sz="2400" dirty="0" smtClean="0"/>
              <a:t> is then calculated as such, with P0 being the origin, via point/vector arithmetic:</a:t>
            </a:r>
          </a:p>
          <a:p>
            <a:pPr marL="0" indent="0">
              <a:buNone/>
            </a:pPr>
            <a:r>
              <a:rPr lang="en-US" sz="2400" i="1" dirty="0" smtClean="0"/>
              <a:t>A</a:t>
            </a:r>
            <a:r>
              <a:rPr lang="en-US" sz="2400" dirty="0" smtClean="0"/>
              <a:t> = P0 + (</a:t>
            </a:r>
            <a:r>
              <a:rPr lang="en-US" sz="2400" dirty="0"/>
              <a:t>P3 </a:t>
            </a:r>
            <a:r>
              <a:rPr lang="en-US" sz="2400" dirty="0" smtClean="0"/>
              <a:t>– </a:t>
            </a:r>
            <a:r>
              <a:rPr lang="en-US" sz="2400" dirty="0"/>
              <a:t>P0</a:t>
            </a:r>
            <a:r>
              <a:rPr lang="en-US" sz="2400" dirty="0" smtClean="0"/>
              <a:t>) </a:t>
            </a:r>
            <a:r>
              <a:rPr lang="en-US" sz="2400" dirty="0"/>
              <a:t>∙</a:t>
            </a:r>
            <a:r>
              <a:rPr lang="en-US" sz="2400" dirty="0" smtClean="0"/>
              <a:t> 1/3</a:t>
            </a:r>
          </a:p>
          <a:p>
            <a:pPr marL="0" indent="0">
              <a:buNone/>
            </a:pPr>
            <a:r>
              <a:rPr lang="en-US" sz="2400" dirty="0" smtClean="0"/>
              <a:t>P1</a:t>
            </a:r>
            <a:r>
              <a:rPr lang="en-US" sz="2400" i="1" dirty="0" smtClean="0"/>
              <a:t>'</a:t>
            </a:r>
            <a:r>
              <a:rPr lang="en-US" sz="2400" dirty="0" smtClean="0"/>
              <a:t> = P0 + (P0 – P1)</a:t>
            </a:r>
          </a:p>
          <a:p>
            <a:pPr marL="0" indent="0">
              <a:buNone/>
            </a:pPr>
            <a:r>
              <a:rPr lang="en-US" sz="2400" i="1" dirty="0" smtClean="0"/>
              <a:t>U</a:t>
            </a:r>
            <a:r>
              <a:rPr lang="en-US" sz="2400" dirty="0" smtClean="0"/>
              <a:t> = </a:t>
            </a:r>
            <a:r>
              <a:rPr lang="en-US" sz="2400" i="1" dirty="0" smtClean="0"/>
              <a:t>A</a:t>
            </a:r>
            <a:r>
              <a:rPr lang="en-US" sz="2400" dirty="0" smtClean="0"/>
              <a:t> – (P1 – P1</a:t>
            </a:r>
            <a:r>
              <a:rPr lang="en-US" sz="2400" i="1" dirty="0" smtClean="0"/>
              <a:t>' </a:t>
            </a:r>
            <a:r>
              <a:rPr lang="en-US" sz="2400" dirty="0" smtClean="0"/>
              <a:t>)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8254817" y="2922259"/>
            <a:ext cx="1185863" cy="2371725"/>
          </a:xfrm>
          <a:prstGeom prst="line">
            <a:avLst/>
          </a:prstGeom>
          <a:ln w="12700" cap="rnd">
            <a:solidFill>
              <a:srgbClr val="FFDB69">
                <a:alpha val="5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8254821" y="4701053"/>
            <a:ext cx="1185858" cy="592931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394959" y="4655336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9394959" y="4655336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7068955" y="5293976"/>
            <a:ext cx="1185858" cy="592931"/>
          </a:xfrm>
          <a:prstGeom prst="line">
            <a:avLst/>
          </a:prstGeom>
          <a:ln w="28575" cap="rnd">
            <a:solidFill>
              <a:srgbClr val="FF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7023237" y="5841191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7023237" y="5841191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8209103" y="5248268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209103" y="5248268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54597" y="5339692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P0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9614487" y="3761658"/>
            <a:ext cx="78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Target</a:t>
            </a:r>
            <a:endParaRPr lang="en-US" dirty="0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9486394" y="4118510"/>
            <a:ext cx="219034" cy="45349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661884" y="2747603"/>
            <a:ext cx="174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Original control point position</a:t>
            </a:r>
            <a:endParaRPr lang="en-US" dirty="0"/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8645979" y="3416793"/>
            <a:ext cx="0" cy="92846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8600259" y="4467163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V="1">
            <a:off x="8600259" y="4467163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297220" y="411851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A</a:t>
            </a:r>
            <a:endParaRPr lang="en-US" i="1" dirty="0"/>
          </a:p>
        </p:txBody>
      </p:sp>
      <p:sp>
        <p:nvSpPr>
          <p:cNvPr id="73" name="TextBox 72"/>
          <p:cNvSpPr txBox="1"/>
          <p:nvPr/>
        </p:nvSpPr>
        <p:spPr>
          <a:xfrm>
            <a:off x="6174571" y="5747965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U</a:t>
            </a:r>
            <a:endParaRPr lang="en-US" i="1" dirty="0"/>
          </a:p>
        </p:txBody>
      </p:sp>
      <p:sp>
        <p:nvSpPr>
          <p:cNvPr id="74" name="TextBox 73"/>
          <p:cNvSpPr txBox="1"/>
          <p:nvPr/>
        </p:nvSpPr>
        <p:spPr>
          <a:xfrm>
            <a:off x="6969272" y="59538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P1</a:t>
            </a:r>
            <a:r>
              <a:rPr lang="en-US" i="1" dirty="0" smtClean="0"/>
              <a:t>'</a:t>
            </a:r>
            <a:endParaRPr lang="en-US" i="1" dirty="0"/>
          </a:p>
        </p:txBody>
      </p:sp>
      <p:cxnSp>
        <p:nvCxnSpPr>
          <p:cNvPr id="75" name="Straight Connector 74"/>
          <p:cNvCxnSpPr/>
          <p:nvPr/>
        </p:nvCxnSpPr>
        <p:spPr>
          <a:xfrm>
            <a:off x="6226492" y="5647282"/>
            <a:ext cx="91440" cy="91440"/>
          </a:xfrm>
          <a:prstGeom prst="line">
            <a:avLst/>
          </a:prstGeom>
          <a:ln w="38100" cap="rnd">
            <a:solidFill>
              <a:schemeClr val="accent5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6226492" y="5647282"/>
            <a:ext cx="91440" cy="91440"/>
          </a:xfrm>
          <a:prstGeom prst="line">
            <a:avLst/>
          </a:prstGeom>
          <a:ln w="38100" cap="rnd">
            <a:solidFill>
              <a:schemeClr val="accent5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350667" y="4836755"/>
            <a:ext cx="421822" cy="753686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375915" y="4138890"/>
            <a:ext cx="174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Manipulating </a:t>
            </a:r>
            <a:r>
              <a:rPr lang="en-US" dirty="0" smtClean="0"/>
              <a:t>control point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9486394" y="469484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4088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 flipH="1" flipV="1">
            <a:off x="9064350" y="4512883"/>
            <a:ext cx="376329" cy="188163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2302070" y="5293827"/>
            <a:ext cx="5952744" cy="1207008"/>
          </a:xfrm>
          <a:prstGeom prst="line">
            <a:avLst/>
          </a:prstGeom>
          <a:ln w="19050" cap="rnd">
            <a:solidFill>
              <a:schemeClr val="accent5">
                <a:alpha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6274253" y="4512883"/>
            <a:ext cx="2371726" cy="1185867"/>
          </a:xfrm>
          <a:prstGeom prst="line">
            <a:avLst/>
          </a:prstGeom>
          <a:ln w="28575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77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With position </a:t>
            </a:r>
            <a:r>
              <a:rPr lang="en-US" i="1" dirty="0" smtClean="0"/>
              <a:t>U </a:t>
            </a:r>
            <a:r>
              <a:rPr lang="en-US" dirty="0" smtClean="0"/>
              <a:t>defined w.r.t. P0, we can determine the segment </a:t>
            </a:r>
            <a:r>
              <a:rPr lang="en-US" i="1" dirty="0" smtClean="0"/>
              <a:t>U'</a:t>
            </a:r>
            <a:r>
              <a:rPr lang="en-US" dirty="0" smtClean="0"/>
              <a:t> required for the control point to be generated given it is 1/3 along the length of the segment.</a:t>
            </a:r>
          </a:p>
          <a:p>
            <a:pPr marL="0" indent="0">
              <a:buNone/>
            </a:pPr>
            <a:r>
              <a:rPr lang="en-US" i="1" dirty="0" smtClean="0"/>
              <a:t>U'</a:t>
            </a:r>
            <a:r>
              <a:rPr lang="en-US" dirty="0" smtClean="0"/>
              <a:t> = P0 + (</a:t>
            </a:r>
            <a:r>
              <a:rPr lang="en-US" i="1" dirty="0" smtClean="0"/>
              <a:t>U</a:t>
            </a:r>
            <a:r>
              <a:rPr lang="en-US" dirty="0" smtClean="0"/>
              <a:t> – P0) ∙ 3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8254817" y="2922259"/>
            <a:ext cx="1185863" cy="2371725"/>
          </a:xfrm>
          <a:prstGeom prst="line">
            <a:avLst/>
          </a:prstGeom>
          <a:ln w="12700" cap="rnd">
            <a:solidFill>
              <a:srgbClr val="FFDB69">
                <a:alpha val="5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8254821" y="4701053"/>
            <a:ext cx="1185858" cy="592931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394959" y="4655336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9394959" y="4655336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7068955" y="5293976"/>
            <a:ext cx="1185858" cy="592931"/>
          </a:xfrm>
          <a:prstGeom prst="line">
            <a:avLst/>
          </a:prstGeom>
          <a:ln w="28575" cap="rnd">
            <a:solidFill>
              <a:srgbClr val="FF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7023237" y="5841191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7023237" y="5841191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8209103" y="5248268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209103" y="5248268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54597" y="5339692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P0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9614487" y="3761658"/>
            <a:ext cx="78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Target</a:t>
            </a:r>
            <a:endParaRPr lang="en-US" dirty="0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9486394" y="4118510"/>
            <a:ext cx="219034" cy="45349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661884" y="2747603"/>
            <a:ext cx="174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Original control point position</a:t>
            </a:r>
            <a:endParaRPr lang="en-US" dirty="0"/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8645979" y="3416793"/>
            <a:ext cx="0" cy="92846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8600259" y="4467163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V="1">
            <a:off x="8600259" y="4467163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297220" y="411851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A</a:t>
            </a:r>
            <a:endParaRPr lang="en-US" i="1" dirty="0"/>
          </a:p>
        </p:txBody>
      </p:sp>
      <p:sp>
        <p:nvSpPr>
          <p:cNvPr id="73" name="TextBox 72"/>
          <p:cNvSpPr txBox="1"/>
          <p:nvPr/>
        </p:nvSpPr>
        <p:spPr>
          <a:xfrm>
            <a:off x="6174571" y="5747965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U</a:t>
            </a:r>
            <a:endParaRPr lang="en-US" i="1" dirty="0"/>
          </a:p>
        </p:txBody>
      </p:sp>
      <p:sp>
        <p:nvSpPr>
          <p:cNvPr id="74" name="TextBox 73"/>
          <p:cNvSpPr txBox="1"/>
          <p:nvPr/>
        </p:nvSpPr>
        <p:spPr>
          <a:xfrm>
            <a:off x="6969272" y="595380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P1</a:t>
            </a:r>
            <a:r>
              <a:rPr lang="en-US" i="1" dirty="0" smtClean="0"/>
              <a:t>'</a:t>
            </a:r>
            <a:endParaRPr lang="en-US" i="1" dirty="0"/>
          </a:p>
        </p:txBody>
      </p:sp>
      <p:cxnSp>
        <p:nvCxnSpPr>
          <p:cNvPr id="75" name="Straight Connector 74"/>
          <p:cNvCxnSpPr/>
          <p:nvPr/>
        </p:nvCxnSpPr>
        <p:spPr>
          <a:xfrm>
            <a:off x="6226492" y="5647282"/>
            <a:ext cx="91440" cy="91440"/>
          </a:xfrm>
          <a:prstGeom prst="line">
            <a:avLst/>
          </a:prstGeom>
          <a:ln w="38100" cap="rnd">
            <a:solidFill>
              <a:schemeClr val="accent5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6226492" y="5647282"/>
            <a:ext cx="91440" cy="91440"/>
          </a:xfrm>
          <a:prstGeom prst="line">
            <a:avLst/>
          </a:prstGeom>
          <a:ln w="38100" cap="rnd">
            <a:solidFill>
              <a:schemeClr val="accent5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350667" y="4836755"/>
            <a:ext cx="421822" cy="753686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375915" y="4138890"/>
            <a:ext cx="174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Manipulating </a:t>
            </a:r>
            <a:r>
              <a:rPr lang="en-US" dirty="0" smtClean="0"/>
              <a:t>control point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2256343" y="6455115"/>
            <a:ext cx="91440" cy="91440"/>
          </a:xfrm>
          <a:prstGeom prst="line">
            <a:avLst/>
          </a:prstGeom>
          <a:ln w="38100" cap="rnd">
            <a:solidFill>
              <a:schemeClr val="accent5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256343" y="6455115"/>
            <a:ext cx="91440" cy="91440"/>
          </a:xfrm>
          <a:prstGeom prst="line">
            <a:avLst/>
          </a:prstGeom>
          <a:ln w="38100" cap="rnd">
            <a:solidFill>
              <a:schemeClr val="accent5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256341" y="6062782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U'</a:t>
            </a:r>
            <a:endParaRPr lang="en-US" i="1" dirty="0"/>
          </a:p>
        </p:txBody>
      </p:sp>
      <p:sp>
        <p:nvSpPr>
          <p:cNvPr id="41" name="TextBox 40"/>
          <p:cNvSpPr txBox="1"/>
          <p:nvPr/>
        </p:nvSpPr>
        <p:spPr>
          <a:xfrm>
            <a:off x="9486394" y="469484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9465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Straight Connector 138"/>
          <p:cNvCxnSpPr/>
          <p:nvPr/>
        </p:nvCxnSpPr>
        <p:spPr>
          <a:xfrm flipH="1">
            <a:off x="8888905" y="1401878"/>
            <a:ext cx="2370141" cy="2370970"/>
          </a:xfrm>
          <a:prstGeom prst="line">
            <a:avLst/>
          </a:prstGeom>
          <a:ln w="19050" cap="rnd">
            <a:solidFill>
              <a:schemeClr val="accent5">
                <a:alpha val="50000"/>
              </a:schemeClr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cxnSp>
        <p:nvCxnSpPr>
          <p:cNvPr id="111" name="Straight Connector 110"/>
          <p:cNvCxnSpPr/>
          <p:nvPr/>
        </p:nvCxnSpPr>
        <p:spPr>
          <a:xfrm flipH="1">
            <a:off x="6936292" y="4958704"/>
            <a:ext cx="766757" cy="1533511"/>
          </a:xfrm>
          <a:prstGeom prst="line">
            <a:avLst/>
          </a:prstGeom>
          <a:ln w="12700" cap="rnd">
            <a:solidFill>
              <a:srgbClr val="FFDB69">
                <a:alpha val="5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>
            <a:off x="7703042" y="3772848"/>
            <a:ext cx="1185863" cy="1185861"/>
          </a:xfrm>
          <a:prstGeom prst="line">
            <a:avLst/>
          </a:prstGeom>
          <a:ln w="28575" cap="rnd">
            <a:solidFill>
              <a:srgbClr val="C0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H="1">
            <a:off x="6517189" y="4958704"/>
            <a:ext cx="1185863" cy="1185861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H="1" flipV="1">
            <a:off x="6517187" y="6144565"/>
            <a:ext cx="695305" cy="347650"/>
          </a:xfrm>
          <a:prstGeom prst="line">
            <a:avLst/>
          </a:prstGeom>
          <a:ln w="28575" cap="rnd">
            <a:solidFill>
              <a:srgbClr val="A27B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6471471" y="6098853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 flipV="1">
            <a:off x="6471471" y="6098853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7657327" y="4912989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V="1">
            <a:off x="7657327" y="4912989"/>
            <a:ext cx="91440" cy="9144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>
            <a:off x="8843180" y="3727133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flipV="1">
            <a:off x="8843180" y="3727133"/>
            <a:ext cx="91440" cy="9144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7748752" y="491298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P3</a:t>
            </a:r>
            <a:endParaRPr lang="en-US" dirty="0"/>
          </a:p>
        </p:txBody>
      </p:sp>
      <p:cxnSp>
        <p:nvCxnSpPr>
          <p:cNvPr id="140" name="Straight Connector 139"/>
          <p:cNvCxnSpPr/>
          <p:nvPr/>
        </p:nvCxnSpPr>
        <p:spPr>
          <a:xfrm>
            <a:off x="11213319" y="1356163"/>
            <a:ext cx="91440" cy="91440"/>
          </a:xfrm>
          <a:prstGeom prst="line">
            <a:avLst/>
          </a:prstGeom>
          <a:ln w="38100" cap="rnd">
            <a:solidFill>
              <a:schemeClr val="accent5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11213319" y="1356163"/>
            <a:ext cx="91440" cy="91440"/>
          </a:xfrm>
          <a:prstGeom prst="line">
            <a:avLst/>
          </a:prstGeom>
          <a:ln w="38100" cap="rnd">
            <a:solidFill>
              <a:schemeClr val="accent5"/>
            </a:solidFill>
            <a:rou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6174663" y="5698323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P2</a:t>
            </a:r>
            <a:endParaRPr lang="en-US" dirty="0"/>
          </a:p>
        </p:txBody>
      </p:sp>
      <p:sp>
        <p:nvSpPr>
          <p:cNvPr id="143" name="TextBox 142"/>
          <p:cNvSpPr txBox="1"/>
          <p:nvPr/>
        </p:nvSpPr>
        <p:spPr>
          <a:xfrm>
            <a:off x="8934620" y="3727133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P2</a:t>
            </a:r>
            <a:r>
              <a:rPr lang="en-US" i="1" dirty="0"/>
              <a:t>'</a:t>
            </a:r>
            <a:r>
              <a:rPr lang="en-US" dirty="0"/>
              <a:t> </a:t>
            </a:r>
            <a:r>
              <a:rPr lang="en-US" dirty="0" smtClean="0"/>
              <a:t>≡ </a:t>
            </a:r>
            <a:r>
              <a:rPr lang="en-US" i="1" dirty="0" smtClean="0"/>
              <a:t>V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44" name="TextBox 143"/>
          <p:cNvSpPr txBox="1"/>
          <p:nvPr/>
        </p:nvSpPr>
        <p:spPr>
          <a:xfrm>
            <a:off x="11259039" y="1401878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V'</a:t>
            </a:r>
            <a:endParaRPr lang="en-US" i="1" dirty="0"/>
          </a:p>
        </p:txBody>
      </p:sp>
      <p:sp>
        <p:nvSpPr>
          <p:cNvPr id="145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 txBox="1">
            <a:spLocks/>
          </p:cNvSpPr>
          <p:nvPr/>
        </p:nvSpPr>
        <p:spPr>
          <a:xfrm>
            <a:off x="840120" y="1825625"/>
            <a:ext cx="56313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Due to the control point for P3 being affected, updating it will use overwriting.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Thus, the antipode P2' is identical to the manipulating control point </a:t>
            </a:r>
            <a:r>
              <a:rPr lang="en-US" i="1" dirty="0" smtClean="0"/>
              <a:t>V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With position </a:t>
            </a:r>
            <a:r>
              <a:rPr lang="en-US" i="1" dirty="0" smtClean="0"/>
              <a:t>V</a:t>
            </a:r>
            <a:r>
              <a:rPr lang="en-US" dirty="0" smtClean="0"/>
              <a:t> </a:t>
            </a:r>
            <a:r>
              <a:rPr lang="en-US" dirty="0"/>
              <a:t>defined w.r.t. P0, we can </a:t>
            </a:r>
            <a:r>
              <a:rPr lang="en-US" dirty="0" smtClean="0"/>
              <a:t>repeat </a:t>
            </a:r>
            <a:r>
              <a:rPr lang="en-US" i="1" dirty="0" smtClean="0"/>
              <a:t>U'</a:t>
            </a:r>
            <a:r>
              <a:rPr lang="en-US" dirty="0" smtClean="0"/>
              <a:t>’s procedure for </a:t>
            </a:r>
            <a:r>
              <a:rPr lang="en-US" i="1" dirty="0" smtClean="0"/>
              <a:t>V'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P2</a:t>
            </a:r>
            <a:r>
              <a:rPr lang="en-US" i="1" dirty="0"/>
              <a:t>'</a:t>
            </a:r>
            <a:r>
              <a:rPr lang="en-US" dirty="0"/>
              <a:t> ≡ </a:t>
            </a:r>
            <a:r>
              <a:rPr lang="en-US" i="1" dirty="0" smtClean="0"/>
              <a:t>V</a:t>
            </a:r>
            <a:r>
              <a:rPr lang="en-US" dirty="0" smtClean="0"/>
              <a:t> = P3 + (P3 – P2)</a:t>
            </a:r>
            <a:endParaRPr lang="en-US" i="1" dirty="0"/>
          </a:p>
          <a:p>
            <a:pPr marL="0" indent="0">
              <a:buNone/>
            </a:pPr>
            <a:r>
              <a:rPr lang="en-US" i="1" dirty="0" smtClean="0"/>
              <a:t>V'</a:t>
            </a:r>
            <a:r>
              <a:rPr lang="en-US" dirty="0" smtClean="0"/>
              <a:t> = P3 + (</a:t>
            </a:r>
            <a:r>
              <a:rPr lang="en-US" i="1" dirty="0" smtClean="0"/>
              <a:t>V</a:t>
            </a:r>
            <a:r>
              <a:rPr lang="en-US" dirty="0" smtClean="0"/>
              <a:t> – P3) ∙ 3</a:t>
            </a: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5434420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Cleaning up </a:t>
            </a:r>
            <a:r>
              <a:rPr lang="en-US" i="1" dirty="0" smtClean="0"/>
              <a:t>U'</a:t>
            </a:r>
            <a:r>
              <a:rPr lang="en-US" dirty="0" smtClean="0"/>
              <a:t> </a:t>
            </a:r>
            <a:r>
              <a:rPr lang="en-US" dirty="0" smtClean="0"/>
              <a:t>to be only in terms of the control points.</a:t>
            </a:r>
          </a:p>
          <a:p>
            <a:pPr marL="0" indent="0">
              <a:buNone/>
            </a:pPr>
            <a:r>
              <a:rPr lang="en-US" i="1" dirty="0"/>
              <a:t>U'</a:t>
            </a:r>
            <a:r>
              <a:rPr lang="en-US" dirty="0"/>
              <a:t> = P0 + (</a:t>
            </a:r>
            <a:r>
              <a:rPr lang="en-US" i="1" dirty="0"/>
              <a:t>U</a:t>
            </a:r>
            <a:r>
              <a:rPr lang="en-US" dirty="0"/>
              <a:t> – P0) ∙ </a:t>
            </a:r>
            <a:r>
              <a:rPr lang="en-US" dirty="0" smtClean="0"/>
              <a:t>3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chemeClr val="bg1"/>
                </a:solidFill>
              </a:rPr>
              <a:t>U'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/>
              <a:t>= P0 + (((</a:t>
            </a:r>
            <a:r>
              <a:rPr lang="en-US" dirty="0"/>
              <a:t>P0 + (P3 – P0) ∙ 1/3</a:t>
            </a:r>
            <a:r>
              <a:rPr lang="en-US" dirty="0" smtClean="0"/>
              <a:t>) </a:t>
            </a:r>
            <a:r>
              <a:rPr lang="en-US" dirty="0"/>
              <a:t>– (P1 </a:t>
            </a:r>
            <a:r>
              <a:rPr lang="en-US" dirty="0" smtClean="0"/>
              <a:t>– (</a:t>
            </a:r>
            <a:r>
              <a:rPr lang="en-US" dirty="0"/>
              <a:t>P0 + (P0 – P1)</a:t>
            </a:r>
            <a:r>
              <a:rPr lang="en-US" dirty="0" smtClean="0"/>
              <a:t>))) – P0) ∙ 3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</a:rPr>
              <a:t>U'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= </a:t>
            </a:r>
            <a:r>
              <a:rPr lang="en-US" dirty="0" smtClean="0"/>
              <a:t>P0 + 3 P0 + P3 – P0 – 3 P1 + 3 P0 + 3 P0 – 3 P1 – 3 P0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</a:rPr>
              <a:t>U'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/>
              <a:t>= 6 P0 + P3 – 6 P1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</a:rPr>
              <a:t>U'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= P3 </a:t>
            </a:r>
            <a:r>
              <a:rPr lang="en-US" dirty="0" smtClean="0"/>
              <a:t>+ 6 (P0 </a:t>
            </a:r>
            <a:r>
              <a:rPr lang="en-US" dirty="0"/>
              <a:t>–</a:t>
            </a:r>
            <a:r>
              <a:rPr lang="en-US" dirty="0" smtClean="0"/>
              <a:t> P1)</a:t>
            </a:r>
          </a:p>
          <a:p>
            <a:pPr marL="0" indent="0">
              <a:buNone/>
            </a:pPr>
            <a:r>
              <a:rPr lang="en-US" dirty="0" smtClean="0"/>
              <a:t>Construction-wise, this indicates construct a</a:t>
            </a:r>
            <a:br>
              <a:rPr lang="en-US" dirty="0" smtClean="0"/>
            </a:br>
            <a:r>
              <a:rPr lang="en-US" dirty="0" smtClean="0"/>
              <a:t>vector P1 → P0, multiply its magnitude by 6 times,</a:t>
            </a:r>
            <a:br>
              <a:rPr lang="en-US" dirty="0" smtClean="0"/>
            </a:br>
            <a:r>
              <a:rPr lang="en-US" dirty="0" smtClean="0"/>
              <a:t>and start from P3.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EB6A5C-4ECF-A568-8C51-EBD12A4975C9}"/>
              </a:ext>
            </a:extLst>
          </p:cNvPr>
          <p:cNvSpPr/>
          <p:nvPr/>
        </p:nvSpPr>
        <p:spPr>
          <a:xfrm>
            <a:off x="9655892" y="4862327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8304FA-6BFB-3862-56A0-78994DA97C0B}"/>
              </a:ext>
            </a:extLst>
          </p:cNvPr>
          <p:cNvSpPr/>
          <p:nvPr/>
        </p:nvSpPr>
        <p:spPr>
          <a:xfrm>
            <a:off x="10147658" y="4616444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E423A5B-F6F3-DFC9-51CE-46F01E283B88}"/>
              </a:ext>
            </a:extLst>
          </p:cNvPr>
          <p:cNvSpPr/>
          <p:nvPr/>
        </p:nvSpPr>
        <p:spPr>
          <a:xfrm flipH="1">
            <a:off x="10147654" y="4616442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CF3E3A-7F2B-3F7C-55FB-396BB973C55A}"/>
              </a:ext>
            </a:extLst>
          </p:cNvPr>
          <p:cNvSpPr/>
          <p:nvPr/>
        </p:nvSpPr>
        <p:spPr>
          <a:xfrm>
            <a:off x="10862036" y="6078779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BC6E61-CDDF-8E18-B844-D6F69CF8AEC6}"/>
              </a:ext>
            </a:extLst>
          </p:cNvPr>
          <p:cNvSpPr/>
          <p:nvPr/>
        </p:nvSpPr>
        <p:spPr>
          <a:xfrm>
            <a:off x="11353802" y="5095247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6D4EEA4C-1914-B2B4-8F72-DA4B7A3AD543}"/>
              </a:ext>
            </a:extLst>
          </p:cNvPr>
          <p:cNvSpPr/>
          <p:nvPr/>
        </p:nvSpPr>
        <p:spPr>
          <a:xfrm flipH="1">
            <a:off x="11353805" y="5095246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B1214CCF-4063-7D3A-A503-DCBB0DA9200A}"/>
              </a:ext>
            </a:extLst>
          </p:cNvPr>
          <p:cNvSpPr/>
          <p:nvPr/>
        </p:nvSpPr>
        <p:spPr>
          <a:xfrm flipH="1">
            <a:off x="10862037" y="5336875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AF46EBD1-D063-BBF0-836B-88445DF97020}"/>
              </a:ext>
            </a:extLst>
          </p:cNvPr>
          <p:cNvSpPr/>
          <p:nvPr/>
        </p:nvSpPr>
        <p:spPr>
          <a:xfrm flipH="1">
            <a:off x="10370268" y="5582758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C751A2D9-03C5-DD43-E852-88263E29415D}"/>
              </a:ext>
            </a:extLst>
          </p:cNvPr>
          <p:cNvSpPr/>
          <p:nvPr/>
        </p:nvSpPr>
        <p:spPr>
          <a:xfrm flipH="1">
            <a:off x="9878500" y="5824387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5D02DC3A-C4BF-0D2A-AD79-4457A1F185AA}"/>
              </a:ext>
            </a:extLst>
          </p:cNvPr>
          <p:cNvSpPr/>
          <p:nvPr/>
        </p:nvSpPr>
        <p:spPr>
          <a:xfrm flipH="1">
            <a:off x="9386731" y="6070270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46F2B383-EBF7-2341-830C-4B34353D7E4E}"/>
              </a:ext>
            </a:extLst>
          </p:cNvPr>
          <p:cNvSpPr/>
          <p:nvPr/>
        </p:nvSpPr>
        <p:spPr>
          <a:xfrm flipH="1">
            <a:off x="8894963" y="6311899"/>
            <a:ext cx="491768" cy="245883"/>
          </a:xfrm>
          <a:prstGeom prst="rtTriangle">
            <a:avLst/>
          </a:prstGeom>
          <a:solidFill>
            <a:srgbClr val="4EA72E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CAEEC4B7-E250-18FE-1AB2-1B1D61BDCC53}"/>
              </a:ext>
            </a:extLst>
          </p:cNvPr>
          <p:cNvSpPr/>
          <p:nvPr/>
        </p:nvSpPr>
        <p:spPr>
          <a:xfrm flipH="1">
            <a:off x="8894961" y="6066017"/>
            <a:ext cx="2458839" cy="491765"/>
          </a:xfrm>
          <a:prstGeom prst="rtTriangle">
            <a:avLst/>
          </a:prstGeom>
          <a:solidFill>
            <a:srgbClr val="84E291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0137229" y="537131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6×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20088" y="6176963"/>
            <a:ext cx="2574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*Note that </a:t>
            </a:r>
            <a:r>
              <a:rPr lang="en-US" i="1" dirty="0" smtClean="0"/>
              <a:t>U' </a:t>
            </a:r>
            <a:r>
              <a:rPr lang="en-US" dirty="0" smtClean="0"/>
              <a:t>is w.r.t. P0.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3539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586C-8961-CD09-194D-C37C2303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E6E-EC13-FAD1-8183-19D765F0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Constructability of Arbitrary </a:t>
            </a:r>
            <a:r>
              <a:rPr lang="en-US" dirty="0" err="1" smtClean="0"/>
              <a:t>Bézier</a:t>
            </a:r>
            <a:r>
              <a:rPr lang="en-US" dirty="0" smtClean="0"/>
              <a:t> </a:t>
            </a:r>
            <a:r>
              <a:rPr lang="en-US" dirty="0"/>
              <a:t>Curves </a:t>
            </a:r>
            <a:r>
              <a:rPr lang="en-US" dirty="0" smtClean="0"/>
              <a:t>– </a:t>
            </a:r>
            <a:r>
              <a:rPr lang="en-US" dirty="0"/>
              <a:t>Reasoning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31DD7F-FF31-F538-D756-D5D86568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Cleaning up </a:t>
            </a:r>
            <a:r>
              <a:rPr lang="en-US" i="1" dirty="0" smtClean="0"/>
              <a:t>V'</a:t>
            </a:r>
            <a:r>
              <a:rPr lang="en-US" dirty="0" smtClean="0"/>
              <a:t> </a:t>
            </a:r>
            <a:r>
              <a:rPr lang="en-US" dirty="0" smtClean="0"/>
              <a:t>to be only in terms of the control points.</a:t>
            </a:r>
          </a:p>
          <a:p>
            <a:pPr marL="0" indent="0">
              <a:buNone/>
            </a:pPr>
            <a:r>
              <a:rPr lang="en-US" i="1" dirty="0"/>
              <a:t>V'</a:t>
            </a:r>
            <a:r>
              <a:rPr lang="en-US" dirty="0"/>
              <a:t> = P3 + (</a:t>
            </a:r>
            <a:r>
              <a:rPr lang="en-US" i="1" dirty="0"/>
              <a:t>V</a:t>
            </a:r>
            <a:r>
              <a:rPr lang="en-US" dirty="0"/>
              <a:t> – P3) ∙ </a:t>
            </a:r>
            <a:r>
              <a:rPr lang="en-US" dirty="0" smtClean="0"/>
              <a:t>3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</a:rPr>
              <a:t>V'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= P3 + </a:t>
            </a:r>
            <a:r>
              <a:rPr lang="en-US" dirty="0" smtClean="0"/>
              <a:t>((</a:t>
            </a:r>
            <a:r>
              <a:rPr lang="en-US" dirty="0"/>
              <a:t>P3 + (P3 – P2</a:t>
            </a:r>
            <a:r>
              <a:rPr lang="en-US" dirty="0" smtClean="0"/>
              <a:t>)) – </a:t>
            </a:r>
            <a:r>
              <a:rPr lang="en-US" dirty="0"/>
              <a:t>P3) ∙ </a:t>
            </a:r>
            <a:r>
              <a:rPr lang="en-US" dirty="0" smtClean="0"/>
              <a:t>3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</a:rPr>
              <a:t>V'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= </a:t>
            </a:r>
            <a:r>
              <a:rPr lang="en-US" dirty="0" smtClean="0"/>
              <a:t>P3 + 3 P3 + 3 P3 – 3 P2 – 3 P3</a:t>
            </a:r>
            <a:endParaRPr lang="en-US" dirty="0"/>
          </a:p>
          <a:p>
            <a:pPr marL="0" indent="0">
              <a:buNone/>
            </a:pPr>
            <a:r>
              <a:rPr lang="en-US" i="1" dirty="0" smtClean="0">
                <a:solidFill>
                  <a:schemeClr val="bg1"/>
                </a:solidFill>
              </a:rPr>
              <a:t>V</a:t>
            </a:r>
            <a:r>
              <a:rPr lang="en-US" i="1" dirty="0">
                <a:solidFill>
                  <a:schemeClr val="bg1"/>
                </a:solidFill>
              </a:rPr>
              <a:t>'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= P3 </a:t>
            </a:r>
            <a:r>
              <a:rPr lang="en-US" dirty="0" smtClean="0"/>
              <a:t>+ 3 P3 – 3 P2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</a:rPr>
              <a:t>V'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/>
              <a:t>= P3 + 3 (P3 – P2)</a:t>
            </a:r>
            <a:endParaRPr lang="en-US" i="1" dirty="0"/>
          </a:p>
          <a:p>
            <a:pPr marL="0" indent="0">
              <a:buNone/>
            </a:pPr>
            <a:r>
              <a:rPr lang="en-US" dirty="0" smtClean="0"/>
              <a:t>Construction-wise, this indicates construct a</a:t>
            </a:r>
            <a:br>
              <a:rPr lang="en-US" dirty="0" smtClean="0"/>
            </a:br>
            <a:r>
              <a:rPr lang="en-US" dirty="0" smtClean="0"/>
              <a:t>vector P2 </a:t>
            </a:r>
            <a:r>
              <a:rPr lang="en-US" dirty="0">
                <a:sym typeface="Wingdings" panose="05000000000000000000" pitchFamily="2" charset="2"/>
              </a:rPr>
              <a:t>→</a:t>
            </a:r>
            <a:r>
              <a:rPr lang="en-US" dirty="0" smtClean="0"/>
              <a:t> P3, multiply its magnitude by 3 times,</a:t>
            </a:r>
            <a:br>
              <a:rPr lang="en-US" dirty="0" smtClean="0"/>
            </a:br>
            <a:r>
              <a:rPr lang="en-US" dirty="0" smtClean="0"/>
              <a:t>and start from P3.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196388" y="6127233"/>
            <a:ext cx="2574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*Note that </a:t>
            </a:r>
            <a:r>
              <a:rPr lang="en-US" i="1" dirty="0" smtClean="0"/>
              <a:t>V' </a:t>
            </a:r>
            <a:r>
              <a:rPr lang="en-US" dirty="0" smtClean="0"/>
              <a:t>is w.r.t. P3.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87C91F-BCA4-5867-EF48-E654733915E9}"/>
              </a:ext>
            </a:extLst>
          </p:cNvPr>
          <p:cNvSpPr/>
          <p:nvPr/>
        </p:nvSpPr>
        <p:spPr>
          <a:xfrm>
            <a:off x="9883701" y="4779337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BFCD26-00A2-5F07-7447-5E5CD0870C47}"/>
              </a:ext>
            </a:extLst>
          </p:cNvPr>
          <p:cNvSpPr/>
          <p:nvPr/>
        </p:nvSpPr>
        <p:spPr>
          <a:xfrm>
            <a:off x="10375467" y="4287571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2AEF4C-4B4C-9E19-B24B-FEA0C7F4776D}"/>
              </a:ext>
            </a:extLst>
          </p:cNvPr>
          <p:cNvSpPr/>
          <p:nvPr/>
        </p:nvSpPr>
        <p:spPr>
          <a:xfrm>
            <a:off x="9879775" y="6066017"/>
            <a:ext cx="491766" cy="491765"/>
          </a:xfrm>
          <a:prstGeom prst="rect">
            <a:avLst/>
          </a:prstGeom>
          <a:solidFill>
            <a:schemeClr val="accent5"/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0DFFCD62-B08A-8A4E-5190-FFB6E4480BE9}"/>
              </a:ext>
            </a:extLst>
          </p:cNvPr>
          <p:cNvSpPr/>
          <p:nvPr/>
        </p:nvSpPr>
        <p:spPr>
          <a:xfrm flipH="1">
            <a:off x="10375460" y="4287571"/>
            <a:ext cx="491765" cy="491765"/>
          </a:xfrm>
          <a:prstGeom prst="rtTriangle">
            <a:avLst/>
          </a:prstGeom>
          <a:solidFill>
            <a:srgbClr val="C0000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F454E03C-972F-ED86-CDF1-17DC4BF12E9D}"/>
              </a:ext>
            </a:extLst>
          </p:cNvPr>
          <p:cNvSpPr/>
          <p:nvPr/>
        </p:nvSpPr>
        <p:spPr>
          <a:xfrm flipH="1">
            <a:off x="10375460" y="5574251"/>
            <a:ext cx="491765" cy="491765"/>
          </a:xfrm>
          <a:prstGeom prst="rtTriangle">
            <a:avLst/>
          </a:prstGeom>
          <a:solidFill>
            <a:srgbClr val="C0000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647FFB15-1A2F-9806-12B1-FE18C8A3B1D9}"/>
              </a:ext>
            </a:extLst>
          </p:cNvPr>
          <p:cNvSpPr/>
          <p:nvPr/>
        </p:nvSpPr>
        <p:spPr>
          <a:xfrm flipH="1">
            <a:off x="10867224" y="5082486"/>
            <a:ext cx="491765" cy="491765"/>
          </a:xfrm>
          <a:prstGeom prst="rtTriangle">
            <a:avLst/>
          </a:prstGeom>
          <a:solidFill>
            <a:srgbClr val="C0000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EEDE8F37-2C16-C28E-1BE3-359ABBD1FB2E}"/>
              </a:ext>
            </a:extLst>
          </p:cNvPr>
          <p:cNvSpPr/>
          <p:nvPr/>
        </p:nvSpPr>
        <p:spPr>
          <a:xfrm flipH="1">
            <a:off x="11358982" y="4590721"/>
            <a:ext cx="491765" cy="491765"/>
          </a:xfrm>
          <a:prstGeom prst="rtTriangle">
            <a:avLst/>
          </a:prstGeom>
          <a:solidFill>
            <a:srgbClr val="C0000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E39CD19A-97B0-7D93-2047-DB7167F82CF4}"/>
              </a:ext>
            </a:extLst>
          </p:cNvPr>
          <p:cNvSpPr/>
          <p:nvPr/>
        </p:nvSpPr>
        <p:spPr>
          <a:xfrm flipH="1">
            <a:off x="10368315" y="4590721"/>
            <a:ext cx="1475295" cy="1475295"/>
          </a:xfrm>
          <a:prstGeom prst="rtTriangle">
            <a:avLst/>
          </a:prstGeom>
          <a:solidFill>
            <a:srgbClr val="7030A0">
              <a:alpha val="50196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0746418" y="49416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53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/>
          <p:cNvSpPr/>
          <p:nvPr/>
        </p:nvSpPr>
        <p:spPr>
          <a:xfrm>
            <a:off x="9267825" y="3028950"/>
            <a:ext cx="2743200" cy="3657600"/>
          </a:xfrm>
          <a:custGeom>
            <a:avLst/>
            <a:gdLst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3657600">
                <a:moveTo>
                  <a:pt x="2743200" y="0"/>
                </a:moveTo>
                <a:lnTo>
                  <a:pt x="2743200" y="1828800"/>
                </a:lnTo>
                <a:lnTo>
                  <a:pt x="2743200" y="2743200"/>
                </a:lnTo>
                <a:lnTo>
                  <a:pt x="2743200" y="3657600"/>
                </a:lnTo>
                <a:lnTo>
                  <a:pt x="1828800" y="3657600"/>
                </a:lnTo>
                <a:lnTo>
                  <a:pt x="914400" y="3657600"/>
                </a:lnTo>
                <a:lnTo>
                  <a:pt x="0" y="3657600"/>
                </a:lnTo>
                <a:lnTo>
                  <a:pt x="0" y="2743200"/>
                </a:lnTo>
                <a:lnTo>
                  <a:pt x="0" y="1828800"/>
                </a:lnTo>
                <a:cubicBezTo>
                  <a:pt x="152400" y="1828800"/>
                  <a:pt x="609600" y="2743200"/>
                  <a:pt x="914400" y="2743200"/>
                </a:cubicBezTo>
                <a:cubicBezTo>
                  <a:pt x="1219200" y="2743200"/>
                  <a:pt x="1524000" y="2438400"/>
                  <a:pt x="1828800" y="1828800"/>
                </a:cubicBezTo>
                <a:lnTo>
                  <a:pt x="2743200" y="0"/>
                </a:lnTo>
                <a:close/>
              </a:path>
            </a:pathLst>
          </a:custGeom>
          <a:solidFill>
            <a:srgbClr val="E8E8E8">
              <a:alpha val="20000"/>
            </a:srgb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of Parabola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Arglin </a:t>
            </a:r>
            <a:r>
              <a:rPr lang="en-US" dirty="0" err="1"/>
              <a:t>Kampling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Using the </a:t>
            </a:r>
            <a:r>
              <a:rPr lang="en-US" dirty="0" err="1"/>
              <a:t>Bé</a:t>
            </a:r>
            <a:r>
              <a:rPr lang="en-US" dirty="0" err="1" smtClean="0"/>
              <a:t>zier</a:t>
            </a:r>
            <a:r>
              <a:rPr lang="en-US" dirty="0" smtClean="0"/>
              <a:t> method, construct the following union.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" y="5772150"/>
            <a:ext cx="914400" cy="914400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66800" y="5772150"/>
            <a:ext cx="914400" cy="914400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3" name="Right Triangle 12"/>
          <p:cNvSpPr/>
          <p:nvPr/>
        </p:nvSpPr>
        <p:spPr>
          <a:xfrm flipH="1">
            <a:off x="1981200" y="3028950"/>
            <a:ext cx="914400" cy="1828800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981200" y="4857750"/>
            <a:ext cx="914400" cy="914400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981200" y="5772150"/>
            <a:ext cx="914400" cy="914400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6" name="Freeform 15"/>
          <p:cNvSpPr/>
          <p:nvPr/>
        </p:nvSpPr>
        <p:spPr>
          <a:xfrm>
            <a:off x="3190875" y="3028950"/>
            <a:ext cx="2743200" cy="3657600"/>
          </a:xfrm>
          <a:custGeom>
            <a:avLst/>
            <a:gdLst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43200" h="3657600">
                <a:moveTo>
                  <a:pt x="2743200" y="0"/>
                </a:moveTo>
                <a:lnTo>
                  <a:pt x="2743200" y="1828800"/>
                </a:lnTo>
                <a:lnTo>
                  <a:pt x="2743200" y="2743200"/>
                </a:lnTo>
                <a:lnTo>
                  <a:pt x="2743200" y="3657600"/>
                </a:lnTo>
                <a:lnTo>
                  <a:pt x="1828800" y="3657600"/>
                </a:lnTo>
                <a:lnTo>
                  <a:pt x="914400" y="3657600"/>
                </a:lnTo>
                <a:lnTo>
                  <a:pt x="0" y="3657600"/>
                </a:lnTo>
                <a:lnTo>
                  <a:pt x="0" y="2743200"/>
                </a:lnTo>
                <a:lnTo>
                  <a:pt x="0" y="1828800"/>
                </a:lnTo>
                <a:lnTo>
                  <a:pt x="914400" y="2743200"/>
                </a:lnTo>
                <a:lnTo>
                  <a:pt x="1828800" y="1828800"/>
                </a:lnTo>
                <a:close/>
              </a:path>
            </a:pathLst>
          </a:cu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6229350" y="3028950"/>
            <a:ext cx="2743200" cy="3657600"/>
          </a:xfrm>
          <a:custGeom>
            <a:avLst/>
            <a:gdLst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3657600">
                <a:moveTo>
                  <a:pt x="2743200" y="0"/>
                </a:moveTo>
                <a:lnTo>
                  <a:pt x="2743200" y="1828800"/>
                </a:lnTo>
                <a:lnTo>
                  <a:pt x="2743200" y="2743200"/>
                </a:lnTo>
                <a:lnTo>
                  <a:pt x="2743200" y="3657600"/>
                </a:lnTo>
                <a:lnTo>
                  <a:pt x="1828800" y="3657600"/>
                </a:lnTo>
                <a:lnTo>
                  <a:pt x="914400" y="3657600"/>
                </a:lnTo>
                <a:lnTo>
                  <a:pt x="0" y="3657600"/>
                </a:lnTo>
                <a:lnTo>
                  <a:pt x="0" y="2743200"/>
                </a:lnTo>
                <a:lnTo>
                  <a:pt x="0" y="1828800"/>
                </a:lnTo>
                <a:cubicBezTo>
                  <a:pt x="152400" y="1828800"/>
                  <a:pt x="609600" y="2743200"/>
                  <a:pt x="914400" y="2743200"/>
                </a:cubicBezTo>
                <a:cubicBezTo>
                  <a:pt x="1219200" y="2743200"/>
                  <a:pt x="1524000" y="2438400"/>
                  <a:pt x="1828800" y="1828800"/>
                </a:cubicBezTo>
                <a:lnTo>
                  <a:pt x="2743200" y="0"/>
                </a:lnTo>
                <a:close/>
              </a:path>
            </a:pathLst>
          </a:cu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10182225" y="4857750"/>
            <a:ext cx="914400" cy="914400"/>
          </a:xfrm>
          <a:custGeom>
            <a:avLst/>
            <a:gdLst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609600"/>
                  <a:pt x="914400" y="0"/>
                </a:cubicBezTo>
                <a:close/>
              </a:path>
            </a:pathLst>
          </a:custGeom>
          <a:ln cap="rnd"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905125" y="37586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569027" y="4452937"/>
            <a:ext cx="1527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Remove extra</a:t>
            </a:r>
          </a:p>
          <a:p>
            <a:r>
              <a:rPr lang="en-US" dirty="0" smtClean="0"/>
              <a:t>vertices.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799909" y="5328205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y </a:t>
            </a:r>
            <a:r>
              <a:rPr lang="en-US" dirty="0" smtClean="0"/>
              <a:t>= </a:t>
            </a:r>
            <a:r>
              <a:rPr lang="en-US" i="1" dirty="0" smtClean="0"/>
              <a:t>x</a:t>
            </a:r>
            <a:r>
              <a:rPr lang="en-US" dirty="0" smtClean="0"/>
              <a:t>²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152400" y="4857750"/>
            <a:ext cx="914400" cy="914400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/>
          <p:cNvSpPr/>
          <p:nvPr/>
        </p:nvSpPr>
        <p:spPr>
          <a:xfrm flipH="1">
            <a:off x="1066800" y="4857750"/>
            <a:ext cx="914400" cy="914400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631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9"/>
          <p:cNvSpPr/>
          <p:nvPr/>
        </p:nvSpPr>
        <p:spPr>
          <a:xfrm>
            <a:off x="9525000" y="2101851"/>
            <a:ext cx="1828800" cy="3657600"/>
          </a:xfrm>
          <a:custGeom>
            <a:avLst/>
            <a:gdLst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609600"/>
                  <a:pt x="914400" y="0"/>
                </a:cubicBezTo>
                <a:close/>
              </a:path>
            </a:pathLst>
          </a:custGeom>
          <a:solidFill>
            <a:srgbClr val="A02B93">
              <a:alpha val="50196"/>
            </a:srgbClr>
          </a:solidFill>
          <a:ln cap="rnd"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of Parabola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86479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Arglin </a:t>
            </a:r>
            <a:r>
              <a:rPr lang="en-US" dirty="0" err="1"/>
              <a:t>Kampling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 increase the domain:</a:t>
            </a:r>
          </a:p>
          <a:p>
            <a:pPr marL="0" indent="0">
              <a:buNone/>
            </a:pPr>
            <a:r>
              <a:rPr lang="en-US" dirty="0" smtClean="0"/>
              <a:t>height = width²</a:t>
            </a:r>
          </a:p>
          <a:p>
            <a:pPr marL="0" indent="0">
              <a:buNone/>
            </a:pPr>
            <a:r>
              <a:rPr lang="en-US" dirty="0" smtClean="0"/>
              <a:t>width = √height</a:t>
            </a:r>
            <a:endParaRPr lang="en-US" dirty="0"/>
          </a:p>
        </p:txBody>
      </p:sp>
      <p:sp>
        <p:nvSpPr>
          <p:cNvPr id="18" name="Freeform 17"/>
          <p:cNvSpPr/>
          <p:nvPr/>
        </p:nvSpPr>
        <p:spPr>
          <a:xfrm>
            <a:off x="7559801" y="4845051"/>
            <a:ext cx="914400" cy="914400"/>
          </a:xfrm>
          <a:custGeom>
            <a:avLst/>
            <a:gdLst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609600"/>
                  <a:pt x="914400" y="0"/>
                </a:cubicBezTo>
                <a:close/>
              </a:path>
            </a:pathLst>
          </a:custGeom>
          <a:ln cap="rnd"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192095" y="5807631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y </a:t>
            </a:r>
            <a:r>
              <a:rPr lang="en-US" dirty="0" smtClean="0"/>
              <a:t>= </a:t>
            </a:r>
            <a:r>
              <a:rPr lang="en-US" i="1" dirty="0" smtClean="0"/>
              <a:t>x</a:t>
            </a:r>
            <a:r>
              <a:rPr lang="en-US" dirty="0" smtClean="0"/>
              <a:t>² {0 ≤ </a:t>
            </a:r>
            <a:r>
              <a:rPr lang="en-US" i="1" dirty="0" smtClean="0"/>
              <a:t>x </a:t>
            </a:r>
            <a:r>
              <a:rPr lang="en-US" dirty="0" smtClean="0"/>
              <a:t>≤ 1}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614494" y="5807631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y </a:t>
            </a:r>
            <a:r>
              <a:rPr lang="en-US" dirty="0" smtClean="0"/>
              <a:t>= </a:t>
            </a:r>
            <a:r>
              <a:rPr lang="en-US" i="1" dirty="0" smtClean="0"/>
              <a:t>x</a:t>
            </a:r>
            <a:r>
              <a:rPr lang="en-US" dirty="0" smtClean="0"/>
              <a:t>² {0 ≤ </a:t>
            </a:r>
            <a:r>
              <a:rPr lang="en-US" i="1" dirty="0" smtClean="0"/>
              <a:t>x </a:t>
            </a:r>
            <a:r>
              <a:rPr lang="en-US" dirty="0" smtClean="0"/>
              <a:t>≤ 2}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835709" y="2053671"/>
            <a:ext cx="120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Domain: 2</a:t>
            </a:r>
          </a:p>
          <a:p>
            <a:r>
              <a:rPr lang="en-US" dirty="0" smtClean="0"/>
              <a:t>Height: 4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7413310" y="4198720"/>
            <a:ext cx="120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Domain: 1</a:t>
            </a:r>
          </a:p>
          <a:p>
            <a:r>
              <a:rPr lang="en-US" dirty="0" smtClean="0"/>
              <a:t>Height: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856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of Parabola – Reasoning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cubic </a:t>
            </a:r>
            <a:r>
              <a:rPr lang="en-US" dirty="0" err="1"/>
              <a:t>Bé</a:t>
            </a:r>
            <a:r>
              <a:rPr lang="en-US" dirty="0" err="1" smtClean="0"/>
              <a:t>zier</a:t>
            </a:r>
            <a:r>
              <a:rPr lang="en-US" dirty="0" smtClean="0"/>
              <a:t> curve can be parametrically defined as two cubic functions, with 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  <a:r>
              <a:rPr lang="en-US" i="1" dirty="0" smtClean="0"/>
              <a:t>B</a:t>
            </a:r>
            <a:r>
              <a:rPr lang="en-US" dirty="0" smtClean="0"/>
              <a:t>, </a:t>
            </a:r>
            <a:r>
              <a:rPr lang="en-US" i="1" dirty="0" smtClean="0"/>
              <a:t>C</a:t>
            </a:r>
            <a:r>
              <a:rPr lang="en-US" dirty="0" smtClean="0"/>
              <a:t>, and </a:t>
            </a:r>
            <a:r>
              <a:rPr lang="en-US" i="1" dirty="0" smtClean="0"/>
              <a:t>D </a:t>
            </a:r>
            <a:r>
              <a:rPr lang="en-US" dirty="0" smtClean="0"/>
              <a:t>being the four control points.</a:t>
            </a:r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= </a:t>
            </a:r>
            <a:r>
              <a:rPr lang="en-US" i="1" dirty="0" smtClean="0"/>
              <a:t>A</a:t>
            </a:r>
            <a:r>
              <a:rPr lang="en-US" i="1" baseline="-25000" dirty="0" smtClean="0"/>
              <a:t>x</a:t>
            </a:r>
            <a:r>
              <a:rPr lang="en-US" dirty="0" smtClean="0"/>
              <a:t> (1 – </a:t>
            </a:r>
            <a:r>
              <a:rPr lang="en-US" i="1" dirty="0" smtClean="0"/>
              <a:t>t</a:t>
            </a:r>
            <a:r>
              <a:rPr lang="en-US" dirty="0" smtClean="0"/>
              <a:t>)³ </a:t>
            </a:r>
            <a:r>
              <a:rPr lang="en-US" dirty="0"/>
              <a:t>+ </a:t>
            </a:r>
            <a:r>
              <a:rPr lang="en-US" dirty="0" smtClean="0"/>
              <a:t>3 </a:t>
            </a:r>
            <a:r>
              <a:rPr lang="en-US" i="1" dirty="0" err="1" smtClean="0"/>
              <a:t>B</a:t>
            </a:r>
            <a:r>
              <a:rPr lang="en-US" i="1" baseline="-25000" dirty="0" err="1" smtClean="0"/>
              <a:t>x</a:t>
            </a:r>
            <a:r>
              <a:rPr lang="en-US" dirty="0" smtClean="0"/>
              <a:t> </a:t>
            </a:r>
            <a:r>
              <a:rPr lang="en-US" dirty="0"/>
              <a:t>(1 – </a:t>
            </a:r>
            <a:r>
              <a:rPr lang="en-US" i="1" dirty="0" smtClean="0"/>
              <a:t>t</a:t>
            </a:r>
            <a:r>
              <a:rPr lang="en-US" dirty="0" smtClean="0"/>
              <a:t>)²</a:t>
            </a:r>
            <a:r>
              <a:rPr lang="en-US" i="1" dirty="0" smtClean="0"/>
              <a:t>t</a:t>
            </a:r>
            <a:r>
              <a:rPr lang="en-US" dirty="0" smtClean="0"/>
              <a:t> + 3 </a:t>
            </a:r>
            <a:r>
              <a:rPr lang="en-US" i="1" dirty="0" err="1" smtClean="0"/>
              <a:t>C</a:t>
            </a:r>
            <a:r>
              <a:rPr lang="en-US" i="1" baseline="-25000" dirty="0" err="1" smtClean="0"/>
              <a:t>x</a:t>
            </a:r>
            <a:r>
              <a:rPr lang="en-US" dirty="0" smtClean="0"/>
              <a:t> (1 – 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i="1" dirty="0" smtClean="0"/>
              <a:t>t</a:t>
            </a:r>
            <a:r>
              <a:rPr lang="en-US" dirty="0" smtClean="0"/>
              <a:t>² + </a:t>
            </a:r>
            <a:r>
              <a:rPr lang="en-US" i="1" dirty="0" err="1" smtClean="0"/>
              <a:t>D</a:t>
            </a:r>
            <a:r>
              <a:rPr lang="en-US" i="1" baseline="-25000" dirty="0" err="1" smtClean="0"/>
              <a:t>x</a:t>
            </a:r>
            <a:r>
              <a:rPr lang="en-US" i="1" dirty="0" smtClean="0"/>
              <a:t> t</a:t>
            </a:r>
            <a:r>
              <a:rPr lang="en-US" dirty="0" smtClean="0"/>
              <a:t>³</a:t>
            </a:r>
            <a:br>
              <a:rPr lang="en-US" dirty="0" smtClean="0"/>
            </a:b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 = </a:t>
            </a:r>
            <a:r>
              <a:rPr lang="en-US" i="1" dirty="0" smtClean="0"/>
              <a:t>A</a:t>
            </a:r>
            <a:r>
              <a:rPr lang="en-US" i="1" baseline="-25000" dirty="0" smtClean="0"/>
              <a:t>y</a:t>
            </a:r>
            <a:r>
              <a:rPr lang="en-US" dirty="0" smtClean="0"/>
              <a:t> </a:t>
            </a:r>
            <a:r>
              <a:rPr lang="en-US" dirty="0"/>
              <a:t>(1 – </a:t>
            </a:r>
            <a:r>
              <a:rPr lang="en-US" i="1" dirty="0"/>
              <a:t>t</a:t>
            </a:r>
            <a:r>
              <a:rPr lang="en-US" dirty="0"/>
              <a:t>)³ + 3 </a:t>
            </a:r>
            <a:r>
              <a:rPr lang="en-US" i="1" dirty="0" smtClean="0"/>
              <a:t>B</a:t>
            </a:r>
            <a:r>
              <a:rPr lang="en-US" i="1" baseline="-25000" dirty="0" smtClean="0"/>
              <a:t>y</a:t>
            </a:r>
            <a:r>
              <a:rPr lang="en-US" dirty="0" smtClean="0"/>
              <a:t> </a:t>
            </a:r>
            <a:r>
              <a:rPr lang="en-US" dirty="0"/>
              <a:t>(1 – </a:t>
            </a:r>
            <a:r>
              <a:rPr lang="en-US" i="1" dirty="0"/>
              <a:t>t</a:t>
            </a:r>
            <a:r>
              <a:rPr lang="en-US" dirty="0"/>
              <a:t>)²</a:t>
            </a:r>
            <a:r>
              <a:rPr lang="en-US" i="1" dirty="0"/>
              <a:t>t</a:t>
            </a:r>
            <a:r>
              <a:rPr lang="en-US" dirty="0"/>
              <a:t> + 3 </a:t>
            </a:r>
            <a:r>
              <a:rPr lang="en-US" i="1" dirty="0" smtClean="0"/>
              <a:t>C</a:t>
            </a:r>
            <a:r>
              <a:rPr lang="en-US" i="1" baseline="-25000" dirty="0" smtClean="0"/>
              <a:t>y</a:t>
            </a:r>
            <a:r>
              <a:rPr lang="en-US" dirty="0" smtClean="0"/>
              <a:t> </a:t>
            </a:r>
            <a:r>
              <a:rPr lang="en-US" dirty="0"/>
              <a:t>(1 – </a:t>
            </a:r>
            <a:r>
              <a:rPr lang="en-US" i="1" dirty="0"/>
              <a:t>t</a:t>
            </a:r>
            <a:r>
              <a:rPr lang="en-US" dirty="0"/>
              <a:t>)</a:t>
            </a:r>
            <a:r>
              <a:rPr lang="en-US" i="1" dirty="0"/>
              <a:t>t</a:t>
            </a:r>
            <a:r>
              <a:rPr lang="en-US" dirty="0"/>
              <a:t>² + </a:t>
            </a:r>
            <a:r>
              <a:rPr lang="en-US" i="1" dirty="0" err="1" smtClean="0"/>
              <a:t>D</a:t>
            </a:r>
            <a:r>
              <a:rPr lang="en-US" i="1" baseline="-25000" dirty="0" err="1" smtClean="0"/>
              <a:t>y</a:t>
            </a:r>
            <a:r>
              <a:rPr lang="en-US" i="1" dirty="0" smtClean="0"/>
              <a:t> </a:t>
            </a:r>
            <a:r>
              <a:rPr lang="en-US" i="1" dirty="0"/>
              <a:t>t</a:t>
            </a:r>
            <a:r>
              <a:rPr lang="en-US" dirty="0"/>
              <a:t>³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target parametric for </a:t>
            </a:r>
            <a:r>
              <a:rPr lang="en-US" i="1" dirty="0" smtClean="0"/>
              <a:t>y</a:t>
            </a:r>
            <a:r>
              <a:rPr lang="en-US" dirty="0" smtClean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², in standard cubic form, can be expressed most simply as the following.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 </a:t>
            </a:r>
            <a:r>
              <a:rPr lang="en-US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³ +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 </a:t>
            </a:r>
            <a:r>
              <a:rPr lang="en-US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²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+ </a:t>
            </a:r>
            <a:r>
              <a:rPr lang="en-US" dirty="0" smtClean="0"/>
              <a:t>1 </a:t>
            </a:r>
            <a:r>
              <a:rPr lang="en-US" i="1" dirty="0" smtClean="0"/>
              <a:t>t</a:t>
            </a:r>
            <a:r>
              <a:rPr lang="en-US" dirty="0" smtClean="0"/>
              <a:t> 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+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 </a:t>
            </a:r>
            <a:r>
              <a:rPr lang="en-US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³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+ </a:t>
            </a:r>
            <a:r>
              <a:rPr lang="en-US" dirty="0" smtClean="0"/>
              <a:t>1 </a:t>
            </a:r>
            <a:r>
              <a:rPr lang="en-US" i="1" dirty="0"/>
              <a:t>t</a:t>
            </a:r>
            <a:r>
              <a:rPr lang="en-US" dirty="0"/>
              <a:t>² 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+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 </a:t>
            </a:r>
            <a:r>
              <a:rPr lang="en-US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+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</a:t>
            </a:r>
            <a:endParaRPr lang="en-US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913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of Parabola – Reasoning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Rewriting the cubic </a:t>
            </a:r>
            <a:r>
              <a:rPr lang="en-US" dirty="0" err="1"/>
              <a:t>Bézier</a:t>
            </a:r>
            <a:r>
              <a:rPr lang="en-US" dirty="0"/>
              <a:t> </a:t>
            </a:r>
            <a:r>
              <a:rPr lang="en-US" dirty="0" smtClean="0"/>
              <a:t>function in standard cubic form:</a:t>
            </a:r>
            <a:endParaRPr lang="en-US" dirty="0"/>
          </a:p>
          <a:p>
            <a:pPr marL="0" indent="0">
              <a:buNone/>
            </a:pPr>
            <a:r>
              <a:rPr lang="en-US" sz="2400" i="1" dirty="0" smtClean="0"/>
              <a:t>x</a:t>
            </a:r>
            <a:r>
              <a:rPr lang="en-US" sz="2400" dirty="0" smtClean="0"/>
              <a:t>(</a:t>
            </a:r>
            <a:r>
              <a:rPr lang="en-US" sz="2400" i="1" dirty="0" smtClean="0"/>
              <a:t>t</a:t>
            </a:r>
            <a:r>
              <a:rPr lang="en-US" sz="2400" dirty="0"/>
              <a:t>) </a:t>
            </a:r>
            <a:r>
              <a:rPr lang="en-US" sz="2400" dirty="0" smtClean="0"/>
              <a:t>= </a:t>
            </a:r>
            <a:r>
              <a:rPr lang="fr-FR" sz="2400" dirty="0" smtClean="0"/>
              <a:t>(– </a:t>
            </a:r>
            <a:r>
              <a:rPr lang="fr-FR" sz="2400" i="1" dirty="0" err="1" smtClean="0"/>
              <a:t>A</a:t>
            </a:r>
            <a:r>
              <a:rPr lang="fr-FR" sz="2400" i="1" baseline="-25000" dirty="0" err="1" smtClean="0"/>
              <a:t>x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err="1" smtClean="0"/>
              <a:t>B</a:t>
            </a:r>
            <a:r>
              <a:rPr lang="fr-FR" sz="2400" i="1" baseline="-25000" dirty="0" err="1" smtClean="0"/>
              <a:t>x</a:t>
            </a:r>
            <a:r>
              <a:rPr lang="fr-FR" sz="2400" dirty="0" smtClean="0"/>
              <a:t> – </a:t>
            </a:r>
            <a:r>
              <a:rPr lang="fr-FR" sz="2400" dirty="0"/>
              <a:t>3 </a:t>
            </a:r>
            <a:r>
              <a:rPr lang="fr-FR" sz="2400" i="1" dirty="0" smtClean="0"/>
              <a:t>C</a:t>
            </a:r>
            <a:r>
              <a:rPr lang="fr-FR" sz="2400" i="1" baseline="-25000" dirty="0"/>
              <a:t>x</a:t>
            </a:r>
            <a:r>
              <a:rPr lang="fr-FR" sz="2400" dirty="0"/>
              <a:t> </a:t>
            </a:r>
            <a:r>
              <a:rPr lang="fr-FR" sz="2400" dirty="0" smtClean="0"/>
              <a:t>+ </a:t>
            </a:r>
            <a:r>
              <a:rPr lang="fr-FR" sz="2400" i="1" dirty="0" err="1" smtClean="0"/>
              <a:t>D</a:t>
            </a:r>
            <a:r>
              <a:rPr lang="fr-FR" sz="2400" i="1" baseline="-25000" dirty="0" err="1" smtClean="0"/>
              <a:t>x</a:t>
            </a:r>
            <a:r>
              <a:rPr lang="fr-FR" sz="2400" dirty="0" smtClean="0"/>
              <a:t>) </a:t>
            </a:r>
            <a:r>
              <a:rPr lang="fr-FR" sz="2400" i="1" dirty="0" smtClean="0"/>
              <a:t>t</a:t>
            </a:r>
            <a:r>
              <a:rPr lang="fr-FR" sz="2400" dirty="0" smtClean="0"/>
              <a:t>³ </a:t>
            </a:r>
            <a:r>
              <a:rPr lang="fr-FR" sz="2400" dirty="0"/>
              <a:t>+ (3 </a:t>
            </a:r>
            <a:r>
              <a:rPr lang="fr-FR" sz="2400" i="1" dirty="0" err="1" smtClean="0"/>
              <a:t>A</a:t>
            </a:r>
            <a:r>
              <a:rPr lang="fr-FR" sz="2400" i="1" baseline="-25000" dirty="0" err="1"/>
              <a:t>x</a:t>
            </a:r>
            <a:r>
              <a:rPr lang="fr-FR" sz="2400" dirty="0"/>
              <a:t> </a:t>
            </a:r>
            <a:r>
              <a:rPr lang="fr-FR" sz="2400" dirty="0" smtClean="0"/>
              <a:t>– 6 </a:t>
            </a:r>
            <a:r>
              <a:rPr lang="fr-FR" sz="2400" i="1" dirty="0" err="1" smtClean="0"/>
              <a:t>B</a:t>
            </a:r>
            <a:r>
              <a:rPr lang="fr-FR" sz="2400" i="1" baseline="-25000" dirty="0" err="1" smtClean="0"/>
              <a:t>x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smtClean="0"/>
              <a:t>C</a:t>
            </a:r>
            <a:r>
              <a:rPr lang="fr-FR" sz="2400" i="1" baseline="-25000" dirty="0"/>
              <a:t>x</a:t>
            </a:r>
            <a:r>
              <a:rPr lang="fr-FR" sz="2400" dirty="0" smtClean="0"/>
              <a:t>) </a:t>
            </a:r>
            <a:r>
              <a:rPr lang="fr-FR" sz="2400" i="1" dirty="0" smtClean="0"/>
              <a:t>t</a:t>
            </a:r>
            <a:r>
              <a:rPr lang="fr-FR" sz="2400" dirty="0" smtClean="0"/>
              <a:t>² </a:t>
            </a:r>
            <a:r>
              <a:rPr lang="fr-FR" sz="2400" dirty="0"/>
              <a:t>+  </a:t>
            </a:r>
            <a:r>
              <a:rPr lang="fr-FR" sz="2400" dirty="0" smtClean="0"/>
              <a:t>(– 3 </a:t>
            </a:r>
            <a:r>
              <a:rPr lang="fr-FR" sz="2400" i="1" dirty="0" err="1" smtClean="0"/>
              <a:t>A</a:t>
            </a:r>
            <a:r>
              <a:rPr lang="fr-FR" sz="2400" i="1" baseline="-25000" dirty="0" err="1"/>
              <a:t>x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err="1" smtClean="0"/>
              <a:t>B</a:t>
            </a:r>
            <a:r>
              <a:rPr lang="fr-FR" sz="2400" i="1" baseline="-25000" dirty="0" err="1"/>
              <a:t>x</a:t>
            </a:r>
            <a:r>
              <a:rPr lang="fr-FR" sz="2400" dirty="0" smtClean="0"/>
              <a:t>) </a:t>
            </a:r>
            <a:r>
              <a:rPr lang="fr-FR" sz="2400" i="1" dirty="0" smtClean="0"/>
              <a:t>t</a:t>
            </a:r>
            <a:r>
              <a:rPr lang="fr-FR" sz="2400" dirty="0" smtClean="0"/>
              <a:t> </a:t>
            </a:r>
            <a:r>
              <a:rPr lang="fr-FR" sz="2400" dirty="0"/>
              <a:t>+ </a:t>
            </a:r>
            <a:r>
              <a:rPr lang="fr-FR" sz="2400" i="1" dirty="0" err="1" smtClean="0"/>
              <a:t>A</a:t>
            </a:r>
            <a:r>
              <a:rPr lang="fr-FR" sz="2400" i="1" baseline="-25000" dirty="0" err="1" smtClean="0"/>
              <a:t>x</a:t>
            </a:r>
            <a:r>
              <a:rPr lang="fr-FR" sz="2400" i="1" baseline="-25000" dirty="0"/>
              <a:t/>
            </a:r>
            <a:br>
              <a:rPr lang="fr-FR" sz="2400" i="1" baseline="-25000" dirty="0"/>
            </a:br>
            <a:r>
              <a:rPr lang="en-US" sz="2400" i="1" dirty="0" smtClean="0"/>
              <a:t>y</a:t>
            </a:r>
            <a:r>
              <a:rPr lang="en-US" sz="2400" dirty="0" smtClean="0"/>
              <a:t>(</a:t>
            </a:r>
            <a:r>
              <a:rPr lang="en-US" sz="2400" i="1" dirty="0" smtClean="0"/>
              <a:t>t</a:t>
            </a:r>
            <a:r>
              <a:rPr lang="en-US" sz="2400" dirty="0"/>
              <a:t>) = </a:t>
            </a:r>
            <a:r>
              <a:rPr lang="fr-FR" sz="2400" dirty="0"/>
              <a:t>(– </a:t>
            </a:r>
            <a:r>
              <a:rPr lang="fr-FR" sz="2400" i="1" dirty="0" smtClean="0"/>
              <a:t>A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smtClean="0"/>
              <a:t>B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– 3 </a:t>
            </a:r>
            <a:r>
              <a:rPr lang="fr-FR" sz="2400" i="1" dirty="0" err="1" smtClean="0"/>
              <a:t>C</a:t>
            </a:r>
            <a:r>
              <a:rPr lang="fr-FR" sz="2400" i="1" baseline="-25000" dirty="0" err="1" smtClean="0"/>
              <a:t>y</a:t>
            </a:r>
            <a:r>
              <a:rPr lang="fr-FR" sz="2400" i="1" dirty="0" smtClean="0"/>
              <a:t> </a:t>
            </a:r>
            <a:r>
              <a:rPr lang="fr-FR" sz="2400" dirty="0"/>
              <a:t>+ </a:t>
            </a:r>
            <a:r>
              <a:rPr lang="fr-FR" sz="2400" i="1" dirty="0" smtClean="0"/>
              <a:t>D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) </a:t>
            </a:r>
            <a:r>
              <a:rPr lang="fr-FR" sz="2400" i="1" dirty="0"/>
              <a:t>t</a:t>
            </a:r>
            <a:r>
              <a:rPr lang="fr-FR" sz="2400" dirty="0"/>
              <a:t>³ + (3 </a:t>
            </a:r>
            <a:r>
              <a:rPr lang="fr-FR" sz="2400" i="1" dirty="0" smtClean="0"/>
              <a:t>A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– 6 </a:t>
            </a:r>
            <a:r>
              <a:rPr lang="fr-FR" sz="2400" i="1" dirty="0" smtClean="0"/>
              <a:t>B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err="1" smtClean="0"/>
              <a:t>C</a:t>
            </a:r>
            <a:r>
              <a:rPr lang="fr-FR" sz="2400" i="1" baseline="-25000" dirty="0" err="1" smtClean="0"/>
              <a:t>y</a:t>
            </a:r>
            <a:r>
              <a:rPr lang="fr-FR" sz="2400" dirty="0" smtClean="0"/>
              <a:t>) </a:t>
            </a:r>
            <a:r>
              <a:rPr lang="fr-FR" sz="2400" i="1" dirty="0"/>
              <a:t>t</a:t>
            </a:r>
            <a:r>
              <a:rPr lang="fr-FR" sz="2400" dirty="0"/>
              <a:t>² +  (– 3 </a:t>
            </a:r>
            <a:r>
              <a:rPr lang="fr-FR" sz="2400" i="1" dirty="0" smtClean="0"/>
              <a:t>A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smtClean="0"/>
              <a:t>B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) </a:t>
            </a:r>
            <a:r>
              <a:rPr lang="fr-FR" sz="2400" i="1" dirty="0"/>
              <a:t>t</a:t>
            </a:r>
            <a:r>
              <a:rPr lang="fr-FR" sz="2400" dirty="0"/>
              <a:t> + </a:t>
            </a:r>
            <a:r>
              <a:rPr lang="fr-FR" sz="2400" i="1" dirty="0" smtClean="0"/>
              <a:t>A</a:t>
            </a:r>
            <a:r>
              <a:rPr lang="en-US" sz="2400" i="1" baseline="-25000" dirty="0" smtClean="0"/>
              <a:t>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Thus, two systems of equations are constructed.</a:t>
            </a:r>
          </a:p>
          <a:p>
            <a:pPr marL="0" indent="0">
              <a:buNone/>
            </a:pPr>
            <a:r>
              <a:rPr lang="fr-FR" dirty="0" smtClean="0"/>
              <a:t>– </a:t>
            </a:r>
            <a:r>
              <a:rPr lang="fr-FR" i="1" dirty="0" err="1"/>
              <a:t>A</a:t>
            </a:r>
            <a:r>
              <a:rPr lang="fr-FR" i="1" baseline="-25000" dirty="0" err="1"/>
              <a:t>x</a:t>
            </a:r>
            <a:r>
              <a:rPr lang="fr-FR" dirty="0"/>
              <a:t> + 3 </a:t>
            </a:r>
            <a:r>
              <a:rPr lang="fr-FR" i="1" dirty="0" err="1"/>
              <a:t>B</a:t>
            </a:r>
            <a:r>
              <a:rPr lang="fr-FR" i="1" baseline="-25000" dirty="0" err="1"/>
              <a:t>x</a:t>
            </a:r>
            <a:r>
              <a:rPr lang="fr-FR" dirty="0"/>
              <a:t> – 3 </a:t>
            </a:r>
            <a:r>
              <a:rPr lang="fr-FR" i="1" dirty="0"/>
              <a:t>C</a:t>
            </a:r>
            <a:r>
              <a:rPr lang="fr-FR" i="1" baseline="-25000" dirty="0"/>
              <a:t>x</a:t>
            </a:r>
            <a:r>
              <a:rPr lang="fr-FR" dirty="0"/>
              <a:t> + </a:t>
            </a:r>
            <a:r>
              <a:rPr lang="fr-FR" i="1" dirty="0" err="1" smtClean="0"/>
              <a:t>D</a:t>
            </a:r>
            <a:r>
              <a:rPr lang="fr-FR" i="1" baseline="-25000" dirty="0" err="1" smtClean="0"/>
              <a:t>x</a:t>
            </a:r>
            <a:r>
              <a:rPr lang="fr-FR" dirty="0" smtClean="0"/>
              <a:t> = 0		</a:t>
            </a:r>
            <a:r>
              <a:rPr lang="fr-FR" dirty="0"/>
              <a:t>– </a:t>
            </a:r>
            <a:r>
              <a:rPr lang="fr-FR" i="1" dirty="0" smtClean="0"/>
              <a:t>A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+ 3 </a:t>
            </a:r>
            <a:r>
              <a:rPr lang="fr-FR" i="1" dirty="0" smtClean="0"/>
              <a:t>B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– 3 </a:t>
            </a:r>
            <a:r>
              <a:rPr lang="fr-FR" i="1" dirty="0" err="1" smtClean="0"/>
              <a:t>C</a:t>
            </a:r>
            <a:r>
              <a:rPr lang="fr-FR" i="1" baseline="-25000" dirty="0" err="1" smtClean="0"/>
              <a:t>y</a:t>
            </a:r>
            <a:r>
              <a:rPr lang="fr-FR" dirty="0" smtClean="0"/>
              <a:t> </a:t>
            </a:r>
            <a:r>
              <a:rPr lang="fr-FR" dirty="0"/>
              <a:t>+ </a:t>
            </a:r>
            <a:r>
              <a:rPr lang="fr-FR" i="1" dirty="0" smtClean="0"/>
              <a:t>D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= </a:t>
            </a:r>
            <a:r>
              <a:rPr lang="fr-FR" dirty="0" smtClean="0"/>
              <a:t>1</a:t>
            </a:r>
            <a:r>
              <a:rPr lang="fr-FR" dirty="0"/>
              <a:t>	</a:t>
            </a:r>
            <a:r>
              <a:rPr lang="en-US" dirty="0"/>
              <a:t/>
            </a:r>
            <a:br>
              <a:rPr lang="en-US" dirty="0"/>
            </a:br>
            <a:r>
              <a:rPr lang="fr-FR" dirty="0"/>
              <a:t>3 </a:t>
            </a:r>
            <a:r>
              <a:rPr lang="fr-FR" i="1" dirty="0" err="1"/>
              <a:t>A</a:t>
            </a:r>
            <a:r>
              <a:rPr lang="fr-FR" i="1" baseline="-25000" dirty="0" err="1"/>
              <a:t>x</a:t>
            </a:r>
            <a:r>
              <a:rPr lang="fr-FR" dirty="0"/>
              <a:t> – 6 </a:t>
            </a:r>
            <a:r>
              <a:rPr lang="fr-FR" i="1" dirty="0" err="1"/>
              <a:t>B</a:t>
            </a:r>
            <a:r>
              <a:rPr lang="fr-FR" i="1" baseline="-25000" dirty="0" err="1"/>
              <a:t>x</a:t>
            </a:r>
            <a:r>
              <a:rPr lang="fr-FR" dirty="0"/>
              <a:t> + 3 </a:t>
            </a:r>
            <a:r>
              <a:rPr lang="fr-FR" i="1" dirty="0"/>
              <a:t>C</a:t>
            </a:r>
            <a:r>
              <a:rPr lang="fr-FR" i="1" baseline="-25000" dirty="0"/>
              <a:t>x</a:t>
            </a:r>
            <a:r>
              <a:rPr lang="fr-FR" dirty="0" smtClean="0"/>
              <a:t> </a:t>
            </a:r>
            <a:r>
              <a:rPr lang="fr-FR" dirty="0"/>
              <a:t>= 0	</a:t>
            </a:r>
            <a:r>
              <a:rPr lang="fr-FR" dirty="0" smtClean="0"/>
              <a:t>	</a:t>
            </a:r>
            <a:r>
              <a:rPr lang="fr-FR" dirty="0"/>
              <a:t> 3 </a:t>
            </a:r>
            <a:r>
              <a:rPr lang="fr-FR" i="1" dirty="0" smtClean="0"/>
              <a:t>A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– 6 </a:t>
            </a:r>
            <a:r>
              <a:rPr lang="fr-FR" i="1" dirty="0" smtClean="0"/>
              <a:t>B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+ 3 </a:t>
            </a:r>
            <a:r>
              <a:rPr lang="fr-FR" i="1" dirty="0" err="1" smtClean="0"/>
              <a:t>C</a:t>
            </a:r>
            <a:r>
              <a:rPr lang="fr-FR" i="1" baseline="-25000" dirty="0" err="1" smtClean="0"/>
              <a:t>y</a:t>
            </a:r>
            <a:r>
              <a:rPr lang="fr-FR" dirty="0" smtClean="0"/>
              <a:t> </a:t>
            </a:r>
            <a:r>
              <a:rPr lang="fr-FR" dirty="0"/>
              <a:t>= </a:t>
            </a:r>
            <a:r>
              <a:rPr lang="fr-FR" dirty="0" smtClean="0"/>
              <a:t>0</a:t>
            </a:r>
            <a:br>
              <a:rPr lang="fr-FR" dirty="0" smtClean="0"/>
            </a:br>
            <a:r>
              <a:rPr lang="fr-FR" dirty="0"/>
              <a:t>– 3 </a:t>
            </a:r>
            <a:r>
              <a:rPr lang="fr-FR" i="1" dirty="0" err="1"/>
              <a:t>A</a:t>
            </a:r>
            <a:r>
              <a:rPr lang="fr-FR" i="1" baseline="-25000" dirty="0" err="1"/>
              <a:t>x</a:t>
            </a:r>
            <a:r>
              <a:rPr lang="fr-FR" dirty="0"/>
              <a:t> + 3 </a:t>
            </a:r>
            <a:r>
              <a:rPr lang="fr-FR" i="1" dirty="0" err="1"/>
              <a:t>B</a:t>
            </a:r>
            <a:r>
              <a:rPr lang="fr-FR" i="1" baseline="-25000" dirty="0" err="1"/>
              <a:t>x</a:t>
            </a:r>
            <a:r>
              <a:rPr lang="fr-FR" dirty="0" smtClean="0"/>
              <a:t> </a:t>
            </a:r>
            <a:r>
              <a:rPr lang="fr-FR" dirty="0"/>
              <a:t>= </a:t>
            </a:r>
            <a:r>
              <a:rPr lang="fr-FR" dirty="0" smtClean="0"/>
              <a:t>1</a:t>
            </a:r>
            <a:r>
              <a:rPr lang="fr-FR" dirty="0"/>
              <a:t>	</a:t>
            </a:r>
            <a:r>
              <a:rPr lang="fr-FR" dirty="0" smtClean="0"/>
              <a:t>		</a:t>
            </a:r>
            <a:r>
              <a:rPr lang="fr-FR" dirty="0"/>
              <a:t>– 3 </a:t>
            </a:r>
            <a:r>
              <a:rPr lang="fr-FR" i="1" dirty="0" smtClean="0"/>
              <a:t>A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+ 3 </a:t>
            </a:r>
            <a:r>
              <a:rPr lang="fr-FR" i="1" dirty="0" smtClean="0"/>
              <a:t>B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= </a:t>
            </a:r>
            <a:r>
              <a:rPr lang="fr-FR" dirty="0" smtClean="0"/>
              <a:t>0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i="1" dirty="0" err="1"/>
              <a:t>A</a:t>
            </a:r>
            <a:r>
              <a:rPr lang="fr-FR" i="1" baseline="-25000" dirty="0" err="1"/>
              <a:t>x</a:t>
            </a:r>
            <a:r>
              <a:rPr lang="fr-FR" dirty="0"/>
              <a:t> </a:t>
            </a:r>
            <a:r>
              <a:rPr lang="fr-FR" dirty="0" smtClean="0"/>
              <a:t>= 0</a:t>
            </a:r>
            <a:r>
              <a:rPr lang="fr-FR" dirty="0"/>
              <a:t>	</a:t>
            </a:r>
            <a:r>
              <a:rPr lang="fr-FR" dirty="0" smtClean="0"/>
              <a:t>			</a:t>
            </a:r>
            <a:r>
              <a:rPr lang="fr-FR" i="1" dirty="0"/>
              <a:t> </a:t>
            </a:r>
            <a:r>
              <a:rPr lang="fr-FR" i="1" dirty="0" smtClean="0"/>
              <a:t>A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= 0</a:t>
            </a:r>
          </a:p>
        </p:txBody>
      </p:sp>
    </p:spTree>
    <p:extLst>
      <p:ext uri="{BB962C8B-B14F-4D97-AF65-F5344CB8AC3E}">
        <p14:creationId xmlns:p14="http://schemas.microsoft.com/office/powerpoint/2010/main" val="13017801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of Parabola – Reasoning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system of equation then determines the following control points.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i="1" dirty="0" smtClean="0"/>
              <a:t>A</a:t>
            </a:r>
            <a:r>
              <a:rPr lang="en-US" dirty="0" smtClean="0"/>
              <a:t> = (0,0);   </a:t>
            </a:r>
            <a:r>
              <a:rPr lang="fr-FR" i="1" dirty="0" smtClean="0"/>
              <a:t>  B</a:t>
            </a:r>
            <a:r>
              <a:rPr lang="fr-FR" dirty="0" smtClean="0"/>
              <a:t> = (1/3, 0)</a:t>
            </a:r>
            <a:r>
              <a:rPr lang="en-US" dirty="0" smtClean="0"/>
              <a:t>;    </a:t>
            </a:r>
            <a:r>
              <a:rPr lang="fr-FR" i="1" dirty="0" smtClean="0"/>
              <a:t>C</a:t>
            </a:r>
            <a:r>
              <a:rPr lang="fr-FR" dirty="0" smtClean="0"/>
              <a:t> = (2/3, 1/3)</a:t>
            </a:r>
            <a:r>
              <a:rPr lang="en-US" dirty="0" smtClean="0"/>
              <a:t>; </a:t>
            </a:r>
            <a:r>
              <a:rPr lang="fr-FR" dirty="0" smtClean="0"/>
              <a:t>    </a:t>
            </a:r>
            <a:r>
              <a:rPr lang="fr-FR" i="1" dirty="0" smtClean="0"/>
              <a:t>D</a:t>
            </a:r>
            <a:r>
              <a:rPr lang="fr-FR" dirty="0" smtClean="0"/>
              <a:t> = (1, 1)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The </a:t>
            </a:r>
            <a:r>
              <a:rPr lang="en-US" dirty="0" err="1" smtClean="0"/>
              <a:t>Bézier</a:t>
            </a:r>
            <a:r>
              <a:rPr lang="en-US" dirty="0" smtClean="0"/>
              <a:t> method can then be applied using these control points.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0735971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The </a:t>
            </a:r>
            <a:r>
              <a:rPr lang="fr-FR" dirty="0" err="1" smtClean="0"/>
              <a:t>shape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mirrored</a:t>
            </a:r>
            <a:r>
              <a:rPr lang="fr-FR" dirty="0" smtClean="0"/>
              <a:t> and </a:t>
            </a:r>
            <a:r>
              <a:rPr lang="fr-FR" dirty="0" err="1" smtClean="0"/>
              <a:t>rotated</a:t>
            </a:r>
            <a:r>
              <a:rPr lang="fr-FR" dirty="0"/>
              <a:t> </a:t>
            </a:r>
            <a:r>
              <a:rPr lang="fr-FR" dirty="0" smtClean="0"/>
              <a:t>to </a:t>
            </a:r>
            <a:r>
              <a:rPr lang="fr-FR" dirty="0" err="1" smtClean="0"/>
              <a:t>form</a:t>
            </a:r>
            <a:r>
              <a:rPr lang="fr-FR" dirty="0" smtClean="0"/>
              <a:t> the square </a:t>
            </a:r>
            <a:r>
              <a:rPr lang="fr-FR" dirty="0" err="1" smtClean="0"/>
              <a:t>root</a:t>
            </a:r>
            <a:r>
              <a:rPr lang="fr-FR" dirty="0" smtClean="0"/>
              <a:t> profile.</a:t>
            </a:r>
          </a:p>
          <a:p>
            <a:pPr marL="0" indent="0">
              <a:buNone/>
            </a:pPr>
            <a:r>
              <a:rPr lang="fr-FR" dirty="0" smtClean="0"/>
              <a:t>If a user </a:t>
            </a:r>
            <a:r>
              <a:rPr lang="fr-FR" dirty="0" err="1" smtClean="0"/>
              <a:t>already</a:t>
            </a:r>
            <a:r>
              <a:rPr lang="fr-FR" dirty="0" smtClean="0"/>
              <a:t> has the </a:t>
            </a:r>
            <a:r>
              <a:rPr lang="fr-FR" dirty="0" err="1" smtClean="0"/>
              <a:t>template</a:t>
            </a:r>
            <a:r>
              <a:rPr lang="fr-FR" dirty="0" smtClean="0"/>
              <a:t> </a:t>
            </a:r>
            <a:r>
              <a:rPr lang="fr-FR" dirty="0" err="1" smtClean="0"/>
              <a:t>available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used</a:t>
            </a:r>
            <a:r>
              <a:rPr lang="fr-FR" dirty="0" smtClean="0"/>
              <a:t> to </a:t>
            </a:r>
            <a:r>
              <a:rPr lang="fr-FR" dirty="0" err="1" smtClean="0"/>
              <a:t>trivialize</a:t>
            </a:r>
            <a:r>
              <a:rPr lang="fr-FR" dirty="0" smtClean="0"/>
              <a:t> </a:t>
            </a:r>
            <a:r>
              <a:rPr lang="fr-FR" dirty="0" err="1" smtClean="0"/>
              <a:t>constructing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desired</a:t>
            </a:r>
            <a:r>
              <a:rPr lang="fr-FR" dirty="0" smtClean="0"/>
              <a:t> square </a:t>
            </a:r>
            <a:r>
              <a:rPr lang="fr-FR" dirty="0" err="1" smtClean="0"/>
              <a:t>root</a:t>
            </a:r>
            <a:r>
              <a:rPr lang="fr-FR" dirty="0" smtClean="0"/>
              <a:t> </a:t>
            </a:r>
            <a:r>
              <a:rPr lang="fr-FR" dirty="0" err="1"/>
              <a:t>without</a:t>
            </a:r>
            <a:r>
              <a:rPr lang="fr-FR" dirty="0"/>
              <a:t> the </a:t>
            </a:r>
            <a:r>
              <a:rPr lang="fr-FR" dirty="0" err="1"/>
              <a:t>old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4333699" y="4256752"/>
            <a:ext cx="1384335" cy="1384335"/>
          </a:xfrm>
          <a:prstGeom prst="rect">
            <a:avLst/>
          </a:prstGeom>
          <a:ln cap="rnd"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/>
              <a:t>x</a:t>
            </a:r>
            <a:endParaRPr lang="en-US" i="1" dirty="0"/>
          </a:p>
        </p:txBody>
      </p:sp>
      <p:sp>
        <p:nvSpPr>
          <p:cNvPr id="13" name="Rectangle 12"/>
          <p:cNvSpPr/>
          <p:nvPr/>
        </p:nvSpPr>
        <p:spPr>
          <a:xfrm>
            <a:off x="5718034" y="4516789"/>
            <a:ext cx="1124298" cy="1124298"/>
          </a:xfrm>
          <a:prstGeom prst="rect">
            <a:avLst/>
          </a:prstGeom>
          <a:ln cap="rnd"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√</a:t>
            </a:r>
            <a:r>
              <a:rPr lang="en-US" i="1" dirty="0" smtClean="0"/>
              <a:t>x</a:t>
            </a:r>
            <a:endParaRPr lang="en-US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of Parabola </a:t>
            </a:r>
            <a:r>
              <a:rPr lang="en-US" dirty="0"/>
              <a:t>– Implication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4333699" y="5691786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Freeform 4"/>
          <p:cNvSpPr/>
          <p:nvPr/>
        </p:nvSpPr>
        <p:spPr>
          <a:xfrm rot="5400000" flipH="1">
            <a:off x="5248099" y="2897887"/>
            <a:ext cx="1828800" cy="3657600"/>
          </a:xfrm>
          <a:custGeom>
            <a:avLst/>
            <a:gdLst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609600"/>
                  <a:pt x="914400" y="0"/>
                </a:cubicBez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6280183" y="3744825"/>
            <a:ext cx="766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dirty="0" smtClean="0"/>
              <a:t>√</a:t>
            </a:r>
            <a:r>
              <a:rPr lang="en-US" i="1" dirty="0" smtClean="0"/>
              <a:t>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7290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of </a:t>
            </a:r>
            <a:r>
              <a:rPr lang="en-US" i="1" dirty="0" smtClean="0"/>
              <a:t>y</a:t>
            </a:r>
            <a:r>
              <a:rPr lang="en-US" dirty="0" smtClean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³ Curve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Arglin </a:t>
            </a:r>
            <a:r>
              <a:rPr lang="en-US" dirty="0" err="1"/>
              <a:t>Kampling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Using the </a:t>
            </a:r>
            <a:r>
              <a:rPr lang="en-US" dirty="0" err="1"/>
              <a:t>Bé</a:t>
            </a:r>
            <a:r>
              <a:rPr lang="en-US" dirty="0" err="1" smtClean="0"/>
              <a:t>zier</a:t>
            </a:r>
            <a:r>
              <a:rPr lang="en-US" dirty="0" smtClean="0"/>
              <a:t> method</a:t>
            </a:r>
            <a:r>
              <a:rPr lang="en-US" dirty="0"/>
              <a:t>, construct the following union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488302" y="5932038"/>
            <a:ext cx="754512" cy="754512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1242814" y="5932038"/>
            <a:ext cx="754512" cy="754512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7" name="Right Triangle 26"/>
          <p:cNvSpPr/>
          <p:nvPr/>
        </p:nvSpPr>
        <p:spPr>
          <a:xfrm flipH="1">
            <a:off x="1997327" y="2913988"/>
            <a:ext cx="754512" cy="2263537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997327" y="5177525"/>
            <a:ext cx="754512" cy="754512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997327" y="5932038"/>
            <a:ext cx="754512" cy="754512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0" name="Freeform 29"/>
          <p:cNvSpPr/>
          <p:nvPr/>
        </p:nvSpPr>
        <p:spPr>
          <a:xfrm>
            <a:off x="3437639" y="2913988"/>
            <a:ext cx="2263537" cy="3772562"/>
          </a:xfrm>
          <a:custGeom>
            <a:avLst/>
            <a:gdLst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43200" h="4572000">
                <a:moveTo>
                  <a:pt x="2743200" y="0"/>
                </a:moveTo>
                <a:lnTo>
                  <a:pt x="2743200" y="2743200"/>
                </a:lnTo>
                <a:lnTo>
                  <a:pt x="2743200" y="3657600"/>
                </a:lnTo>
                <a:lnTo>
                  <a:pt x="2743200" y="4572000"/>
                </a:lnTo>
                <a:lnTo>
                  <a:pt x="1828800" y="4572000"/>
                </a:lnTo>
                <a:lnTo>
                  <a:pt x="914400" y="4572000"/>
                </a:lnTo>
                <a:lnTo>
                  <a:pt x="0" y="4572000"/>
                </a:lnTo>
                <a:lnTo>
                  <a:pt x="0" y="3657600"/>
                </a:lnTo>
                <a:lnTo>
                  <a:pt x="0" y="2743200"/>
                </a:lnTo>
                <a:lnTo>
                  <a:pt x="914400" y="3657600"/>
                </a:lnTo>
                <a:lnTo>
                  <a:pt x="1828800" y="2743200"/>
                </a:lnTo>
                <a:close/>
              </a:path>
            </a:pathLst>
          </a:cu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 30"/>
          <p:cNvSpPr/>
          <p:nvPr/>
        </p:nvSpPr>
        <p:spPr>
          <a:xfrm>
            <a:off x="6386976" y="2913988"/>
            <a:ext cx="2263537" cy="3772562"/>
          </a:xfrm>
          <a:custGeom>
            <a:avLst/>
            <a:gdLst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4572000">
                <a:moveTo>
                  <a:pt x="2743200" y="0"/>
                </a:moveTo>
                <a:lnTo>
                  <a:pt x="2743200" y="2743200"/>
                </a:lnTo>
                <a:lnTo>
                  <a:pt x="2743200" y="3657600"/>
                </a:lnTo>
                <a:lnTo>
                  <a:pt x="2743200" y="4572000"/>
                </a:lnTo>
                <a:lnTo>
                  <a:pt x="1828800" y="4572000"/>
                </a:lnTo>
                <a:lnTo>
                  <a:pt x="914400" y="4572000"/>
                </a:lnTo>
                <a:lnTo>
                  <a:pt x="0" y="4572000"/>
                </a:lnTo>
                <a:lnTo>
                  <a:pt x="0" y="3657600"/>
                </a:lnTo>
                <a:lnTo>
                  <a:pt x="0" y="2743200"/>
                </a:lnTo>
                <a:cubicBezTo>
                  <a:pt x="152400" y="2743200"/>
                  <a:pt x="609600" y="3657600"/>
                  <a:pt x="914400" y="3657600"/>
                </a:cubicBezTo>
                <a:cubicBezTo>
                  <a:pt x="1219200" y="3657600"/>
                  <a:pt x="1524000" y="3657600"/>
                  <a:pt x="1828800" y="2743200"/>
                </a:cubicBezTo>
                <a:lnTo>
                  <a:pt x="2743200" y="0"/>
                </a:lnTo>
                <a:close/>
              </a:path>
            </a:pathLst>
          </a:cu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 31"/>
          <p:cNvSpPr/>
          <p:nvPr/>
        </p:nvSpPr>
        <p:spPr>
          <a:xfrm>
            <a:off x="9336313" y="2913988"/>
            <a:ext cx="2263537" cy="3772562"/>
          </a:xfrm>
          <a:custGeom>
            <a:avLst/>
            <a:gdLst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4572000">
                <a:moveTo>
                  <a:pt x="2743200" y="0"/>
                </a:moveTo>
                <a:lnTo>
                  <a:pt x="2743200" y="2743200"/>
                </a:lnTo>
                <a:lnTo>
                  <a:pt x="2743200" y="3657600"/>
                </a:lnTo>
                <a:lnTo>
                  <a:pt x="2743200" y="4572000"/>
                </a:lnTo>
                <a:lnTo>
                  <a:pt x="1828800" y="4572000"/>
                </a:lnTo>
                <a:lnTo>
                  <a:pt x="914400" y="4572000"/>
                </a:lnTo>
                <a:lnTo>
                  <a:pt x="0" y="4572000"/>
                </a:lnTo>
                <a:lnTo>
                  <a:pt x="0" y="3657600"/>
                </a:lnTo>
                <a:lnTo>
                  <a:pt x="0" y="2743200"/>
                </a:lnTo>
                <a:cubicBezTo>
                  <a:pt x="152400" y="2743200"/>
                  <a:pt x="609600" y="3657600"/>
                  <a:pt x="914400" y="3657600"/>
                </a:cubicBezTo>
                <a:cubicBezTo>
                  <a:pt x="1219200" y="3657600"/>
                  <a:pt x="1524000" y="3657600"/>
                  <a:pt x="1828800" y="2743200"/>
                </a:cubicBezTo>
                <a:lnTo>
                  <a:pt x="2743200" y="0"/>
                </a:lnTo>
                <a:close/>
              </a:path>
            </a:pathLst>
          </a:custGeom>
          <a:solidFill>
            <a:srgbClr val="E8E8E8">
              <a:alpha val="20000"/>
            </a:srgb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 32"/>
          <p:cNvSpPr/>
          <p:nvPr/>
        </p:nvSpPr>
        <p:spPr>
          <a:xfrm>
            <a:off x="10090825" y="5177525"/>
            <a:ext cx="754512" cy="754512"/>
          </a:xfrm>
          <a:custGeom>
            <a:avLst/>
            <a:gdLst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914400"/>
                  <a:pt x="914400" y="0"/>
                </a:cubicBezTo>
                <a:close/>
              </a:path>
            </a:pathLst>
          </a:custGeom>
          <a:ln cap="rnd"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ight Triangle 19"/>
          <p:cNvSpPr/>
          <p:nvPr/>
        </p:nvSpPr>
        <p:spPr>
          <a:xfrm>
            <a:off x="488302" y="5177525"/>
            <a:ext cx="754512" cy="754512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/>
          <p:cNvSpPr/>
          <p:nvPr/>
        </p:nvSpPr>
        <p:spPr>
          <a:xfrm flipH="1">
            <a:off x="1242814" y="5177525"/>
            <a:ext cx="754512" cy="754512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9411708" y="4681874"/>
            <a:ext cx="1527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Remove extra</a:t>
            </a:r>
          </a:p>
          <a:p>
            <a:r>
              <a:rPr lang="en-US" dirty="0" smtClean="0"/>
              <a:t>vertices.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0620774" y="5583721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y</a:t>
            </a:r>
            <a:r>
              <a:rPr lang="en-US" dirty="0" smtClean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³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2720815" y="38610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3224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³ </a:t>
            </a:r>
            <a:r>
              <a:rPr lang="en-US" dirty="0"/>
              <a:t>Curve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86479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construction was found by Arglin </a:t>
            </a:r>
            <a:r>
              <a:rPr lang="en-US" dirty="0" err="1"/>
              <a:t>Kampling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 increase the domain:</a:t>
            </a:r>
          </a:p>
          <a:p>
            <a:pPr marL="0" indent="0">
              <a:buNone/>
            </a:pPr>
            <a:r>
              <a:rPr lang="en-US" dirty="0" smtClean="0"/>
              <a:t>height = width³</a:t>
            </a:r>
          </a:p>
          <a:p>
            <a:pPr marL="0" indent="0">
              <a:buNone/>
            </a:pPr>
            <a:r>
              <a:rPr lang="en-US" dirty="0" smtClean="0"/>
              <a:t>width = ³√height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547695" y="6264831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y </a:t>
            </a:r>
            <a:r>
              <a:rPr lang="en-US" dirty="0" smtClean="0"/>
              <a:t>= </a:t>
            </a:r>
            <a:r>
              <a:rPr lang="en-US" i="1" dirty="0" smtClean="0"/>
              <a:t>x</a:t>
            </a:r>
            <a:r>
              <a:rPr lang="en-US" dirty="0"/>
              <a:t>³</a:t>
            </a:r>
            <a:r>
              <a:rPr lang="en-US" dirty="0" smtClean="0"/>
              <a:t> {0 ≤ </a:t>
            </a:r>
            <a:r>
              <a:rPr lang="en-US" i="1" dirty="0" smtClean="0"/>
              <a:t>x </a:t>
            </a:r>
            <a:r>
              <a:rPr lang="en-US" dirty="0" smtClean="0"/>
              <a:t>≤ 1}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459547" y="6264831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y </a:t>
            </a:r>
            <a:r>
              <a:rPr lang="en-US" dirty="0" smtClean="0"/>
              <a:t>= </a:t>
            </a:r>
            <a:r>
              <a:rPr lang="en-US" i="1" dirty="0" smtClean="0"/>
              <a:t>x</a:t>
            </a:r>
            <a:r>
              <a:rPr lang="en-US" dirty="0"/>
              <a:t>³</a:t>
            </a:r>
            <a:r>
              <a:rPr lang="en-US" dirty="0" smtClean="0"/>
              <a:t> {0 ≤ </a:t>
            </a:r>
            <a:r>
              <a:rPr lang="en-US" i="1" dirty="0" smtClean="0"/>
              <a:t>x </a:t>
            </a:r>
            <a:r>
              <a:rPr lang="en-US" dirty="0" smtClean="0"/>
              <a:t>≤ 2}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297404" y="2077025"/>
            <a:ext cx="120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Domain: 2</a:t>
            </a:r>
          </a:p>
          <a:p>
            <a:r>
              <a:rPr lang="en-US" dirty="0" smtClean="0"/>
              <a:t>Height: 8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7739643" y="4698783"/>
            <a:ext cx="120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Domain: 1</a:t>
            </a:r>
          </a:p>
          <a:p>
            <a:r>
              <a:rPr lang="en-US" dirty="0" smtClean="0"/>
              <a:t>Height: 1</a:t>
            </a:r>
            <a:endParaRPr lang="en-US" dirty="0"/>
          </a:p>
        </p:txBody>
      </p:sp>
      <p:sp>
        <p:nvSpPr>
          <p:cNvPr id="11" name="Freeform 10"/>
          <p:cNvSpPr/>
          <p:nvPr/>
        </p:nvSpPr>
        <p:spPr>
          <a:xfrm>
            <a:off x="8004301" y="5480051"/>
            <a:ext cx="736600" cy="736600"/>
          </a:xfrm>
          <a:custGeom>
            <a:avLst/>
            <a:gdLst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914400"/>
                  <a:pt x="914400" y="0"/>
                </a:cubicBezTo>
                <a:close/>
              </a:path>
            </a:pathLst>
          </a:custGeom>
          <a:ln cap="rnd"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/>
          <p:cNvSpPr/>
          <p:nvPr/>
        </p:nvSpPr>
        <p:spPr>
          <a:xfrm>
            <a:off x="9547853" y="341314"/>
            <a:ext cx="1473200" cy="5892800"/>
          </a:xfrm>
          <a:custGeom>
            <a:avLst/>
            <a:gdLst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914400"/>
                  <a:pt x="914400" y="0"/>
                </a:cubicBezTo>
                <a:close/>
              </a:path>
            </a:pathLst>
          </a:custGeom>
          <a:solidFill>
            <a:srgbClr val="A02B93">
              <a:alpha val="50196"/>
            </a:srgbClr>
          </a:solidFill>
          <a:ln cap="rnd"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185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³ </a:t>
            </a:r>
            <a:r>
              <a:rPr lang="en-US" dirty="0"/>
              <a:t>Curve </a:t>
            </a:r>
            <a:r>
              <a:rPr lang="en-US" dirty="0" smtClean="0"/>
              <a:t>– Reasoning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cubic </a:t>
            </a:r>
            <a:r>
              <a:rPr lang="en-US" dirty="0" err="1"/>
              <a:t>Bé</a:t>
            </a:r>
            <a:r>
              <a:rPr lang="en-US" dirty="0" err="1" smtClean="0"/>
              <a:t>zier</a:t>
            </a:r>
            <a:r>
              <a:rPr lang="en-US" dirty="0" smtClean="0"/>
              <a:t> curve can be parametrically defined as two cubic functions, with 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  <a:r>
              <a:rPr lang="en-US" i="1" dirty="0" smtClean="0"/>
              <a:t>B</a:t>
            </a:r>
            <a:r>
              <a:rPr lang="en-US" dirty="0" smtClean="0"/>
              <a:t>, </a:t>
            </a:r>
            <a:r>
              <a:rPr lang="en-US" i="1" dirty="0" smtClean="0"/>
              <a:t>C</a:t>
            </a:r>
            <a:r>
              <a:rPr lang="en-US" dirty="0" smtClean="0"/>
              <a:t>, and </a:t>
            </a:r>
            <a:r>
              <a:rPr lang="en-US" i="1" dirty="0" smtClean="0"/>
              <a:t>D </a:t>
            </a:r>
            <a:r>
              <a:rPr lang="en-US" dirty="0" smtClean="0"/>
              <a:t>being the four control points.</a:t>
            </a:r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= </a:t>
            </a:r>
            <a:r>
              <a:rPr lang="en-US" i="1" dirty="0" smtClean="0"/>
              <a:t>A</a:t>
            </a:r>
            <a:r>
              <a:rPr lang="en-US" i="1" baseline="-25000" dirty="0" smtClean="0"/>
              <a:t>x</a:t>
            </a:r>
            <a:r>
              <a:rPr lang="en-US" dirty="0" smtClean="0"/>
              <a:t> (1 – </a:t>
            </a:r>
            <a:r>
              <a:rPr lang="en-US" i="1" dirty="0" smtClean="0"/>
              <a:t>t</a:t>
            </a:r>
            <a:r>
              <a:rPr lang="en-US" dirty="0" smtClean="0"/>
              <a:t>)³ </a:t>
            </a:r>
            <a:r>
              <a:rPr lang="en-US" dirty="0"/>
              <a:t>+ </a:t>
            </a:r>
            <a:r>
              <a:rPr lang="en-US" dirty="0" smtClean="0"/>
              <a:t>3 </a:t>
            </a:r>
            <a:r>
              <a:rPr lang="en-US" i="1" dirty="0" err="1" smtClean="0"/>
              <a:t>B</a:t>
            </a:r>
            <a:r>
              <a:rPr lang="en-US" i="1" baseline="-25000" dirty="0" err="1" smtClean="0"/>
              <a:t>x</a:t>
            </a:r>
            <a:r>
              <a:rPr lang="en-US" dirty="0" smtClean="0"/>
              <a:t> </a:t>
            </a:r>
            <a:r>
              <a:rPr lang="en-US" dirty="0"/>
              <a:t>(1 – </a:t>
            </a:r>
            <a:r>
              <a:rPr lang="en-US" i="1" dirty="0" smtClean="0"/>
              <a:t>t</a:t>
            </a:r>
            <a:r>
              <a:rPr lang="en-US" dirty="0" smtClean="0"/>
              <a:t>)²</a:t>
            </a:r>
            <a:r>
              <a:rPr lang="en-US" i="1" dirty="0" smtClean="0"/>
              <a:t>t</a:t>
            </a:r>
            <a:r>
              <a:rPr lang="en-US" dirty="0" smtClean="0"/>
              <a:t> + 3 </a:t>
            </a:r>
            <a:r>
              <a:rPr lang="en-US" i="1" dirty="0" err="1" smtClean="0"/>
              <a:t>C</a:t>
            </a:r>
            <a:r>
              <a:rPr lang="en-US" i="1" baseline="-25000" dirty="0" err="1" smtClean="0"/>
              <a:t>x</a:t>
            </a:r>
            <a:r>
              <a:rPr lang="en-US" dirty="0" smtClean="0"/>
              <a:t> (1 – 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i="1" dirty="0" smtClean="0"/>
              <a:t>t</a:t>
            </a:r>
            <a:r>
              <a:rPr lang="en-US" dirty="0" smtClean="0"/>
              <a:t>² + </a:t>
            </a:r>
            <a:r>
              <a:rPr lang="en-US" i="1" dirty="0" err="1" smtClean="0"/>
              <a:t>D</a:t>
            </a:r>
            <a:r>
              <a:rPr lang="en-US" i="1" baseline="-25000" dirty="0" err="1" smtClean="0"/>
              <a:t>x</a:t>
            </a:r>
            <a:r>
              <a:rPr lang="en-US" i="1" dirty="0" smtClean="0"/>
              <a:t> t</a:t>
            </a:r>
            <a:r>
              <a:rPr lang="en-US" dirty="0" smtClean="0"/>
              <a:t>³</a:t>
            </a:r>
            <a:br>
              <a:rPr lang="en-US" dirty="0" smtClean="0"/>
            </a:b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 = </a:t>
            </a:r>
            <a:r>
              <a:rPr lang="en-US" i="1" dirty="0" smtClean="0"/>
              <a:t>A</a:t>
            </a:r>
            <a:r>
              <a:rPr lang="en-US" i="1" baseline="-25000" dirty="0" smtClean="0"/>
              <a:t>y</a:t>
            </a:r>
            <a:r>
              <a:rPr lang="en-US" dirty="0" smtClean="0"/>
              <a:t> </a:t>
            </a:r>
            <a:r>
              <a:rPr lang="en-US" dirty="0"/>
              <a:t>(1 – </a:t>
            </a:r>
            <a:r>
              <a:rPr lang="en-US" i="1" dirty="0"/>
              <a:t>t</a:t>
            </a:r>
            <a:r>
              <a:rPr lang="en-US" dirty="0"/>
              <a:t>)³ + 3 </a:t>
            </a:r>
            <a:r>
              <a:rPr lang="en-US" i="1" dirty="0" smtClean="0"/>
              <a:t>B</a:t>
            </a:r>
            <a:r>
              <a:rPr lang="en-US" i="1" baseline="-25000" dirty="0" smtClean="0"/>
              <a:t>y</a:t>
            </a:r>
            <a:r>
              <a:rPr lang="en-US" dirty="0" smtClean="0"/>
              <a:t> </a:t>
            </a:r>
            <a:r>
              <a:rPr lang="en-US" dirty="0"/>
              <a:t>(1 – </a:t>
            </a:r>
            <a:r>
              <a:rPr lang="en-US" i="1" dirty="0"/>
              <a:t>t</a:t>
            </a:r>
            <a:r>
              <a:rPr lang="en-US" dirty="0"/>
              <a:t>)²</a:t>
            </a:r>
            <a:r>
              <a:rPr lang="en-US" i="1" dirty="0"/>
              <a:t>t</a:t>
            </a:r>
            <a:r>
              <a:rPr lang="en-US" dirty="0"/>
              <a:t> + 3 </a:t>
            </a:r>
            <a:r>
              <a:rPr lang="en-US" i="1" dirty="0" smtClean="0"/>
              <a:t>C</a:t>
            </a:r>
            <a:r>
              <a:rPr lang="en-US" i="1" baseline="-25000" dirty="0" smtClean="0"/>
              <a:t>y</a:t>
            </a:r>
            <a:r>
              <a:rPr lang="en-US" dirty="0" smtClean="0"/>
              <a:t> </a:t>
            </a:r>
            <a:r>
              <a:rPr lang="en-US" dirty="0"/>
              <a:t>(1 – </a:t>
            </a:r>
            <a:r>
              <a:rPr lang="en-US" i="1" dirty="0"/>
              <a:t>t</a:t>
            </a:r>
            <a:r>
              <a:rPr lang="en-US" dirty="0"/>
              <a:t>)</a:t>
            </a:r>
            <a:r>
              <a:rPr lang="en-US" i="1" dirty="0"/>
              <a:t>t</a:t>
            </a:r>
            <a:r>
              <a:rPr lang="en-US" dirty="0"/>
              <a:t>² + </a:t>
            </a:r>
            <a:r>
              <a:rPr lang="en-US" i="1" dirty="0" err="1" smtClean="0"/>
              <a:t>D</a:t>
            </a:r>
            <a:r>
              <a:rPr lang="en-US" i="1" baseline="-25000" dirty="0" err="1" smtClean="0"/>
              <a:t>y</a:t>
            </a:r>
            <a:r>
              <a:rPr lang="en-US" i="1" dirty="0" smtClean="0"/>
              <a:t> </a:t>
            </a:r>
            <a:r>
              <a:rPr lang="en-US" i="1" dirty="0"/>
              <a:t>t</a:t>
            </a:r>
            <a:r>
              <a:rPr lang="en-US" dirty="0"/>
              <a:t>³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target parametric for </a:t>
            </a:r>
            <a:r>
              <a:rPr lang="en-US" i="1" dirty="0" smtClean="0"/>
              <a:t>y</a:t>
            </a:r>
            <a:r>
              <a:rPr lang="en-US" dirty="0" smtClean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², in standard cubic form, can be expressed most simply as the following.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</a:t>
            </a:r>
            <a:r>
              <a:rPr lang="en-US" i="1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 </a:t>
            </a:r>
            <a:r>
              <a:rPr lang="en-US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³ +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 </a:t>
            </a:r>
            <a:r>
              <a:rPr lang="en-US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²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+ </a:t>
            </a:r>
            <a:r>
              <a:rPr lang="en-US" dirty="0" smtClean="0"/>
              <a:t>1 </a:t>
            </a:r>
            <a:r>
              <a:rPr lang="en-US" i="1" dirty="0" smtClean="0"/>
              <a:t>t</a:t>
            </a:r>
            <a:r>
              <a:rPr lang="en-US" dirty="0" smtClean="0"/>
              <a:t> 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+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1 </a:t>
            </a:r>
            <a:r>
              <a:rPr lang="en-US" i="1" dirty="0" smtClean="0"/>
              <a:t>t</a:t>
            </a:r>
            <a:r>
              <a:rPr lang="en-US" dirty="0" smtClean="0"/>
              <a:t>³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 + 0 </a:t>
            </a:r>
            <a:r>
              <a:rPr lang="en-US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² +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 </a:t>
            </a:r>
            <a:r>
              <a:rPr lang="en-US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t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+ </a:t>
            </a:r>
            <a:r>
              <a:rPr lang="en-US" dirty="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0</a:t>
            </a:r>
            <a:endParaRPr lang="en-US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8816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³ </a:t>
            </a:r>
            <a:r>
              <a:rPr lang="en-US" dirty="0"/>
              <a:t>Curve </a:t>
            </a:r>
            <a:r>
              <a:rPr lang="en-US" dirty="0" smtClean="0"/>
              <a:t>– Reasoning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Rewriting the cubic </a:t>
            </a:r>
            <a:r>
              <a:rPr lang="en-US" dirty="0" err="1"/>
              <a:t>Bézier</a:t>
            </a:r>
            <a:r>
              <a:rPr lang="en-US" dirty="0"/>
              <a:t> </a:t>
            </a:r>
            <a:r>
              <a:rPr lang="en-US" dirty="0" smtClean="0"/>
              <a:t>function in standard cubic form:</a:t>
            </a:r>
            <a:endParaRPr lang="en-US" dirty="0"/>
          </a:p>
          <a:p>
            <a:pPr marL="0" indent="0">
              <a:buNone/>
            </a:pPr>
            <a:r>
              <a:rPr lang="en-US" sz="2400" i="1" dirty="0" smtClean="0"/>
              <a:t>x</a:t>
            </a:r>
            <a:r>
              <a:rPr lang="en-US" sz="2400" dirty="0" smtClean="0"/>
              <a:t>(</a:t>
            </a:r>
            <a:r>
              <a:rPr lang="en-US" sz="2400" i="1" dirty="0" smtClean="0"/>
              <a:t>t</a:t>
            </a:r>
            <a:r>
              <a:rPr lang="en-US" sz="2400" dirty="0"/>
              <a:t>) </a:t>
            </a:r>
            <a:r>
              <a:rPr lang="en-US" sz="2400" dirty="0" smtClean="0"/>
              <a:t>= </a:t>
            </a:r>
            <a:r>
              <a:rPr lang="fr-FR" sz="2400" dirty="0" smtClean="0"/>
              <a:t>(– </a:t>
            </a:r>
            <a:r>
              <a:rPr lang="fr-FR" sz="2400" i="1" dirty="0" err="1" smtClean="0"/>
              <a:t>A</a:t>
            </a:r>
            <a:r>
              <a:rPr lang="fr-FR" sz="2400" i="1" baseline="-25000" dirty="0" err="1" smtClean="0"/>
              <a:t>x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err="1" smtClean="0"/>
              <a:t>B</a:t>
            </a:r>
            <a:r>
              <a:rPr lang="fr-FR" sz="2400" i="1" baseline="-25000" dirty="0" err="1" smtClean="0"/>
              <a:t>x</a:t>
            </a:r>
            <a:r>
              <a:rPr lang="fr-FR" sz="2400" dirty="0" smtClean="0"/>
              <a:t> – </a:t>
            </a:r>
            <a:r>
              <a:rPr lang="fr-FR" sz="2400" dirty="0"/>
              <a:t>3 </a:t>
            </a:r>
            <a:r>
              <a:rPr lang="fr-FR" sz="2400" i="1" dirty="0" smtClean="0"/>
              <a:t>C</a:t>
            </a:r>
            <a:r>
              <a:rPr lang="fr-FR" sz="2400" i="1" baseline="-25000" dirty="0"/>
              <a:t>x</a:t>
            </a:r>
            <a:r>
              <a:rPr lang="fr-FR" sz="2400" dirty="0"/>
              <a:t> </a:t>
            </a:r>
            <a:r>
              <a:rPr lang="fr-FR" sz="2400" dirty="0" smtClean="0"/>
              <a:t>+ </a:t>
            </a:r>
            <a:r>
              <a:rPr lang="fr-FR" sz="2400" i="1" dirty="0" err="1" smtClean="0"/>
              <a:t>D</a:t>
            </a:r>
            <a:r>
              <a:rPr lang="fr-FR" sz="2400" i="1" baseline="-25000" dirty="0" err="1" smtClean="0"/>
              <a:t>x</a:t>
            </a:r>
            <a:r>
              <a:rPr lang="fr-FR" sz="2400" dirty="0" smtClean="0"/>
              <a:t>) </a:t>
            </a:r>
            <a:r>
              <a:rPr lang="fr-FR" sz="2400" i="1" dirty="0" smtClean="0"/>
              <a:t>t</a:t>
            </a:r>
            <a:r>
              <a:rPr lang="fr-FR" sz="2400" dirty="0" smtClean="0"/>
              <a:t>³ </a:t>
            </a:r>
            <a:r>
              <a:rPr lang="fr-FR" sz="2400" dirty="0"/>
              <a:t>+ (3 </a:t>
            </a:r>
            <a:r>
              <a:rPr lang="fr-FR" sz="2400" i="1" dirty="0" err="1" smtClean="0"/>
              <a:t>A</a:t>
            </a:r>
            <a:r>
              <a:rPr lang="fr-FR" sz="2400" i="1" baseline="-25000" dirty="0" err="1"/>
              <a:t>x</a:t>
            </a:r>
            <a:r>
              <a:rPr lang="fr-FR" sz="2400" dirty="0"/>
              <a:t> </a:t>
            </a:r>
            <a:r>
              <a:rPr lang="fr-FR" sz="2400" dirty="0" smtClean="0"/>
              <a:t>– 6 </a:t>
            </a:r>
            <a:r>
              <a:rPr lang="fr-FR" sz="2400" i="1" dirty="0" err="1" smtClean="0"/>
              <a:t>B</a:t>
            </a:r>
            <a:r>
              <a:rPr lang="fr-FR" sz="2400" i="1" baseline="-25000" dirty="0" err="1" smtClean="0"/>
              <a:t>x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smtClean="0"/>
              <a:t>C</a:t>
            </a:r>
            <a:r>
              <a:rPr lang="fr-FR" sz="2400" i="1" baseline="-25000" dirty="0"/>
              <a:t>x</a:t>
            </a:r>
            <a:r>
              <a:rPr lang="fr-FR" sz="2400" dirty="0" smtClean="0"/>
              <a:t>) </a:t>
            </a:r>
            <a:r>
              <a:rPr lang="fr-FR" sz="2400" i="1" dirty="0" smtClean="0"/>
              <a:t>t</a:t>
            </a:r>
            <a:r>
              <a:rPr lang="fr-FR" sz="2400" dirty="0" smtClean="0"/>
              <a:t>² </a:t>
            </a:r>
            <a:r>
              <a:rPr lang="fr-FR" sz="2400" dirty="0"/>
              <a:t>+  </a:t>
            </a:r>
            <a:r>
              <a:rPr lang="fr-FR" sz="2400" dirty="0" smtClean="0"/>
              <a:t>(– 3 </a:t>
            </a:r>
            <a:r>
              <a:rPr lang="fr-FR" sz="2400" i="1" dirty="0" err="1" smtClean="0"/>
              <a:t>A</a:t>
            </a:r>
            <a:r>
              <a:rPr lang="fr-FR" sz="2400" i="1" baseline="-25000" dirty="0" err="1"/>
              <a:t>x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err="1" smtClean="0"/>
              <a:t>B</a:t>
            </a:r>
            <a:r>
              <a:rPr lang="fr-FR" sz="2400" i="1" baseline="-25000" dirty="0" err="1"/>
              <a:t>x</a:t>
            </a:r>
            <a:r>
              <a:rPr lang="fr-FR" sz="2400" dirty="0" smtClean="0"/>
              <a:t>) </a:t>
            </a:r>
            <a:r>
              <a:rPr lang="fr-FR" sz="2400" i="1" dirty="0" smtClean="0"/>
              <a:t>t</a:t>
            </a:r>
            <a:r>
              <a:rPr lang="fr-FR" sz="2400" dirty="0" smtClean="0"/>
              <a:t> </a:t>
            </a:r>
            <a:r>
              <a:rPr lang="fr-FR" sz="2400" dirty="0"/>
              <a:t>+ </a:t>
            </a:r>
            <a:r>
              <a:rPr lang="fr-FR" sz="2400" i="1" dirty="0" err="1" smtClean="0"/>
              <a:t>A</a:t>
            </a:r>
            <a:r>
              <a:rPr lang="fr-FR" sz="2400" i="1" baseline="-25000" dirty="0" err="1" smtClean="0"/>
              <a:t>x</a:t>
            </a:r>
            <a:r>
              <a:rPr lang="fr-FR" sz="2400" i="1" baseline="-25000" dirty="0"/>
              <a:t/>
            </a:r>
            <a:br>
              <a:rPr lang="fr-FR" sz="2400" i="1" baseline="-25000" dirty="0"/>
            </a:br>
            <a:r>
              <a:rPr lang="en-US" sz="2400" i="1" dirty="0" smtClean="0"/>
              <a:t>y</a:t>
            </a:r>
            <a:r>
              <a:rPr lang="en-US" sz="2400" dirty="0" smtClean="0"/>
              <a:t>(</a:t>
            </a:r>
            <a:r>
              <a:rPr lang="en-US" sz="2400" i="1" dirty="0" smtClean="0"/>
              <a:t>t</a:t>
            </a:r>
            <a:r>
              <a:rPr lang="en-US" sz="2400" dirty="0"/>
              <a:t>) = </a:t>
            </a:r>
            <a:r>
              <a:rPr lang="fr-FR" sz="2400" dirty="0"/>
              <a:t>(– </a:t>
            </a:r>
            <a:r>
              <a:rPr lang="fr-FR" sz="2400" i="1" dirty="0" smtClean="0"/>
              <a:t>A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smtClean="0"/>
              <a:t>B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– 3 </a:t>
            </a:r>
            <a:r>
              <a:rPr lang="fr-FR" sz="2400" i="1" dirty="0" err="1" smtClean="0"/>
              <a:t>C</a:t>
            </a:r>
            <a:r>
              <a:rPr lang="fr-FR" sz="2400" i="1" baseline="-25000" dirty="0" err="1" smtClean="0"/>
              <a:t>y</a:t>
            </a:r>
            <a:r>
              <a:rPr lang="fr-FR" sz="2400" i="1" dirty="0" smtClean="0"/>
              <a:t> </a:t>
            </a:r>
            <a:r>
              <a:rPr lang="fr-FR" sz="2400" dirty="0"/>
              <a:t>+ </a:t>
            </a:r>
            <a:r>
              <a:rPr lang="fr-FR" sz="2400" i="1" dirty="0" smtClean="0"/>
              <a:t>D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) </a:t>
            </a:r>
            <a:r>
              <a:rPr lang="fr-FR" sz="2400" i="1" dirty="0"/>
              <a:t>t</a:t>
            </a:r>
            <a:r>
              <a:rPr lang="fr-FR" sz="2400" dirty="0"/>
              <a:t>³ + (3 </a:t>
            </a:r>
            <a:r>
              <a:rPr lang="fr-FR" sz="2400" i="1" dirty="0" smtClean="0"/>
              <a:t>A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– 6 </a:t>
            </a:r>
            <a:r>
              <a:rPr lang="fr-FR" sz="2400" i="1" dirty="0" smtClean="0"/>
              <a:t>B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err="1" smtClean="0"/>
              <a:t>C</a:t>
            </a:r>
            <a:r>
              <a:rPr lang="fr-FR" sz="2400" i="1" baseline="-25000" dirty="0" err="1" smtClean="0"/>
              <a:t>y</a:t>
            </a:r>
            <a:r>
              <a:rPr lang="fr-FR" sz="2400" dirty="0" smtClean="0"/>
              <a:t>) </a:t>
            </a:r>
            <a:r>
              <a:rPr lang="fr-FR" sz="2400" i="1" dirty="0"/>
              <a:t>t</a:t>
            </a:r>
            <a:r>
              <a:rPr lang="fr-FR" sz="2400" dirty="0"/>
              <a:t>² +  (– 3 </a:t>
            </a:r>
            <a:r>
              <a:rPr lang="fr-FR" sz="2400" i="1" dirty="0" smtClean="0"/>
              <a:t>A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+ 3 </a:t>
            </a:r>
            <a:r>
              <a:rPr lang="fr-FR" sz="2400" i="1" dirty="0" smtClean="0"/>
              <a:t>B</a:t>
            </a:r>
            <a:r>
              <a:rPr lang="fr-FR" sz="2400" i="1" baseline="-25000" dirty="0" smtClean="0"/>
              <a:t>y</a:t>
            </a:r>
            <a:r>
              <a:rPr lang="fr-FR" sz="2400" dirty="0" smtClean="0"/>
              <a:t>) </a:t>
            </a:r>
            <a:r>
              <a:rPr lang="fr-FR" sz="2400" i="1" dirty="0"/>
              <a:t>t</a:t>
            </a:r>
            <a:r>
              <a:rPr lang="fr-FR" sz="2400" dirty="0"/>
              <a:t> + </a:t>
            </a:r>
            <a:r>
              <a:rPr lang="fr-FR" sz="2400" i="1" dirty="0" smtClean="0"/>
              <a:t>A</a:t>
            </a:r>
            <a:r>
              <a:rPr lang="en-US" sz="2400" i="1" baseline="-25000" dirty="0" smtClean="0"/>
              <a:t>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Thus, two systems of equations are constructed.</a:t>
            </a:r>
          </a:p>
          <a:p>
            <a:pPr marL="0" indent="0">
              <a:buNone/>
            </a:pPr>
            <a:r>
              <a:rPr lang="fr-FR" dirty="0" smtClean="0"/>
              <a:t>– </a:t>
            </a:r>
            <a:r>
              <a:rPr lang="fr-FR" i="1" dirty="0" err="1"/>
              <a:t>A</a:t>
            </a:r>
            <a:r>
              <a:rPr lang="fr-FR" i="1" baseline="-25000" dirty="0" err="1"/>
              <a:t>x</a:t>
            </a:r>
            <a:r>
              <a:rPr lang="fr-FR" dirty="0"/>
              <a:t> + 3 </a:t>
            </a:r>
            <a:r>
              <a:rPr lang="fr-FR" i="1" dirty="0" err="1"/>
              <a:t>B</a:t>
            </a:r>
            <a:r>
              <a:rPr lang="fr-FR" i="1" baseline="-25000" dirty="0" err="1"/>
              <a:t>x</a:t>
            </a:r>
            <a:r>
              <a:rPr lang="fr-FR" dirty="0"/>
              <a:t> – 3 </a:t>
            </a:r>
            <a:r>
              <a:rPr lang="fr-FR" i="1" dirty="0"/>
              <a:t>C</a:t>
            </a:r>
            <a:r>
              <a:rPr lang="fr-FR" i="1" baseline="-25000" dirty="0"/>
              <a:t>x</a:t>
            </a:r>
            <a:r>
              <a:rPr lang="fr-FR" dirty="0"/>
              <a:t> + </a:t>
            </a:r>
            <a:r>
              <a:rPr lang="fr-FR" i="1" dirty="0" err="1" smtClean="0"/>
              <a:t>D</a:t>
            </a:r>
            <a:r>
              <a:rPr lang="fr-FR" i="1" baseline="-25000" dirty="0" err="1" smtClean="0"/>
              <a:t>x</a:t>
            </a:r>
            <a:r>
              <a:rPr lang="fr-FR" dirty="0" smtClean="0"/>
              <a:t> = 0		</a:t>
            </a:r>
            <a:r>
              <a:rPr lang="fr-FR" dirty="0"/>
              <a:t>– </a:t>
            </a:r>
            <a:r>
              <a:rPr lang="fr-FR" i="1" dirty="0" smtClean="0"/>
              <a:t>A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+ 3 </a:t>
            </a:r>
            <a:r>
              <a:rPr lang="fr-FR" i="1" dirty="0" smtClean="0"/>
              <a:t>B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– 3 </a:t>
            </a:r>
            <a:r>
              <a:rPr lang="fr-FR" i="1" dirty="0" err="1" smtClean="0"/>
              <a:t>C</a:t>
            </a:r>
            <a:r>
              <a:rPr lang="fr-FR" i="1" baseline="-25000" dirty="0" err="1" smtClean="0"/>
              <a:t>y</a:t>
            </a:r>
            <a:r>
              <a:rPr lang="fr-FR" dirty="0" smtClean="0"/>
              <a:t> </a:t>
            </a:r>
            <a:r>
              <a:rPr lang="fr-FR" dirty="0"/>
              <a:t>+ </a:t>
            </a:r>
            <a:r>
              <a:rPr lang="fr-FR" i="1" dirty="0" smtClean="0"/>
              <a:t>D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= </a:t>
            </a:r>
            <a:r>
              <a:rPr lang="fr-FR" dirty="0" smtClean="0"/>
              <a:t>1</a:t>
            </a:r>
            <a:r>
              <a:rPr lang="fr-FR" dirty="0"/>
              <a:t>	</a:t>
            </a:r>
            <a:r>
              <a:rPr lang="en-US" dirty="0"/>
              <a:t/>
            </a:r>
            <a:br>
              <a:rPr lang="en-US" dirty="0"/>
            </a:br>
            <a:r>
              <a:rPr lang="fr-FR" dirty="0"/>
              <a:t>3 </a:t>
            </a:r>
            <a:r>
              <a:rPr lang="fr-FR" i="1" dirty="0" err="1"/>
              <a:t>A</a:t>
            </a:r>
            <a:r>
              <a:rPr lang="fr-FR" i="1" baseline="-25000" dirty="0" err="1"/>
              <a:t>x</a:t>
            </a:r>
            <a:r>
              <a:rPr lang="fr-FR" dirty="0"/>
              <a:t> – 6 </a:t>
            </a:r>
            <a:r>
              <a:rPr lang="fr-FR" i="1" dirty="0" err="1"/>
              <a:t>B</a:t>
            </a:r>
            <a:r>
              <a:rPr lang="fr-FR" i="1" baseline="-25000" dirty="0" err="1"/>
              <a:t>x</a:t>
            </a:r>
            <a:r>
              <a:rPr lang="fr-FR" dirty="0"/>
              <a:t> + 3 </a:t>
            </a:r>
            <a:r>
              <a:rPr lang="fr-FR" i="1" dirty="0"/>
              <a:t>C</a:t>
            </a:r>
            <a:r>
              <a:rPr lang="fr-FR" i="1" baseline="-25000" dirty="0"/>
              <a:t>x</a:t>
            </a:r>
            <a:r>
              <a:rPr lang="fr-FR" dirty="0" smtClean="0"/>
              <a:t> </a:t>
            </a:r>
            <a:r>
              <a:rPr lang="fr-FR" dirty="0"/>
              <a:t>= 0	</a:t>
            </a:r>
            <a:r>
              <a:rPr lang="fr-FR" dirty="0" smtClean="0"/>
              <a:t>	</a:t>
            </a:r>
            <a:r>
              <a:rPr lang="fr-FR" dirty="0"/>
              <a:t> 3 </a:t>
            </a:r>
            <a:r>
              <a:rPr lang="fr-FR" i="1" dirty="0" smtClean="0"/>
              <a:t>A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– 6 </a:t>
            </a:r>
            <a:r>
              <a:rPr lang="fr-FR" i="1" dirty="0" smtClean="0"/>
              <a:t>B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+ 3 </a:t>
            </a:r>
            <a:r>
              <a:rPr lang="fr-FR" i="1" dirty="0" err="1" smtClean="0"/>
              <a:t>C</a:t>
            </a:r>
            <a:r>
              <a:rPr lang="fr-FR" i="1" baseline="-25000" dirty="0" err="1" smtClean="0"/>
              <a:t>y</a:t>
            </a:r>
            <a:r>
              <a:rPr lang="fr-FR" dirty="0" smtClean="0"/>
              <a:t> </a:t>
            </a:r>
            <a:r>
              <a:rPr lang="fr-FR" dirty="0"/>
              <a:t>= </a:t>
            </a:r>
            <a:r>
              <a:rPr lang="fr-FR" dirty="0" smtClean="0"/>
              <a:t>0</a:t>
            </a:r>
            <a:br>
              <a:rPr lang="fr-FR" dirty="0" smtClean="0"/>
            </a:br>
            <a:r>
              <a:rPr lang="fr-FR" dirty="0"/>
              <a:t>– 3 </a:t>
            </a:r>
            <a:r>
              <a:rPr lang="fr-FR" i="1" dirty="0" err="1"/>
              <a:t>A</a:t>
            </a:r>
            <a:r>
              <a:rPr lang="fr-FR" i="1" baseline="-25000" dirty="0" err="1"/>
              <a:t>x</a:t>
            </a:r>
            <a:r>
              <a:rPr lang="fr-FR" dirty="0"/>
              <a:t> + 3 </a:t>
            </a:r>
            <a:r>
              <a:rPr lang="fr-FR" i="1" dirty="0" err="1"/>
              <a:t>B</a:t>
            </a:r>
            <a:r>
              <a:rPr lang="fr-FR" i="1" baseline="-25000" dirty="0" err="1"/>
              <a:t>x</a:t>
            </a:r>
            <a:r>
              <a:rPr lang="fr-FR" dirty="0" smtClean="0"/>
              <a:t> </a:t>
            </a:r>
            <a:r>
              <a:rPr lang="fr-FR" dirty="0"/>
              <a:t>= </a:t>
            </a:r>
            <a:r>
              <a:rPr lang="fr-FR" dirty="0" smtClean="0"/>
              <a:t>1</a:t>
            </a:r>
            <a:r>
              <a:rPr lang="fr-FR" dirty="0"/>
              <a:t>	</a:t>
            </a:r>
            <a:r>
              <a:rPr lang="fr-FR" dirty="0" smtClean="0"/>
              <a:t>		</a:t>
            </a:r>
            <a:r>
              <a:rPr lang="fr-FR" dirty="0"/>
              <a:t>– 3 </a:t>
            </a:r>
            <a:r>
              <a:rPr lang="fr-FR" i="1" dirty="0" smtClean="0"/>
              <a:t>A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+ 3 </a:t>
            </a:r>
            <a:r>
              <a:rPr lang="fr-FR" i="1" dirty="0" smtClean="0"/>
              <a:t>B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= </a:t>
            </a:r>
            <a:r>
              <a:rPr lang="fr-FR" dirty="0" smtClean="0"/>
              <a:t>0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i="1" dirty="0" err="1"/>
              <a:t>A</a:t>
            </a:r>
            <a:r>
              <a:rPr lang="fr-FR" i="1" baseline="-25000" dirty="0" err="1"/>
              <a:t>x</a:t>
            </a:r>
            <a:r>
              <a:rPr lang="fr-FR" dirty="0"/>
              <a:t> </a:t>
            </a:r>
            <a:r>
              <a:rPr lang="fr-FR" dirty="0" smtClean="0"/>
              <a:t>= 0</a:t>
            </a:r>
            <a:r>
              <a:rPr lang="fr-FR" dirty="0"/>
              <a:t>	</a:t>
            </a:r>
            <a:r>
              <a:rPr lang="fr-FR" dirty="0" smtClean="0"/>
              <a:t>			</a:t>
            </a:r>
            <a:r>
              <a:rPr lang="fr-FR" i="1" dirty="0"/>
              <a:t> </a:t>
            </a:r>
            <a:r>
              <a:rPr lang="fr-FR" i="1" dirty="0" smtClean="0"/>
              <a:t>A</a:t>
            </a:r>
            <a:r>
              <a:rPr lang="fr-FR" i="1" baseline="-25000" dirty="0" smtClean="0"/>
              <a:t>y</a:t>
            </a:r>
            <a:r>
              <a:rPr lang="fr-FR" dirty="0" smtClean="0"/>
              <a:t> </a:t>
            </a:r>
            <a:r>
              <a:rPr lang="fr-FR" dirty="0"/>
              <a:t>= 0</a:t>
            </a:r>
          </a:p>
        </p:txBody>
      </p:sp>
    </p:spTree>
    <p:extLst>
      <p:ext uri="{BB962C8B-B14F-4D97-AF65-F5344CB8AC3E}">
        <p14:creationId xmlns:p14="http://schemas.microsoft.com/office/powerpoint/2010/main" val="15234163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³ Curve – Reasoning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system of equation then determines the following control points.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i="1" dirty="0" smtClean="0"/>
              <a:t>A</a:t>
            </a:r>
            <a:r>
              <a:rPr lang="en-US" dirty="0" smtClean="0"/>
              <a:t> = (0,0);   </a:t>
            </a:r>
            <a:r>
              <a:rPr lang="fr-FR" i="1" dirty="0" smtClean="0"/>
              <a:t>  B</a:t>
            </a:r>
            <a:r>
              <a:rPr lang="fr-FR" dirty="0" smtClean="0"/>
              <a:t> = (1/3, 0)</a:t>
            </a:r>
            <a:r>
              <a:rPr lang="en-US" dirty="0" smtClean="0"/>
              <a:t>;    </a:t>
            </a:r>
            <a:r>
              <a:rPr lang="fr-FR" i="1" dirty="0" smtClean="0"/>
              <a:t>C</a:t>
            </a:r>
            <a:r>
              <a:rPr lang="fr-FR" dirty="0" smtClean="0"/>
              <a:t> = (2/3, 0)</a:t>
            </a:r>
            <a:r>
              <a:rPr lang="en-US" dirty="0" smtClean="0"/>
              <a:t>; </a:t>
            </a:r>
            <a:r>
              <a:rPr lang="fr-FR" dirty="0" smtClean="0"/>
              <a:t>    </a:t>
            </a:r>
            <a:r>
              <a:rPr lang="fr-FR" i="1" dirty="0" smtClean="0"/>
              <a:t>D</a:t>
            </a:r>
            <a:r>
              <a:rPr lang="fr-FR" dirty="0" smtClean="0"/>
              <a:t> = (1, 1)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The </a:t>
            </a:r>
            <a:r>
              <a:rPr lang="en-US" dirty="0" err="1" smtClean="0"/>
              <a:t>Bézier</a:t>
            </a:r>
            <a:r>
              <a:rPr lang="en-US" dirty="0" smtClean="0"/>
              <a:t> method can then be applied using these control points.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3114102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6013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The </a:t>
            </a:r>
            <a:r>
              <a:rPr lang="fr-FR" dirty="0" err="1" smtClean="0"/>
              <a:t>shape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mirrored</a:t>
            </a:r>
            <a:r>
              <a:rPr lang="fr-FR" dirty="0" smtClean="0"/>
              <a:t> and </a:t>
            </a:r>
            <a:r>
              <a:rPr lang="fr-FR" dirty="0" err="1" smtClean="0"/>
              <a:t>rotated</a:t>
            </a:r>
            <a:r>
              <a:rPr lang="fr-FR" dirty="0"/>
              <a:t> </a:t>
            </a:r>
            <a:r>
              <a:rPr lang="fr-FR" dirty="0" smtClean="0"/>
              <a:t>to </a:t>
            </a:r>
            <a:r>
              <a:rPr lang="fr-FR" dirty="0" err="1" smtClean="0"/>
              <a:t>form</a:t>
            </a:r>
            <a:r>
              <a:rPr lang="fr-FR" dirty="0" smtClean="0"/>
              <a:t> the cube </a:t>
            </a:r>
            <a:r>
              <a:rPr lang="fr-FR" dirty="0" err="1" smtClean="0"/>
              <a:t>root</a:t>
            </a:r>
            <a:r>
              <a:rPr lang="fr-FR" dirty="0" smtClean="0"/>
              <a:t> profile.</a:t>
            </a:r>
          </a:p>
          <a:p>
            <a:pPr marL="0" indent="0">
              <a:buNone/>
            </a:pPr>
            <a:r>
              <a:rPr lang="fr-FR" dirty="0" smtClean="0"/>
              <a:t>If a user </a:t>
            </a:r>
            <a:r>
              <a:rPr lang="fr-FR" dirty="0" err="1" smtClean="0"/>
              <a:t>already</a:t>
            </a:r>
            <a:r>
              <a:rPr lang="fr-FR" dirty="0" smtClean="0"/>
              <a:t> has the </a:t>
            </a:r>
            <a:r>
              <a:rPr lang="fr-FR" dirty="0" err="1" smtClean="0"/>
              <a:t>template</a:t>
            </a:r>
            <a:r>
              <a:rPr lang="fr-FR" dirty="0" smtClean="0"/>
              <a:t> </a:t>
            </a:r>
            <a:r>
              <a:rPr lang="fr-FR" dirty="0" err="1" smtClean="0"/>
              <a:t>available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used</a:t>
            </a:r>
            <a:r>
              <a:rPr lang="fr-FR" dirty="0" smtClean="0"/>
              <a:t> to </a:t>
            </a:r>
            <a:r>
              <a:rPr lang="fr-FR" dirty="0" err="1" smtClean="0"/>
              <a:t>trivialize</a:t>
            </a:r>
            <a:r>
              <a:rPr lang="fr-FR" dirty="0" smtClean="0"/>
              <a:t> </a:t>
            </a:r>
            <a:r>
              <a:rPr lang="fr-FR" dirty="0" err="1" smtClean="0"/>
              <a:t>constructing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desired</a:t>
            </a:r>
            <a:r>
              <a:rPr lang="fr-FR" dirty="0" smtClean="0"/>
              <a:t> cube </a:t>
            </a:r>
            <a:r>
              <a:rPr lang="fr-FR" dirty="0" err="1" smtClean="0"/>
              <a:t>root</a:t>
            </a:r>
            <a:r>
              <a:rPr lang="fr-FR" dirty="0"/>
              <a:t> </a:t>
            </a:r>
            <a:r>
              <a:rPr lang="fr-FR" dirty="0" err="1" smtClean="0"/>
              <a:t>without</a:t>
            </a:r>
            <a:r>
              <a:rPr lang="fr-FR" dirty="0" smtClean="0"/>
              <a:t> the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method</a:t>
            </a:r>
            <a:r>
              <a:rPr lang="fr-FR" dirty="0" smtClean="0"/>
              <a:t>.</a:t>
            </a:r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of </a:t>
            </a:r>
            <a:r>
              <a:rPr lang="en-US" i="1" dirty="0" smtClean="0"/>
              <a:t>y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i="1" dirty="0"/>
              <a:t>x</a:t>
            </a:r>
            <a:r>
              <a:rPr lang="en-US" dirty="0"/>
              <a:t>³</a:t>
            </a:r>
            <a:r>
              <a:rPr lang="en-US" dirty="0" smtClean="0"/>
              <a:t> </a:t>
            </a:r>
            <a:r>
              <a:rPr lang="en-US" dirty="0"/>
              <a:t>Curve </a:t>
            </a:r>
            <a:r>
              <a:rPr lang="en-US" dirty="0" smtClean="0"/>
              <a:t>– </a:t>
            </a:r>
            <a:r>
              <a:rPr lang="en-US" dirty="0"/>
              <a:t>Implication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2781124" y="3307287"/>
            <a:ext cx="2362376" cy="2362376"/>
          </a:xfrm>
          <a:prstGeom prst="rect">
            <a:avLst/>
          </a:prstGeom>
          <a:ln cap="rnd"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/>
              <a:t>x</a:t>
            </a:r>
            <a:endParaRPr lang="en-US" i="1" dirty="0"/>
          </a:p>
        </p:txBody>
      </p:sp>
      <p:sp>
        <p:nvSpPr>
          <p:cNvPr id="11" name="Rectangle 10"/>
          <p:cNvSpPr/>
          <p:nvPr/>
        </p:nvSpPr>
        <p:spPr>
          <a:xfrm>
            <a:off x="5143499" y="4415078"/>
            <a:ext cx="1254584" cy="1254584"/>
          </a:xfrm>
          <a:prstGeom prst="rect">
            <a:avLst/>
          </a:prstGeom>
          <a:ln cap="rnd"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³</a:t>
            </a:r>
            <a:r>
              <a:rPr lang="en-US" dirty="0" smtClean="0"/>
              <a:t>√</a:t>
            </a:r>
            <a:r>
              <a:rPr lang="en-US" i="1" dirty="0" smtClean="0"/>
              <a:t>x</a:t>
            </a:r>
            <a:endParaRPr lang="en-US" i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2781124" y="5720361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Freeform 13"/>
          <p:cNvSpPr/>
          <p:nvPr/>
        </p:nvSpPr>
        <p:spPr>
          <a:xfrm rot="16200000" flipV="1">
            <a:off x="5524324" y="1097662"/>
            <a:ext cx="1828800" cy="7315200"/>
          </a:xfrm>
          <a:custGeom>
            <a:avLst/>
            <a:gdLst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914400"/>
                  <a:pt x="914400" y="0"/>
                </a:cubicBez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086424" y="3656194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dirty="0" smtClean="0"/>
              <a:t>³√</a:t>
            </a:r>
            <a:r>
              <a:rPr lang="en-US" i="1" dirty="0" smtClean="0"/>
              <a:t>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210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construction was found by </a:t>
            </a:r>
            <a:r>
              <a:rPr lang="en-US" dirty="0" err="1" smtClean="0"/>
              <a:t>queuequeue</a:t>
            </a:r>
            <a:r>
              <a:rPr lang="en-US" dirty="0"/>
              <a:t> and Arglin </a:t>
            </a:r>
            <a:r>
              <a:rPr lang="en-US" dirty="0" err="1"/>
              <a:t>Kampling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To construct </a:t>
            </a:r>
            <a:r>
              <a:rPr lang="en-US" dirty="0" smtClean="0"/>
              <a:t>⁵√</a:t>
            </a:r>
            <a:r>
              <a:rPr lang="en-US" i="1" dirty="0" smtClean="0"/>
              <a:t>k</a:t>
            </a:r>
            <a:r>
              <a:rPr lang="en-US" dirty="0" smtClean="0"/>
              <a:t> </a:t>
            </a:r>
            <a:r>
              <a:rPr lang="en-US" dirty="0"/>
              <a:t>for any constructible </a:t>
            </a:r>
            <a:r>
              <a:rPr lang="en-US" i="1" dirty="0" smtClean="0"/>
              <a:t>k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Graph </a:t>
            </a:r>
            <a:r>
              <a:rPr lang="en-US" i="1" dirty="0" smtClean="0"/>
              <a:t>x </a:t>
            </a:r>
            <a:r>
              <a:rPr lang="en-US" dirty="0" smtClean="0"/>
              <a:t>= </a:t>
            </a:r>
            <a:r>
              <a:rPr lang="en-US" i="1" dirty="0" smtClean="0"/>
              <a:t>y³</a:t>
            </a:r>
            <a:r>
              <a:rPr lang="en-US" dirty="0" smtClean="0"/>
              <a:t> /(√</a:t>
            </a:r>
            <a:r>
              <a:rPr lang="en-US" i="1" dirty="0" smtClean="0"/>
              <a:t>k</a:t>
            </a:r>
            <a:r>
              <a:rPr lang="en-US" dirty="0" smtClean="0"/>
              <a:t>)</a:t>
            </a:r>
            <a:r>
              <a:rPr lang="en-US" i="1" dirty="0" smtClean="0"/>
              <a:t> </a:t>
            </a:r>
            <a:r>
              <a:rPr lang="en-US" dirty="0" smtClean="0"/>
              <a:t>and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x</a:t>
            </a:r>
            <a:r>
              <a:rPr lang="en-US" dirty="0"/>
              <a:t>²</a:t>
            </a:r>
            <a:r>
              <a:rPr lang="en-US" dirty="0" smtClean="0"/>
              <a:t>, then get the intersection.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</a:t>
            </a:r>
            <a:r>
              <a:rPr lang="en-US" dirty="0" err="1" smtClean="0"/>
              <a:t>Quintic</a:t>
            </a:r>
            <a:r>
              <a:rPr lang="en-US" dirty="0" smtClean="0"/>
              <a:t> Root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2007868" y="4091215"/>
            <a:ext cx="1384335" cy="1384335"/>
          </a:xfrm>
          <a:prstGeom prst="rect">
            <a:avLst/>
          </a:prstGeom>
          <a:ln cap="rnd"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  <a:endParaRPr lang="en-US" i="1" dirty="0"/>
          </a:p>
        </p:txBody>
      </p:sp>
      <p:sp>
        <p:nvSpPr>
          <p:cNvPr id="8" name="Rectangle 7"/>
          <p:cNvSpPr/>
          <p:nvPr/>
        </p:nvSpPr>
        <p:spPr>
          <a:xfrm>
            <a:off x="3392203" y="4351252"/>
            <a:ext cx="1124298" cy="1124298"/>
          </a:xfrm>
          <a:prstGeom prst="rect">
            <a:avLst/>
          </a:prstGeom>
          <a:solidFill>
            <a:schemeClr val="accent1"/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√</a:t>
            </a:r>
            <a:r>
              <a:rPr lang="en-US" i="1" dirty="0"/>
              <a:t>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2007868" y="5526249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Freeform 9"/>
          <p:cNvSpPr/>
          <p:nvPr/>
        </p:nvSpPr>
        <p:spPr>
          <a:xfrm rot="5400000" flipH="1">
            <a:off x="2922268" y="2732350"/>
            <a:ext cx="1828800" cy="3657600"/>
          </a:xfrm>
          <a:custGeom>
            <a:avLst/>
            <a:gdLst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609600"/>
                  <a:pt x="914400" y="0"/>
                </a:cubicBez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126260" y="4351252"/>
            <a:ext cx="971909" cy="1124298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21" name="Freeform 20"/>
          <p:cNvSpPr/>
          <p:nvPr/>
        </p:nvSpPr>
        <p:spPr>
          <a:xfrm rot="16200000" flipV="1">
            <a:off x="9202663" y="2940252"/>
            <a:ext cx="1508354" cy="3577592"/>
          </a:xfrm>
          <a:custGeom>
            <a:avLst/>
            <a:gdLst>
              <a:gd name="connsiteX0" fmla="*/ 1508354 w 1508354"/>
              <a:gd name="connsiteY0" fmla="*/ 28968 h 3577592"/>
              <a:gd name="connsiteX1" fmla="*/ 1463938 w 1508354"/>
              <a:gd name="connsiteY1" fmla="*/ 54993 h 3577592"/>
              <a:gd name="connsiteX2" fmla="*/ 1235338 w 1508354"/>
              <a:gd name="connsiteY2" fmla="*/ 54993 h 3577592"/>
              <a:gd name="connsiteX3" fmla="*/ 1063888 w 1508354"/>
              <a:gd name="connsiteY3" fmla="*/ 21507 h 3577592"/>
              <a:gd name="connsiteX4" fmla="*/ 1021177 w 1508354"/>
              <a:gd name="connsiteY4" fmla="*/ 46533 h 3577592"/>
              <a:gd name="connsiteX5" fmla="*/ 0 w 1508354"/>
              <a:gd name="connsiteY5" fmla="*/ 3577592 h 3577592"/>
              <a:gd name="connsiteX6" fmla="*/ 1485900 w 1508354"/>
              <a:gd name="connsiteY6" fmla="*/ 185712 h 3577592"/>
              <a:gd name="connsiteX7" fmla="*/ 1508354 w 1508354"/>
              <a:gd name="connsiteY7" fmla="*/ 28968 h 357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08354" h="3577592">
                <a:moveTo>
                  <a:pt x="1508354" y="28968"/>
                </a:moveTo>
                <a:lnTo>
                  <a:pt x="1463938" y="54993"/>
                </a:lnTo>
                <a:cubicBezTo>
                  <a:pt x="1387738" y="102618"/>
                  <a:pt x="1311538" y="150243"/>
                  <a:pt x="1235338" y="54993"/>
                </a:cubicBezTo>
                <a:cubicBezTo>
                  <a:pt x="1178188" y="-16445"/>
                  <a:pt x="1121038" y="-7515"/>
                  <a:pt x="1063888" y="21507"/>
                </a:cubicBezTo>
                <a:lnTo>
                  <a:pt x="1021177" y="46533"/>
                </a:lnTo>
                <a:lnTo>
                  <a:pt x="0" y="3577592"/>
                </a:lnTo>
                <a:cubicBezTo>
                  <a:pt x="495301" y="3577592"/>
                  <a:pt x="990601" y="3577592"/>
                  <a:pt x="1485900" y="185712"/>
                </a:cubicBezTo>
                <a:lnTo>
                  <a:pt x="1508354" y="28968"/>
                </a:ln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7126260" y="5526249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8" name="Freeform 37"/>
          <p:cNvSpPr/>
          <p:nvPr/>
        </p:nvSpPr>
        <p:spPr>
          <a:xfrm>
            <a:off x="8168043" y="3310807"/>
            <a:ext cx="1403733" cy="2172418"/>
          </a:xfrm>
          <a:custGeom>
            <a:avLst/>
            <a:gdLst>
              <a:gd name="connsiteX0" fmla="*/ 1362350 w 1403733"/>
              <a:gd name="connsiteY0" fmla="*/ 980 h 2172418"/>
              <a:gd name="connsiteX1" fmla="*/ 1403733 w 1403733"/>
              <a:gd name="connsiteY1" fmla="*/ 14602 h 2172418"/>
              <a:gd name="connsiteX2" fmla="*/ 1371600 w 1403733"/>
              <a:gd name="connsiteY2" fmla="*/ 115018 h 2172418"/>
              <a:gd name="connsiteX3" fmla="*/ 0 w 1403733"/>
              <a:gd name="connsiteY3" fmla="*/ 2172418 h 2172418"/>
              <a:gd name="connsiteX4" fmla="*/ 1076143 w 1403733"/>
              <a:gd name="connsiteY4" fmla="*/ 20132 h 2172418"/>
              <a:gd name="connsiteX5" fmla="*/ 1108838 w 1403733"/>
              <a:gd name="connsiteY5" fmla="*/ 38067 h 2172418"/>
              <a:gd name="connsiteX6" fmla="*/ 1277846 w 1403733"/>
              <a:gd name="connsiteY6" fmla="*/ 38067 h 2172418"/>
              <a:gd name="connsiteX7" fmla="*/ 1362350 w 1403733"/>
              <a:gd name="connsiteY7" fmla="*/ 980 h 217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3733" h="2172418">
                <a:moveTo>
                  <a:pt x="1362350" y="980"/>
                </a:moveTo>
                <a:lnTo>
                  <a:pt x="1403733" y="14602"/>
                </a:lnTo>
                <a:lnTo>
                  <a:pt x="1371600" y="115018"/>
                </a:lnTo>
                <a:cubicBezTo>
                  <a:pt x="914400" y="1486618"/>
                  <a:pt x="457200" y="2172418"/>
                  <a:pt x="0" y="2172418"/>
                </a:cubicBezTo>
                <a:lnTo>
                  <a:pt x="1076143" y="20132"/>
                </a:lnTo>
                <a:lnTo>
                  <a:pt x="1108838" y="38067"/>
                </a:lnTo>
                <a:cubicBezTo>
                  <a:pt x="1165174" y="71034"/>
                  <a:pt x="1221510" y="104000"/>
                  <a:pt x="1277846" y="38067"/>
                </a:cubicBezTo>
                <a:cubicBezTo>
                  <a:pt x="1306014" y="5101"/>
                  <a:pt x="1334182" y="-3141"/>
                  <a:pt x="1362350" y="980"/>
                </a:cubicBez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900836" y="3669550"/>
            <a:ext cx="2859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Rescaled </a:t>
            </a:r>
            <a:r>
              <a:rPr lang="en-US" dirty="0" smtClean="0"/>
              <a:t>using Construct- -ability of Division.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9107871" y="4514788"/>
            <a:ext cx="960762" cy="960762"/>
          </a:xfrm>
          <a:prstGeom prst="rect">
            <a:avLst/>
          </a:prstGeom>
          <a:ln cap="rnd"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⁵√</a:t>
            </a:r>
            <a:r>
              <a:rPr lang="en-US" i="1" dirty="0" smtClean="0"/>
              <a:t>k</a:t>
            </a:r>
            <a:endParaRPr lang="en-US" i="1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824757" y="4923750"/>
            <a:ext cx="2152158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118812" y="3528086"/>
            <a:ext cx="766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dirty="0" smtClean="0"/>
              <a:t>√</a:t>
            </a:r>
            <a:r>
              <a:rPr lang="en-US" i="1" dirty="0"/>
              <a:t>x</a:t>
            </a:r>
            <a:endParaRPr lang="en-US" i="1" dirty="0"/>
          </a:p>
        </p:txBody>
      </p:sp>
      <p:sp>
        <p:nvSpPr>
          <p:cNvPr id="44" name="Rectangle 43"/>
          <p:cNvSpPr/>
          <p:nvPr/>
        </p:nvSpPr>
        <p:spPr>
          <a:xfrm>
            <a:off x="10419312" y="3696127"/>
            <a:ext cx="1217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x </a:t>
            </a:r>
            <a:r>
              <a:rPr lang="en-US" dirty="0"/>
              <a:t>= </a:t>
            </a:r>
            <a:r>
              <a:rPr lang="en-US" i="1" dirty="0"/>
              <a:t>y³</a:t>
            </a:r>
            <a:r>
              <a:rPr lang="en-US" dirty="0"/>
              <a:t> /(√</a:t>
            </a:r>
            <a:r>
              <a:rPr lang="en-US" i="1" dirty="0"/>
              <a:t>k</a:t>
            </a:r>
            <a:r>
              <a:rPr lang="en-US" dirty="0"/>
              <a:t>)</a:t>
            </a:r>
            <a:endParaRPr lang="en-US" i="1" dirty="0"/>
          </a:p>
        </p:txBody>
      </p:sp>
      <p:sp>
        <p:nvSpPr>
          <p:cNvPr id="45" name="Rectangle 44"/>
          <p:cNvSpPr/>
          <p:nvPr/>
        </p:nvSpPr>
        <p:spPr>
          <a:xfrm>
            <a:off x="9477002" y="3343420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x</a:t>
            </a:r>
            <a:r>
              <a:rPr lang="en-US" dirty="0"/>
              <a:t>²</a:t>
            </a:r>
          </a:p>
        </p:txBody>
      </p:sp>
    </p:spTree>
    <p:extLst>
      <p:ext uri="{BB962C8B-B14F-4D97-AF65-F5344CB8AC3E}">
        <p14:creationId xmlns:p14="http://schemas.microsoft.com/office/powerpoint/2010/main" val="19383349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smtClean="0"/>
              <a:t>x</a:t>
            </a:r>
            <a:r>
              <a:rPr lang="en-US" dirty="0" smtClean="0"/>
              <a:t> = </a:t>
            </a:r>
            <a:r>
              <a:rPr lang="en-US" i="1" dirty="0" smtClean="0"/>
              <a:t>y</a:t>
            </a:r>
            <a:r>
              <a:rPr lang="en-US" dirty="0" smtClean="0"/>
              <a:t>³ / </a:t>
            </a:r>
            <a:r>
              <a:rPr lang="en-US" dirty="0"/>
              <a:t>√</a:t>
            </a:r>
            <a:r>
              <a:rPr lang="en-US" i="1" dirty="0"/>
              <a:t>k</a:t>
            </a:r>
            <a:r>
              <a:rPr lang="en-US" dirty="0" smtClean="0"/>
              <a:t>          </a:t>
            </a:r>
            <a:r>
              <a:rPr lang="en-US" i="1" dirty="0" smtClean="0"/>
              <a:t>y</a:t>
            </a:r>
            <a:r>
              <a:rPr lang="en-US" dirty="0" smtClean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²</a:t>
            </a:r>
          </a:p>
          <a:p>
            <a:pPr marL="0" indent="0">
              <a:buNone/>
            </a:pPr>
            <a:r>
              <a:rPr lang="en-US" dirty="0" smtClean="0"/>
              <a:t>Given the intersection is positive for </a:t>
            </a:r>
            <a:r>
              <a:rPr lang="en-US" i="1" dirty="0" smtClean="0"/>
              <a:t>x</a:t>
            </a:r>
            <a:r>
              <a:rPr lang="en-US" dirty="0" smtClean="0"/>
              <a:t> and </a:t>
            </a:r>
            <a:r>
              <a:rPr lang="en-US" i="1" dirty="0" smtClean="0"/>
              <a:t>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i="1" dirty="0" smtClean="0"/>
              <a:t>y </a:t>
            </a:r>
            <a:r>
              <a:rPr lang="en-US" dirty="0" smtClean="0"/>
              <a:t>= </a:t>
            </a:r>
            <a:r>
              <a:rPr lang="en-US" i="1" dirty="0" smtClean="0"/>
              <a:t>x</a:t>
            </a:r>
            <a:r>
              <a:rPr lang="en-US" dirty="0" smtClean="0"/>
              <a:t>²     →     </a:t>
            </a:r>
            <a:r>
              <a:rPr lang="en-US" i="1" dirty="0" smtClean="0"/>
              <a:t>x</a:t>
            </a:r>
            <a:r>
              <a:rPr lang="en-US" dirty="0" smtClean="0"/>
              <a:t> = √</a:t>
            </a:r>
            <a:r>
              <a:rPr lang="en-US" i="1" dirty="0" smtClean="0"/>
              <a:t>y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Substitute into the other equation.</a:t>
            </a:r>
          </a:p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³ / </a:t>
            </a:r>
            <a:r>
              <a:rPr lang="en-US" dirty="0" smtClean="0"/>
              <a:t>√</a:t>
            </a:r>
            <a:r>
              <a:rPr lang="en-US" i="1" dirty="0" smtClean="0"/>
              <a:t>k</a:t>
            </a:r>
            <a:r>
              <a:rPr lang="en-US" dirty="0" smtClean="0"/>
              <a:t> = √</a:t>
            </a:r>
            <a:r>
              <a:rPr lang="en-US" i="1" dirty="0" smtClean="0"/>
              <a:t>y     →     y</a:t>
            </a:r>
            <a:r>
              <a:rPr lang="en-US" dirty="0" smtClean="0"/>
              <a:t>⁶ / </a:t>
            </a:r>
            <a:r>
              <a:rPr lang="en-US" i="1" dirty="0" smtClean="0"/>
              <a:t>k</a:t>
            </a:r>
            <a:r>
              <a:rPr lang="en-US" dirty="0" smtClean="0"/>
              <a:t> = </a:t>
            </a:r>
            <a:r>
              <a:rPr lang="en-US" i="1" dirty="0" smtClean="0"/>
              <a:t>y</a:t>
            </a:r>
            <a:r>
              <a:rPr lang="en-US" dirty="0" smtClean="0"/>
              <a:t>     →     </a:t>
            </a:r>
            <a:r>
              <a:rPr lang="en-US" i="1" dirty="0" smtClean="0"/>
              <a:t>y</a:t>
            </a:r>
            <a:r>
              <a:rPr lang="en-US" dirty="0" smtClean="0"/>
              <a:t>⁵ = </a:t>
            </a:r>
            <a:r>
              <a:rPr lang="en-US" i="1" dirty="0" smtClean="0"/>
              <a:t>k</a:t>
            </a:r>
            <a:r>
              <a:rPr lang="en-US" dirty="0" smtClean="0"/>
              <a:t>     →     </a:t>
            </a:r>
            <a:r>
              <a:rPr lang="en-US" i="1" dirty="0" smtClean="0"/>
              <a:t>y </a:t>
            </a:r>
            <a:r>
              <a:rPr lang="en-US" dirty="0" smtClean="0"/>
              <a:t>= ⁵√</a:t>
            </a:r>
            <a:r>
              <a:rPr lang="en-US" i="1" dirty="0" smtClean="0"/>
              <a:t>k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 smtClean="0"/>
              <a:t>Thus, the height of the intersection is the </a:t>
            </a:r>
            <a:r>
              <a:rPr lang="en-US" dirty="0" err="1" smtClean="0"/>
              <a:t>quintic</a:t>
            </a:r>
            <a:r>
              <a:rPr lang="en-US" dirty="0" smtClean="0"/>
              <a:t> root of </a:t>
            </a:r>
            <a:r>
              <a:rPr lang="en-US" i="1" dirty="0" smtClean="0"/>
              <a:t>k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</a:t>
            </a:r>
            <a:r>
              <a:rPr lang="en-US" dirty="0" err="1" smtClean="0"/>
              <a:t>Quintic</a:t>
            </a:r>
            <a:r>
              <a:rPr lang="en-US" dirty="0" smtClean="0"/>
              <a:t> Root </a:t>
            </a:r>
            <a:r>
              <a:rPr lang="en-US" dirty="0"/>
              <a:t>– Reasoning</a:t>
            </a:r>
          </a:p>
        </p:txBody>
      </p:sp>
    </p:spTree>
    <p:extLst>
      <p:ext uri="{BB962C8B-B14F-4D97-AF65-F5344CB8AC3E}">
        <p14:creationId xmlns:p14="http://schemas.microsoft.com/office/powerpoint/2010/main" val="30793231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construction was found by </a:t>
            </a:r>
            <a:r>
              <a:rPr lang="en-US" dirty="0" err="1" smtClean="0"/>
              <a:t>queuequeue</a:t>
            </a:r>
            <a:r>
              <a:rPr lang="en-US" dirty="0" smtClean="0"/>
              <a:t> and Arglin </a:t>
            </a:r>
            <a:r>
              <a:rPr lang="en-US" dirty="0" err="1" smtClean="0"/>
              <a:t>Kampling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To construct ⁷</a:t>
            </a:r>
            <a:r>
              <a:rPr lang="en-US" dirty="0" smtClean="0"/>
              <a:t>√</a:t>
            </a:r>
            <a:r>
              <a:rPr lang="en-US" i="1" dirty="0" smtClean="0"/>
              <a:t>k</a:t>
            </a:r>
            <a:r>
              <a:rPr lang="en-US" dirty="0" smtClean="0"/>
              <a:t> </a:t>
            </a:r>
            <a:r>
              <a:rPr lang="en-US" dirty="0"/>
              <a:t>for any constructible </a:t>
            </a:r>
            <a:r>
              <a:rPr lang="en-US" i="1" dirty="0" smtClean="0"/>
              <a:t>k</a:t>
            </a:r>
            <a:r>
              <a:rPr lang="en-US" dirty="0" smtClean="0"/>
              <a:t>: construct  </a:t>
            </a:r>
            <a:r>
              <a:rPr lang="en-US" i="1" dirty="0" smtClean="0"/>
              <a:t>x</a:t>
            </a:r>
            <a:r>
              <a:rPr lang="en-US" dirty="0" smtClean="0"/>
              <a:t>² = </a:t>
            </a:r>
            <a:r>
              <a:rPr lang="en-US" i="1" dirty="0" smtClean="0"/>
              <a:t>y</a:t>
            </a:r>
            <a:r>
              <a:rPr lang="en-US" dirty="0" smtClean="0"/>
              <a:t>³ using the </a:t>
            </a:r>
            <a:r>
              <a:rPr lang="en-US" dirty="0" err="1" smtClean="0"/>
              <a:t>Bézier</a:t>
            </a:r>
            <a:r>
              <a:rPr lang="en-US" dirty="0" smtClean="0"/>
              <a:t> method.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</a:t>
            </a:r>
            <a:r>
              <a:rPr lang="en-US" dirty="0" smtClean="0"/>
              <a:t>Septic Root</a:t>
            </a:r>
            <a:endParaRPr lang="en-US" dirty="0"/>
          </a:p>
        </p:txBody>
      </p:sp>
      <p:sp>
        <p:nvSpPr>
          <p:cNvPr id="18" name="Right Triangle 17"/>
          <p:cNvSpPr/>
          <p:nvPr/>
        </p:nvSpPr>
        <p:spPr>
          <a:xfrm>
            <a:off x="1363752" y="3335056"/>
            <a:ext cx="3721054" cy="2976844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363752" y="6311900"/>
            <a:ext cx="3721054" cy="372105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084806" y="6311900"/>
            <a:ext cx="744211" cy="372105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829017" y="6311900"/>
            <a:ext cx="2232632" cy="372105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/>
          <p:cNvSpPr/>
          <p:nvPr/>
        </p:nvSpPr>
        <p:spPr>
          <a:xfrm flipH="1">
            <a:off x="5829017" y="4823478"/>
            <a:ext cx="2232632" cy="1488422"/>
          </a:xfrm>
          <a:prstGeom prst="rtTriangle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 flipH="1">
            <a:off x="9868631" y="6311900"/>
            <a:ext cx="744210" cy="372105"/>
          </a:xfrm>
          <a:custGeom>
            <a:avLst/>
            <a:gdLst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3657600 h 8229600"/>
              <a:gd name="connsiteX4" fmla="*/ 0 w 16459199"/>
              <a:gd name="connsiteY4" fmla="*/ 7315200 h 8229600"/>
              <a:gd name="connsiteX5" fmla="*/ 0 w 16459199"/>
              <a:gd name="connsiteY5" fmla="*/ 8229600 h 8229600"/>
              <a:gd name="connsiteX6" fmla="*/ 5486400 w 16459199"/>
              <a:gd name="connsiteY6" fmla="*/ 8229600 h 8229600"/>
              <a:gd name="connsiteX7" fmla="*/ 7315200 w 16459199"/>
              <a:gd name="connsiteY7" fmla="*/ 8229600 h 8229600"/>
              <a:gd name="connsiteX8" fmla="*/ 16459199 w 16459199"/>
              <a:gd name="connsiteY8" fmla="*/ 8229600 h 8229600"/>
              <a:gd name="connsiteX9" fmla="*/ 16459199 w 16459199"/>
              <a:gd name="connsiteY9" fmla="*/ 7315200 h 8229600"/>
              <a:gd name="connsiteX10" fmla="*/ 16459199 w 16459199"/>
              <a:gd name="connsiteY10" fmla="*/ 7315200 h 8229600"/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3657600 h 8229600"/>
              <a:gd name="connsiteX4" fmla="*/ 0 w 16459199"/>
              <a:gd name="connsiteY4" fmla="*/ 7315200 h 8229600"/>
              <a:gd name="connsiteX5" fmla="*/ 0 w 16459199"/>
              <a:gd name="connsiteY5" fmla="*/ 8229600 h 8229600"/>
              <a:gd name="connsiteX6" fmla="*/ 5486400 w 16459199"/>
              <a:gd name="connsiteY6" fmla="*/ 8229600 h 8229600"/>
              <a:gd name="connsiteX7" fmla="*/ 7315200 w 16459199"/>
              <a:gd name="connsiteY7" fmla="*/ 8229600 h 8229600"/>
              <a:gd name="connsiteX8" fmla="*/ 16459199 w 16459199"/>
              <a:gd name="connsiteY8" fmla="*/ 8229600 h 8229600"/>
              <a:gd name="connsiteX9" fmla="*/ 16459199 w 16459199"/>
              <a:gd name="connsiteY9" fmla="*/ 7315200 h 8229600"/>
              <a:gd name="connsiteX10" fmla="*/ 16459199 w 16459199"/>
              <a:gd name="connsiteY10" fmla="*/ 7315200 h 8229600"/>
              <a:gd name="connsiteX11" fmla="*/ 16459199 w 16459199"/>
              <a:gd name="connsiteY11" fmla="*/ 0 h 8229600"/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3657600 h 8229600"/>
              <a:gd name="connsiteX4" fmla="*/ 0 w 16459199"/>
              <a:gd name="connsiteY4" fmla="*/ 7315200 h 8229600"/>
              <a:gd name="connsiteX5" fmla="*/ 0 w 16459199"/>
              <a:gd name="connsiteY5" fmla="*/ 8229600 h 8229600"/>
              <a:gd name="connsiteX6" fmla="*/ 5486400 w 16459199"/>
              <a:gd name="connsiteY6" fmla="*/ 8229600 h 8229600"/>
              <a:gd name="connsiteX7" fmla="*/ 7315200 w 16459199"/>
              <a:gd name="connsiteY7" fmla="*/ 8229600 h 8229600"/>
              <a:gd name="connsiteX8" fmla="*/ 16459199 w 16459199"/>
              <a:gd name="connsiteY8" fmla="*/ 8229600 h 8229600"/>
              <a:gd name="connsiteX9" fmla="*/ 16459199 w 16459199"/>
              <a:gd name="connsiteY9" fmla="*/ 7315200 h 8229600"/>
              <a:gd name="connsiteX10" fmla="*/ 16459199 w 16459199"/>
              <a:gd name="connsiteY10" fmla="*/ 7315200 h 8229600"/>
              <a:gd name="connsiteX11" fmla="*/ 16459199 w 16459199"/>
              <a:gd name="connsiteY11" fmla="*/ 0 h 8229600"/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7315200 h 8229600"/>
              <a:gd name="connsiteX4" fmla="*/ 0 w 16459199"/>
              <a:gd name="connsiteY4" fmla="*/ 8229600 h 8229600"/>
              <a:gd name="connsiteX5" fmla="*/ 5486400 w 16459199"/>
              <a:gd name="connsiteY5" fmla="*/ 8229600 h 8229600"/>
              <a:gd name="connsiteX6" fmla="*/ 7315200 w 16459199"/>
              <a:gd name="connsiteY6" fmla="*/ 8229600 h 8229600"/>
              <a:gd name="connsiteX7" fmla="*/ 16459199 w 16459199"/>
              <a:gd name="connsiteY7" fmla="*/ 8229600 h 8229600"/>
              <a:gd name="connsiteX8" fmla="*/ 16459199 w 16459199"/>
              <a:gd name="connsiteY8" fmla="*/ 7315200 h 8229600"/>
              <a:gd name="connsiteX9" fmla="*/ 16459199 w 16459199"/>
              <a:gd name="connsiteY9" fmla="*/ 7315200 h 8229600"/>
              <a:gd name="connsiteX10" fmla="*/ 16459199 w 16459199"/>
              <a:gd name="connsiteY10" fmla="*/ 0 h 8229600"/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8229600 h 8229600"/>
              <a:gd name="connsiteX4" fmla="*/ 5486400 w 16459199"/>
              <a:gd name="connsiteY4" fmla="*/ 8229600 h 8229600"/>
              <a:gd name="connsiteX5" fmla="*/ 7315200 w 16459199"/>
              <a:gd name="connsiteY5" fmla="*/ 8229600 h 8229600"/>
              <a:gd name="connsiteX6" fmla="*/ 16459199 w 16459199"/>
              <a:gd name="connsiteY6" fmla="*/ 8229600 h 8229600"/>
              <a:gd name="connsiteX7" fmla="*/ 16459199 w 16459199"/>
              <a:gd name="connsiteY7" fmla="*/ 7315200 h 8229600"/>
              <a:gd name="connsiteX8" fmla="*/ 16459199 w 16459199"/>
              <a:gd name="connsiteY8" fmla="*/ 7315200 h 8229600"/>
              <a:gd name="connsiteX9" fmla="*/ 16459199 w 16459199"/>
              <a:gd name="connsiteY9" fmla="*/ 0 h 8229600"/>
              <a:gd name="connsiteX0" fmla="*/ 10972799 w 10972799"/>
              <a:gd name="connsiteY0" fmla="*/ 0 h 8229600"/>
              <a:gd name="connsiteX1" fmla="*/ 1828800 w 10972799"/>
              <a:gd name="connsiteY1" fmla="*/ 7315200 h 8229600"/>
              <a:gd name="connsiteX2" fmla="*/ 0 w 10972799"/>
              <a:gd name="connsiteY2" fmla="*/ 7315200 h 8229600"/>
              <a:gd name="connsiteX3" fmla="*/ 0 w 10972799"/>
              <a:gd name="connsiteY3" fmla="*/ 8229600 h 8229600"/>
              <a:gd name="connsiteX4" fmla="*/ 1828800 w 10972799"/>
              <a:gd name="connsiteY4" fmla="*/ 8229600 h 8229600"/>
              <a:gd name="connsiteX5" fmla="*/ 10972799 w 10972799"/>
              <a:gd name="connsiteY5" fmla="*/ 8229600 h 8229600"/>
              <a:gd name="connsiteX6" fmla="*/ 10972799 w 10972799"/>
              <a:gd name="connsiteY6" fmla="*/ 7315200 h 8229600"/>
              <a:gd name="connsiteX7" fmla="*/ 10972799 w 10972799"/>
              <a:gd name="connsiteY7" fmla="*/ 7315200 h 8229600"/>
              <a:gd name="connsiteX8" fmla="*/ 10972799 w 10972799"/>
              <a:gd name="connsiteY8" fmla="*/ 0 h 8229600"/>
              <a:gd name="connsiteX0" fmla="*/ 10972799 w 10972799"/>
              <a:gd name="connsiteY0" fmla="*/ 0 h 914400"/>
              <a:gd name="connsiteX1" fmla="*/ 1828800 w 10972799"/>
              <a:gd name="connsiteY1" fmla="*/ 0 h 914400"/>
              <a:gd name="connsiteX2" fmla="*/ 0 w 10972799"/>
              <a:gd name="connsiteY2" fmla="*/ 0 h 914400"/>
              <a:gd name="connsiteX3" fmla="*/ 0 w 10972799"/>
              <a:gd name="connsiteY3" fmla="*/ 914400 h 914400"/>
              <a:gd name="connsiteX4" fmla="*/ 1828800 w 10972799"/>
              <a:gd name="connsiteY4" fmla="*/ 914400 h 914400"/>
              <a:gd name="connsiteX5" fmla="*/ 10972799 w 10972799"/>
              <a:gd name="connsiteY5" fmla="*/ 914400 h 914400"/>
              <a:gd name="connsiteX6" fmla="*/ 10972799 w 10972799"/>
              <a:gd name="connsiteY6" fmla="*/ 0 h 914400"/>
              <a:gd name="connsiteX7" fmla="*/ 10972799 w 10972799"/>
              <a:gd name="connsiteY7" fmla="*/ 0 h 914400"/>
              <a:gd name="connsiteX0" fmla="*/ 10972799 w 10972799"/>
              <a:gd name="connsiteY0" fmla="*/ 0 h 914400"/>
              <a:gd name="connsiteX1" fmla="*/ 1828800 w 10972799"/>
              <a:gd name="connsiteY1" fmla="*/ 0 h 914400"/>
              <a:gd name="connsiteX2" fmla="*/ 0 w 10972799"/>
              <a:gd name="connsiteY2" fmla="*/ 0 h 914400"/>
              <a:gd name="connsiteX3" fmla="*/ 0 w 10972799"/>
              <a:gd name="connsiteY3" fmla="*/ 914400 h 914400"/>
              <a:gd name="connsiteX4" fmla="*/ 1828800 w 10972799"/>
              <a:gd name="connsiteY4" fmla="*/ 914400 h 914400"/>
              <a:gd name="connsiteX5" fmla="*/ 10972799 w 10972799"/>
              <a:gd name="connsiteY5" fmla="*/ 914400 h 914400"/>
              <a:gd name="connsiteX6" fmla="*/ 10972799 w 10972799"/>
              <a:gd name="connsiteY6" fmla="*/ 0 h 914400"/>
              <a:gd name="connsiteX0" fmla="*/ 10972799 w 10972799"/>
              <a:gd name="connsiteY0" fmla="*/ 0 h 914400"/>
              <a:gd name="connsiteX1" fmla="*/ 1828800 w 10972799"/>
              <a:gd name="connsiteY1" fmla="*/ 0 h 914400"/>
              <a:gd name="connsiteX2" fmla="*/ 0 w 10972799"/>
              <a:gd name="connsiteY2" fmla="*/ 0 h 914400"/>
              <a:gd name="connsiteX3" fmla="*/ 0 w 10972799"/>
              <a:gd name="connsiteY3" fmla="*/ 914400 h 914400"/>
              <a:gd name="connsiteX4" fmla="*/ 1828800 w 10972799"/>
              <a:gd name="connsiteY4" fmla="*/ 914400 h 914400"/>
              <a:gd name="connsiteX5" fmla="*/ 10972799 w 10972799"/>
              <a:gd name="connsiteY5" fmla="*/ 0 h 914400"/>
              <a:gd name="connsiteX0" fmla="*/ 1828800 w 1828800"/>
              <a:gd name="connsiteY0" fmla="*/ 914400 h 914400"/>
              <a:gd name="connsiteX1" fmla="*/ 1828800 w 1828800"/>
              <a:gd name="connsiteY1" fmla="*/ 0 h 914400"/>
              <a:gd name="connsiteX2" fmla="*/ 0 w 1828800"/>
              <a:gd name="connsiteY2" fmla="*/ 0 h 914400"/>
              <a:gd name="connsiteX3" fmla="*/ 0 w 1828800"/>
              <a:gd name="connsiteY3" fmla="*/ 914400 h 914400"/>
              <a:gd name="connsiteX4" fmla="*/ 1828800 w 1828800"/>
              <a:gd name="connsiteY4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914400">
                <a:moveTo>
                  <a:pt x="1828800" y="914400"/>
                </a:moveTo>
                <a:lnTo>
                  <a:pt x="1828800" y="0"/>
                </a:lnTo>
                <a:cubicBezTo>
                  <a:pt x="0" y="1219200"/>
                  <a:pt x="1828800" y="1219200"/>
                  <a:pt x="0" y="0"/>
                </a:cubicBezTo>
                <a:lnTo>
                  <a:pt x="0" y="914400"/>
                </a:lnTo>
                <a:lnTo>
                  <a:pt x="1828800" y="914400"/>
                </a:ln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351607" y="5942568"/>
            <a:ext cx="177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x</a:t>
            </a:r>
            <a:r>
              <a:rPr lang="en-US" dirty="0" smtClean="0"/>
              <a:t>² = </a:t>
            </a:r>
            <a:r>
              <a:rPr lang="en-US" i="1" dirty="0" smtClean="0"/>
              <a:t>y</a:t>
            </a:r>
            <a:r>
              <a:rPr lang="en-US" dirty="0" smtClean="0"/>
              <a:t>³ {-1 ≤ x ≤ 1}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5654" y="482347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008515" y="59425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302862" y="59425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836970" y="5942568"/>
            <a:ext cx="30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8057792" y="55400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047484" y="6311900"/>
            <a:ext cx="308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766640" y="6483857"/>
            <a:ext cx="457200" cy="0"/>
          </a:xfrm>
          <a:prstGeom prst="straightConnector1">
            <a:avLst/>
          </a:prstGeom>
          <a:ln w="76200" cap="rnd">
            <a:solidFill>
              <a:schemeClr val="tx1"/>
            </a:solidFill>
            <a:round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4108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construction was found by </a:t>
            </a:r>
            <a:r>
              <a:rPr lang="en-US" dirty="0" err="1" smtClean="0"/>
              <a:t>queuequeue</a:t>
            </a:r>
            <a:r>
              <a:rPr lang="en-US" dirty="0"/>
              <a:t> and Arglin </a:t>
            </a:r>
            <a:r>
              <a:rPr lang="en-US" dirty="0" err="1"/>
              <a:t>Kampling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i="1" dirty="0" smtClean="0"/>
              <a:t>x</a:t>
            </a:r>
            <a:r>
              <a:rPr lang="en-US" dirty="0" smtClean="0"/>
              <a:t>² = </a:t>
            </a:r>
            <a:r>
              <a:rPr lang="en-US" i="1" dirty="0" smtClean="0"/>
              <a:t>y</a:t>
            </a:r>
            <a:r>
              <a:rPr lang="en-US" dirty="0" smtClean="0"/>
              <a:t>³ scales with the </a:t>
            </a:r>
            <a:r>
              <a:rPr lang="en-US" dirty="0"/>
              <a:t>width = </a:t>
            </a:r>
            <a:r>
              <a:rPr lang="en-US" dirty="0" smtClean="0"/>
              <a:t>2</a:t>
            </a:r>
            <a:r>
              <a:rPr lang="en-US" i="1" dirty="0" smtClean="0"/>
              <a:t>n</a:t>
            </a:r>
            <a:r>
              <a:rPr lang="en-US" dirty="0" smtClean="0"/>
              <a:t>³,</a:t>
            </a:r>
            <a:r>
              <a:rPr lang="en-US" i="1" dirty="0" smtClean="0"/>
              <a:t> </a:t>
            </a:r>
            <a:r>
              <a:rPr lang="en-US" dirty="0" smtClean="0"/>
              <a:t>height = </a:t>
            </a:r>
            <a:r>
              <a:rPr lang="en-US" i="1" dirty="0" smtClean="0"/>
              <a:t>n</a:t>
            </a:r>
            <a:r>
              <a:rPr lang="en-US" dirty="0" smtClean="0"/>
              <a:t>²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</a:t>
            </a:r>
            <a:r>
              <a:rPr lang="en-US" dirty="0" smtClean="0"/>
              <a:t>Septic Root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925535" y="5407024"/>
            <a:ext cx="177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x</a:t>
            </a:r>
            <a:r>
              <a:rPr lang="en-US" dirty="0" smtClean="0"/>
              <a:t>² = </a:t>
            </a:r>
            <a:r>
              <a:rPr lang="en-US" i="1" dirty="0" smtClean="0"/>
              <a:t>y</a:t>
            </a:r>
            <a:r>
              <a:rPr lang="en-US" dirty="0" smtClean="0"/>
              <a:t>³ {-1 ≤ x ≤ 1}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730657" y="3488531"/>
            <a:ext cx="184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x</a:t>
            </a:r>
            <a:r>
              <a:rPr lang="en-US" dirty="0" smtClean="0"/>
              <a:t>² = </a:t>
            </a:r>
            <a:r>
              <a:rPr lang="en-US" i="1" dirty="0" smtClean="0"/>
              <a:t>y</a:t>
            </a:r>
            <a:r>
              <a:rPr lang="en-US" dirty="0" smtClean="0"/>
              <a:t>³ {-4 ≤ x ≤ 4}</a:t>
            </a:r>
            <a:endParaRPr lang="en-US" dirty="0"/>
          </a:p>
        </p:txBody>
      </p:sp>
      <p:sp>
        <p:nvSpPr>
          <p:cNvPr id="46" name="Freeform 45"/>
          <p:cNvSpPr/>
          <p:nvPr/>
        </p:nvSpPr>
        <p:spPr>
          <a:xfrm flipH="1">
            <a:off x="3814665" y="3033157"/>
            <a:ext cx="7315200" cy="3657600"/>
          </a:xfrm>
          <a:custGeom>
            <a:avLst/>
            <a:gdLst>
              <a:gd name="connsiteX0" fmla="*/ 0 w 7315200"/>
              <a:gd name="connsiteY0" fmla="*/ 0 h 3657600"/>
              <a:gd name="connsiteX1" fmla="*/ 0 w 7315200"/>
              <a:gd name="connsiteY1" fmla="*/ 3657600 h 3657600"/>
              <a:gd name="connsiteX2" fmla="*/ 7315200 w 7315200"/>
              <a:gd name="connsiteY2" fmla="*/ 3657600 h 3657600"/>
              <a:gd name="connsiteX3" fmla="*/ 0 w 7315200"/>
              <a:gd name="connsiteY3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5200" h="3657600">
                <a:moveTo>
                  <a:pt x="0" y="0"/>
                </a:moveTo>
                <a:lnTo>
                  <a:pt x="0" y="3657600"/>
                </a:lnTo>
                <a:lnTo>
                  <a:pt x="7315200" y="3657600"/>
                </a:lnTo>
                <a:cubicBezTo>
                  <a:pt x="7315200" y="3657600"/>
                  <a:pt x="7315200" y="2438400"/>
                  <a:pt x="0" y="0"/>
                </a:cubicBez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 46"/>
          <p:cNvSpPr/>
          <p:nvPr/>
        </p:nvSpPr>
        <p:spPr>
          <a:xfrm flipH="1">
            <a:off x="908633" y="4766153"/>
            <a:ext cx="2906033" cy="1924605"/>
          </a:xfrm>
          <a:custGeom>
            <a:avLst/>
            <a:gdLst>
              <a:gd name="connsiteX0" fmla="*/ 2792660 w 2906033"/>
              <a:gd name="connsiteY0" fmla="*/ 0 h 1924605"/>
              <a:gd name="connsiteX1" fmla="*/ 2716188 w 2906033"/>
              <a:gd name="connsiteY1" fmla="*/ 35083 h 1924605"/>
              <a:gd name="connsiteX2" fmla="*/ 0 w 2906033"/>
              <a:gd name="connsiteY2" fmla="*/ 1924605 h 1924605"/>
              <a:gd name="connsiteX3" fmla="*/ 2899336 w 2906033"/>
              <a:gd name="connsiteY3" fmla="*/ 1924605 h 1924605"/>
              <a:gd name="connsiteX4" fmla="*/ 2905031 w 2906033"/>
              <a:gd name="connsiteY4" fmla="*/ 1886605 h 1924605"/>
              <a:gd name="connsiteX5" fmla="*/ 2810560 w 2906033"/>
              <a:gd name="connsiteY5" fmla="*/ 751978 h 1924605"/>
              <a:gd name="connsiteX6" fmla="*/ 2810560 w 2906033"/>
              <a:gd name="connsiteY6" fmla="*/ 53745 h 1924605"/>
              <a:gd name="connsiteX7" fmla="*/ 2792660 w 2906033"/>
              <a:gd name="connsiteY7" fmla="*/ 0 h 192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06033" h="1924605">
                <a:moveTo>
                  <a:pt x="2792660" y="0"/>
                </a:moveTo>
                <a:lnTo>
                  <a:pt x="2716188" y="35083"/>
                </a:lnTo>
                <a:cubicBezTo>
                  <a:pt x="0" y="1294765"/>
                  <a:pt x="0" y="1924605"/>
                  <a:pt x="0" y="1924605"/>
                </a:cubicBezTo>
                <a:lnTo>
                  <a:pt x="2899336" y="1924605"/>
                </a:lnTo>
                <a:lnTo>
                  <a:pt x="2905031" y="1886605"/>
                </a:lnTo>
                <a:cubicBezTo>
                  <a:pt x="2928124" y="1508396"/>
                  <a:pt x="2541843" y="1130187"/>
                  <a:pt x="2810560" y="751978"/>
                </a:cubicBezTo>
                <a:cubicBezTo>
                  <a:pt x="2975925" y="519234"/>
                  <a:pt x="2893242" y="286489"/>
                  <a:pt x="2810560" y="53745"/>
                </a:cubicBezTo>
                <a:lnTo>
                  <a:pt x="2792660" y="0"/>
                </a:ln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 flipH="1">
            <a:off x="2900265" y="5776357"/>
            <a:ext cx="1828800" cy="914400"/>
          </a:xfrm>
          <a:custGeom>
            <a:avLst/>
            <a:gdLst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3657600 h 8229600"/>
              <a:gd name="connsiteX4" fmla="*/ 0 w 16459199"/>
              <a:gd name="connsiteY4" fmla="*/ 7315200 h 8229600"/>
              <a:gd name="connsiteX5" fmla="*/ 0 w 16459199"/>
              <a:gd name="connsiteY5" fmla="*/ 8229600 h 8229600"/>
              <a:gd name="connsiteX6" fmla="*/ 5486400 w 16459199"/>
              <a:gd name="connsiteY6" fmla="*/ 8229600 h 8229600"/>
              <a:gd name="connsiteX7" fmla="*/ 7315200 w 16459199"/>
              <a:gd name="connsiteY7" fmla="*/ 8229600 h 8229600"/>
              <a:gd name="connsiteX8" fmla="*/ 16459199 w 16459199"/>
              <a:gd name="connsiteY8" fmla="*/ 8229600 h 8229600"/>
              <a:gd name="connsiteX9" fmla="*/ 16459199 w 16459199"/>
              <a:gd name="connsiteY9" fmla="*/ 7315200 h 8229600"/>
              <a:gd name="connsiteX10" fmla="*/ 16459199 w 16459199"/>
              <a:gd name="connsiteY10" fmla="*/ 7315200 h 8229600"/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3657600 h 8229600"/>
              <a:gd name="connsiteX4" fmla="*/ 0 w 16459199"/>
              <a:gd name="connsiteY4" fmla="*/ 7315200 h 8229600"/>
              <a:gd name="connsiteX5" fmla="*/ 0 w 16459199"/>
              <a:gd name="connsiteY5" fmla="*/ 8229600 h 8229600"/>
              <a:gd name="connsiteX6" fmla="*/ 5486400 w 16459199"/>
              <a:gd name="connsiteY6" fmla="*/ 8229600 h 8229600"/>
              <a:gd name="connsiteX7" fmla="*/ 7315200 w 16459199"/>
              <a:gd name="connsiteY7" fmla="*/ 8229600 h 8229600"/>
              <a:gd name="connsiteX8" fmla="*/ 16459199 w 16459199"/>
              <a:gd name="connsiteY8" fmla="*/ 8229600 h 8229600"/>
              <a:gd name="connsiteX9" fmla="*/ 16459199 w 16459199"/>
              <a:gd name="connsiteY9" fmla="*/ 7315200 h 8229600"/>
              <a:gd name="connsiteX10" fmla="*/ 16459199 w 16459199"/>
              <a:gd name="connsiteY10" fmla="*/ 7315200 h 8229600"/>
              <a:gd name="connsiteX11" fmla="*/ 16459199 w 16459199"/>
              <a:gd name="connsiteY11" fmla="*/ 0 h 8229600"/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3657600 h 8229600"/>
              <a:gd name="connsiteX4" fmla="*/ 0 w 16459199"/>
              <a:gd name="connsiteY4" fmla="*/ 7315200 h 8229600"/>
              <a:gd name="connsiteX5" fmla="*/ 0 w 16459199"/>
              <a:gd name="connsiteY5" fmla="*/ 8229600 h 8229600"/>
              <a:gd name="connsiteX6" fmla="*/ 5486400 w 16459199"/>
              <a:gd name="connsiteY6" fmla="*/ 8229600 h 8229600"/>
              <a:gd name="connsiteX7" fmla="*/ 7315200 w 16459199"/>
              <a:gd name="connsiteY7" fmla="*/ 8229600 h 8229600"/>
              <a:gd name="connsiteX8" fmla="*/ 16459199 w 16459199"/>
              <a:gd name="connsiteY8" fmla="*/ 8229600 h 8229600"/>
              <a:gd name="connsiteX9" fmla="*/ 16459199 w 16459199"/>
              <a:gd name="connsiteY9" fmla="*/ 7315200 h 8229600"/>
              <a:gd name="connsiteX10" fmla="*/ 16459199 w 16459199"/>
              <a:gd name="connsiteY10" fmla="*/ 7315200 h 8229600"/>
              <a:gd name="connsiteX11" fmla="*/ 16459199 w 16459199"/>
              <a:gd name="connsiteY11" fmla="*/ 0 h 8229600"/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7315200 h 8229600"/>
              <a:gd name="connsiteX4" fmla="*/ 0 w 16459199"/>
              <a:gd name="connsiteY4" fmla="*/ 8229600 h 8229600"/>
              <a:gd name="connsiteX5" fmla="*/ 5486400 w 16459199"/>
              <a:gd name="connsiteY5" fmla="*/ 8229600 h 8229600"/>
              <a:gd name="connsiteX6" fmla="*/ 7315200 w 16459199"/>
              <a:gd name="connsiteY6" fmla="*/ 8229600 h 8229600"/>
              <a:gd name="connsiteX7" fmla="*/ 16459199 w 16459199"/>
              <a:gd name="connsiteY7" fmla="*/ 8229600 h 8229600"/>
              <a:gd name="connsiteX8" fmla="*/ 16459199 w 16459199"/>
              <a:gd name="connsiteY8" fmla="*/ 7315200 h 8229600"/>
              <a:gd name="connsiteX9" fmla="*/ 16459199 w 16459199"/>
              <a:gd name="connsiteY9" fmla="*/ 7315200 h 8229600"/>
              <a:gd name="connsiteX10" fmla="*/ 16459199 w 16459199"/>
              <a:gd name="connsiteY10" fmla="*/ 0 h 8229600"/>
              <a:gd name="connsiteX0" fmla="*/ 16459199 w 16459199"/>
              <a:gd name="connsiteY0" fmla="*/ 0 h 8229600"/>
              <a:gd name="connsiteX1" fmla="*/ 7315200 w 16459199"/>
              <a:gd name="connsiteY1" fmla="*/ 7315200 h 8229600"/>
              <a:gd name="connsiteX2" fmla="*/ 5486400 w 16459199"/>
              <a:gd name="connsiteY2" fmla="*/ 7315200 h 8229600"/>
              <a:gd name="connsiteX3" fmla="*/ 0 w 16459199"/>
              <a:gd name="connsiteY3" fmla="*/ 8229600 h 8229600"/>
              <a:gd name="connsiteX4" fmla="*/ 5486400 w 16459199"/>
              <a:gd name="connsiteY4" fmla="*/ 8229600 h 8229600"/>
              <a:gd name="connsiteX5" fmla="*/ 7315200 w 16459199"/>
              <a:gd name="connsiteY5" fmla="*/ 8229600 h 8229600"/>
              <a:gd name="connsiteX6" fmla="*/ 16459199 w 16459199"/>
              <a:gd name="connsiteY6" fmla="*/ 8229600 h 8229600"/>
              <a:gd name="connsiteX7" fmla="*/ 16459199 w 16459199"/>
              <a:gd name="connsiteY7" fmla="*/ 7315200 h 8229600"/>
              <a:gd name="connsiteX8" fmla="*/ 16459199 w 16459199"/>
              <a:gd name="connsiteY8" fmla="*/ 7315200 h 8229600"/>
              <a:gd name="connsiteX9" fmla="*/ 16459199 w 16459199"/>
              <a:gd name="connsiteY9" fmla="*/ 0 h 8229600"/>
              <a:gd name="connsiteX0" fmla="*/ 10972799 w 10972799"/>
              <a:gd name="connsiteY0" fmla="*/ 0 h 8229600"/>
              <a:gd name="connsiteX1" fmla="*/ 1828800 w 10972799"/>
              <a:gd name="connsiteY1" fmla="*/ 7315200 h 8229600"/>
              <a:gd name="connsiteX2" fmla="*/ 0 w 10972799"/>
              <a:gd name="connsiteY2" fmla="*/ 7315200 h 8229600"/>
              <a:gd name="connsiteX3" fmla="*/ 0 w 10972799"/>
              <a:gd name="connsiteY3" fmla="*/ 8229600 h 8229600"/>
              <a:gd name="connsiteX4" fmla="*/ 1828800 w 10972799"/>
              <a:gd name="connsiteY4" fmla="*/ 8229600 h 8229600"/>
              <a:gd name="connsiteX5" fmla="*/ 10972799 w 10972799"/>
              <a:gd name="connsiteY5" fmla="*/ 8229600 h 8229600"/>
              <a:gd name="connsiteX6" fmla="*/ 10972799 w 10972799"/>
              <a:gd name="connsiteY6" fmla="*/ 7315200 h 8229600"/>
              <a:gd name="connsiteX7" fmla="*/ 10972799 w 10972799"/>
              <a:gd name="connsiteY7" fmla="*/ 7315200 h 8229600"/>
              <a:gd name="connsiteX8" fmla="*/ 10972799 w 10972799"/>
              <a:gd name="connsiteY8" fmla="*/ 0 h 8229600"/>
              <a:gd name="connsiteX0" fmla="*/ 10972799 w 10972799"/>
              <a:gd name="connsiteY0" fmla="*/ 0 h 914400"/>
              <a:gd name="connsiteX1" fmla="*/ 1828800 w 10972799"/>
              <a:gd name="connsiteY1" fmla="*/ 0 h 914400"/>
              <a:gd name="connsiteX2" fmla="*/ 0 w 10972799"/>
              <a:gd name="connsiteY2" fmla="*/ 0 h 914400"/>
              <a:gd name="connsiteX3" fmla="*/ 0 w 10972799"/>
              <a:gd name="connsiteY3" fmla="*/ 914400 h 914400"/>
              <a:gd name="connsiteX4" fmla="*/ 1828800 w 10972799"/>
              <a:gd name="connsiteY4" fmla="*/ 914400 h 914400"/>
              <a:gd name="connsiteX5" fmla="*/ 10972799 w 10972799"/>
              <a:gd name="connsiteY5" fmla="*/ 914400 h 914400"/>
              <a:gd name="connsiteX6" fmla="*/ 10972799 w 10972799"/>
              <a:gd name="connsiteY6" fmla="*/ 0 h 914400"/>
              <a:gd name="connsiteX7" fmla="*/ 10972799 w 10972799"/>
              <a:gd name="connsiteY7" fmla="*/ 0 h 914400"/>
              <a:gd name="connsiteX0" fmla="*/ 10972799 w 10972799"/>
              <a:gd name="connsiteY0" fmla="*/ 0 h 914400"/>
              <a:gd name="connsiteX1" fmla="*/ 1828800 w 10972799"/>
              <a:gd name="connsiteY1" fmla="*/ 0 h 914400"/>
              <a:gd name="connsiteX2" fmla="*/ 0 w 10972799"/>
              <a:gd name="connsiteY2" fmla="*/ 0 h 914400"/>
              <a:gd name="connsiteX3" fmla="*/ 0 w 10972799"/>
              <a:gd name="connsiteY3" fmla="*/ 914400 h 914400"/>
              <a:gd name="connsiteX4" fmla="*/ 1828800 w 10972799"/>
              <a:gd name="connsiteY4" fmla="*/ 914400 h 914400"/>
              <a:gd name="connsiteX5" fmla="*/ 10972799 w 10972799"/>
              <a:gd name="connsiteY5" fmla="*/ 914400 h 914400"/>
              <a:gd name="connsiteX6" fmla="*/ 10972799 w 10972799"/>
              <a:gd name="connsiteY6" fmla="*/ 0 h 914400"/>
              <a:gd name="connsiteX0" fmla="*/ 10972799 w 10972799"/>
              <a:gd name="connsiteY0" fmla="*/ 0 h 914400"/>
              <a:gd name="connsiteX1" fmla="*/ 1828800 w 10972799"/>
              <a:gd name="connsiteY1" fmla="*/ 0 h 914400"/>
              <a:gd name="connsiteX2" fmla="*/ 0 w 10972799"/>
              <a:gd name="connsiteY2" fmla="*/ 0 h 914400"/>
              <a:gd name="connsiteX3" fmla="*/ 0 w 10972799"/>
              <a:gd name="connsiteY3" fmla="*/ 914400 h 914400"/>
              <a:gd name="connsiteX4" fmla="*/ 1828800 w 10972799"/>
              <a:gd name="connsiteY4" fmla="*/ 914400 h 914400"/>
              <a:gd name="connsiteX5" fmla="*/ 10972799 w 10972799"/>
              <a:gd name="connsiteY5" fmla="*/ 0 h 914400"/>
              <a:gd name="connsiteX0" fmla="*/ 1828800 w 1828800"/>
              <a:gd name="connsiteY0" fmla="*/ 914400 h 914400"/>
              <a:gd name="connsiteX1" fmla="*/ 1828800 w 1828800"/>
              <a:gd name="connsiteY1" fmla="*/ 0 h 914400"/>
              <a:gd name="connsiteX2" fmla="*/ 0 w 1828800"/>
              <a:gd name="connsiteY2" fmla="*/ 0 h 914400"/>
              <a:gd name="connsiteX3" fmla="*/ 0 w 1828800"/>
              <a:gd name="connsiteY3" fmla="*/ 914400 h 914400"/>
              <a:gd name="connsiteX4" fmla="*/ 1828800 w 1828800"/>
              <a:gd name="connsiteY4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914400">
                <a:moveTo>
                  <a:pt x="1828800" y="914400"/>
                </a:moveTo>
                <a:lnTo>
                  <a:pt x="1828800" y="0"/>
                </a:lnTo>
                <a:cubicBezTo>
                  <a:pt x="0" y="1219200"/>
                  <a:pt x="1828800" y="1219200"/>
                  <a:pt x="0" y="0"/>
                </a:cubicBezTo>
                <a:lnTo>
                  <a:pt x="0" y="914400"/>
                </a:lnTo>
                <a:lnTo>
                  <a:pt x="1828800" y="914400"/>
                </a:ln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927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construction was found by </a:t>
            </a:r>
            <a:r>
              <a:rPr lang="en-US" dirty="0" err="1" smtClean="0"/>
              <a:t>queuequeue</a:t>
            </a:r>
            <a:r>
              <a:rPr lang="en-US" dirty="0"/>
              <a:t> and Arglin </a:t>
            </a:r>
            <a:r>
              <a:rPr lang="en-US" dirty="0" err="1"/>
              <a:t>Kampling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smtClean="0"/>
              <a:t>Get the intersection of </a:t>
            </a:r>
            <a:r>
              <a:rPr lang="en-US" i="1" dirty="0" smtClean="0"/>
              <a:t>x</a:t>
            </a:r>
            <a:r>
              <a:rPr lang="en-US" dirty="0" smtClean="0"/>
              <a:t>² = </a:t>
            </a:r>
            <a:r>
              <a:rPr lang="en-US" i="1" dirty="0" smtClean="0"/>
              <a:t>y</a:t>
            </a:r>
            <a:r>
              <a:rPr lang="en-US" dirty="0" smtClean="0"/>
              <a:t>³ and </a:t>
            </a:r>
            <a:r>
              <a:rPr lang="en-US" i="1" dirty="0" smtClean="0"/>
              <a:t>y</a:t>
            </a:r>
            <a:r>
              <a:rPr lang="en-US" dirty="0" smtClean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³ / </a:t>
            </a:r>
            <a:r>
              <a:rPr lang="en-US" i="1" dirty="0" smtClean="0"/>
              <a:t>k</a:t>
            </a:r>
            <a:r>
              <a:rPr lang="en-US" dirty="0" smtClean="0"/>
              <a:t>, then get the square root.</a:t>
            </a:r>
            <a:endParaRPr lang="en-US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 dirty="0"/>
              <a:t>of </a:t>
            </a:r>
            <a:r>
              <a:rPr lang="en-US" dirty="0" smtClean="0"/>
              <a:t>Septic Root</a:t>
            </a:r>
            <a:endParaRPr lang="en-US" dirty="0"/>
          </a:p>
        </p:txBody>
      </p:sp>
      <p:sp>
        <p:nvSpPr>
          <p:cNvPr id="46" name="Freeform 45"/>
          <p:cNvSpPr/>
          <p:nvPr/>
        </p:nvSpPr>
        <p:spPr>
          <a:xfrm flipH="1">
            <a:off x="264172" y="2972314"/>
            <a:ext cx="7315200" cy="3657600"/>
          </a:xfrm>
          <a:custGeom>
            <a:avLst/>
            <a:gdLst>
              <a:gd name="connsiteX0" fmla="*/ 0 w 7315200"/>
              <a:gd name="connsiteY0" fmla="*/ 0 h 3657600"/>
              <a:gd name="connsiteX1" fmla="*/ 0 w 7315200"/>
              <a:gd name="connsiteY1" fmla="*/ 3657600 h 3657600"/>
              <a:gd name="connsiteX2" fmla="*/ 7315200 w 7315200"/>
              <a:gd name="connsiteY2" fmla="*/ 3657600 h 3657600"/>
              <a:gd name="connsiteX3" fmla="*/ 0 w 7315200"/>
              <a:gd name="connsiteY3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5200" h="3657600">
                <a:moveTo>
                  <a:pt x="0" y="0"/>
                </a:moveTo>
                <a:lnTo>
                  <a:pt x="0" y="3657600"/>
                </a:lnTo>
                <a:lnTo>
                  <a:pt x="7315200" y="3657600"/>
                </a:lnTo>
                <a:cubicBezTo>
                  <a:pt x="7315200" y="3657600"/>
                  <a:pt x="7315200" y="2438400"/>
                  <a:pt x="0" y="0"/>
                </a:cubicBez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264172" y="4188466"/>
            <a:ext cx="1828800" cy="2441448"/>
          </a:xfrm>
          <a:custGeom>
            <a:avLst/>
            <a:gdLst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2743200 w 2743200"/>
              <a:gd name="connsiteY0" fmla="*/ 0 h 4572000"/>
              <a:gd name="connsiteX1" fmla="*/ 2743200 w 2743200"/>
              <a:gd name="connsiteY1" fmla="*/ 2743200 h 4572000"/>
              <a:gd name="connsiteX2" fmla="*/ 2743200 w 2743200"/>
              <a:gd name="connsiteY2" fmla="*/ 3657600 h 4572000"/>
              <a:gd name="connsiteX3" fmla="*/ 2743200 w 2743200"/>
              <a:gd name="connsiteY3" fmla="*/ 4572000 h 4572000"/>
              <a:gd name="connsiteX4" fmla="*/ 1828800 w 2743200"/>
              <a:gd name="connsiteY4" fmla="*/ 4572000 h 4572000"/>
              <a:gd name="connsiteX5" fmla="*/ 914400 w 2743200"/>
              <a:gd name="connsiteY5" fmla="*/ 4572000 h 4572000"/>
              <a:gd name="connsiteX6" fmla="*/ 0 w 2743200"/>
              <a:gd name="connsiteY6" fmla="*/ 4572000 h 4572000"/>
              <a:gd name="connsiteX7" fmla="*/ 0 w 2743200"/>
              <a:gd name="connsiteY7" fmla="*/ 3657600 h 4572000"/>
              <a:gd name="connsiteX8" fmla="*/ 0 w 2743200"/>
              <a:gd name="connsiteY8" fmla="*/ 2743200 h 4572000"/>
              <a:gd name="connsiteX9" fmla="*/ 914400 w 2743200"/>
              <a:gd name="connsiteY9" fmla="*/ 3657600 h 4572000"/>
              <a:gd name="connsiteX10" fmla="*/ 1828800 w 2743200"/>
              <a:gd name="connsiteY10" fmla="*/ 2743200 h 4572000"/>
              <a:gd name="connsiteX11" fmla="*/ 2743200 w 2743200"/>
              <a:gd name="connsiteY11" fmla="*/ 0 h 45720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914400"/>
                  <a:pt x="914400" y="0"/>
                </a:cubicBez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221380" y="3714186"/>
            <a:ext cx="2915728" cy="2915728"/>
          </a:xfrm>
          <a:prstGeom prst="rect">
            <a:avLst/>
          </a:prstGeom>
          <a:solidFill>
            <a:schemeClr val="accent1"/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/>
              <a:t>k</a:t>
            </a:r>
            <a:endParaRPr lang="en-US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6372285" y="5658005"/>
            <a:ext cx="971909" cy="97190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26579" y="5380132"/>
            <a:ext cx="1249782" cy="1249782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/>
              <a:t>k</a:t>
            </a:r>
            <a:r>
              <a:rPr lang="en-US" baseline="30000" dirty="0" smtClean="0"/>
              <a:t>2/7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85671" y="4599633"/>
            <a:ext cx="970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x</a:t>
            </a:r>
            <a:r>
              <a:rPr lang="en-US" dirty="0"/>
              <a:t>³ / </a:t>
            </a:r>
            <a:r>
              <a:rPr lang="en-US" i="1" dirty="0"/>
              <a:t>k</a:t>
            </a:r>
            <a:endParaRPr lang="en-US" i="1" dirty="0"/>
          </a:p>
        </p:txBody>
      </p:sp>
      <p:sp>
        <p:nvSpPr>
          <p:cNvPr id="25" name="Rectangle 24"/>
          <p:cNvSpPr/>
          <p:nvPr/>
        </p:nvSpPr>
        <p:spPr>
          <a:xfrm>
            <a:off x="2262329" y="4414967"/>
            <a:ext cx="7649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x</a:t>
            </a:r>
            <a:r>
              <a:rPr lang="en-US" dirty="0" smtClean="0"/>
              <a:t>² </a:t>
            </a:r>
            <a:r>
              <a:rPr lang="en-US" dirty="0"/>
              <a:t>= </a:t>
            </a:r>
            <a:r>
              <a:rPr lang="en-US" i="1" dirty="0" smtClean="0"/>
              <a:t>y</a:t>
            </a:r>
            <a:r>
              <a:rPr lang="en-US" dirty="0" smtClean="0"/>
              <a:t>³</a:t>
            </a:r>
            <a:endParaRPr lang="en-US" i="1" dirty="0"/>
          </a:p>
        </p:txBody>
      </p:sp>
      <p:sp>
        <p:nvSpPr>
          <p:cNvPr id="26" name="Rectangle 25"/>
          <p:cNvSpPr/>
          <p:nvPr/>
        </p:nvSpPr>
        <p:spPr>
          <a:xfrm>
            <a:off x="8082889" y="5380132"/>
            <a:ext cx="1249782" cy="1249782"/>
          </a:xfrm>
          <a:prstGeom prst="rect">
            <a:avLst/>
          </a:prstGeom>
          <a:solidFill>
            <a:schemeClr val="accent2">
              <a:lumMod val="50000"/>
            </a:scheme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/>
              <a:t>k</a:t>
            </a:r>
            <a:r>
              <a:rPr lang="en-US" baseline="30000" dirty="0" smtClean="0"/>
              <a:t>2/7</a:t>
            </a:r>
            <a:endParaRPr lang="en-US" dirty="0"/>
          </a:p>
        </p:txBody>
      </p:sp>
      <p:sp>
        <p:nvSpPr>
          <p:cNvPr id="27" name="Freeform 26"/>
          <p:cNvSpPr/>
          <p:nvPr/>
        </p:nvSpPr>
        <p:spPr>
          <a:xfrm rot="5400000" flipH="1">
            <a:off x="8992526" y="3886714"/>
            <a:ext cx="1828800" cy="3657600"/>
          </a:xfrm>
          <a:custGeom>
            <a:avLst/>
            <a:gdLst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2743200 w 2743200"/>
              <a:gd name="connsiteY0" fmla="*/ 0 h 3657600"/>
              <a:gd name="connsiteX1" fmla="*/ 2743200 w 2743200"/>
              <a:gd name="connsiteY1" fmla="*/ 1828800 h 3657600"/>
              <a:gd name="connsiteX2" fmla="*/ 2743200 w 2743200"/>
              <a:gd name="connsiteY2" fmla="*/ 2743200 h 3657600"/>
              <a:gd name="connsiteX3" fmla="*/ 2743200 w 2743200"/>
              <a:gd name="connsiteY3" fmla="*/ 3657600 h 3657600"/>
              <a:gd name="connsiteX4" fmla="*/ 1828800 w 2743200"/>
              <a:gd name="connsiteY4" fmla="*/ 3657600 h 3657600"/>
              <a:gd name="connsiteX5" fmla="*/ 914400 w 2743200"/>
              <a:gd name="connsiteY5" fmla="*/ 3657600 h 3657600"/>
              <a:gd name="connsiteX6" fmla="*/ 0 w 2743200"/>
              <a:gd name="connsiteY6" fmla="*/ 3657600 h 3657600"/>
              <a:gd name="connsiteX7" fmla="*/ 0 w 2743200"/>
              <a:gd name="connsiteY7" fmla="*/ 2743200 h 3657600"/>
              <a:gd name="connsiteX8" fmla="*/ 0 w 2743200"/>
              <a:gd name="connsiteY8" fmla="*/ 1828800 h 3657600"/>
              <a:gd name="connsiteX9" fmla="*/ 914400 w 2743200"/>
              <a:gd name="connsiteY9" fmla="*/ 2743200 h 3657600"/>
              <a:gd name="connsiteX10" fmla="*/ 1828800 w 2743200"/>
              <a:gd name="connsiteY10" fmla="*/ 1828800 h 3657600"/>
              <a:gd name="connsiteX11" fmla="*/ 2743200 w 2743200"/>
              <a:gd name="connsiteY11" fmla="*/ 0 h 3657600"/>
              <a:gd name="connsiteX0" fmla="*/ 1828800 w 2743200"/>
              <a:gd name="connsiteY0" fmla="*/ 0 h 1828800"/>
              <a:gd name="connsiteX1" fmla="*/ 2743200 w 2743200"/>
              <a:gd name="connsiteY1" fmla="*/ 0 h 1828800"/>
              <a:gd name="connsiteX2" fmla="*/ 2743200 w 2743200"/>
              <a:gd name="connsiteY2" fmla="*/ 914400 h 1828800"/>
              <a:gd name="connsiteX3" fmla="*/ 2743200 w 2743200"/>
              <a:gd name="connsiteY3" fmla="*/ 1828800 h 1828800"/>
              <a:gd name="connsiteX4" fmla="*/ 1828800 w 2743200"/>
              <a:gd name="connsiteY4" fmla="*/ 1828800 h 1828800"/>
              <a:gd name="connsiteX5" fmla="*/ 914400 w 2743200"/>
              <a:gd name="connsiteY5" fmla="*/ 1828800 h 1828800"/>
              <a:gd name="connsiteX6" fmla="*/ 0 w 2743200"/>
              <a:gd name="connsiteY6" fmla="*/ 1828800 h 1828800"/>
              <a:gd name="connsiteX7" fmla="*/ 0 w 2743200"/>
              <a:gd name="connsiteY7" fmla="*/ 914400 h 1828800"/>
              <a:gd name="connsiteX8" fmla="*/ 0 w 2743200"/>
              <a:gd name="connsiteY8" fmla="*/ 0 h 1828800"/>
              <a:gd name="connsiteX9" fmla="*/ 914400 w 2743200"/>
              <a:gd name="connsiteY9" fmla="*/ 914400 h 1828800"/>
              <a:gd name="connsiteX10" fmla="*/ 1828800 w 2743200"/>
              <a:gd name="connsiteY10" fmla="*/ 0 h 1828800"/>
              <a:gd name="connsiteX0" fmla="*/ 1828800 w 2743200"/>
              <a:gd name="connsiteY0" fmla="*/ 0 h 1828800"/>
              <a:gd name="connsiteX1" fmla="*/ 2743200 w 2743200"/>
              <a:gd name="connsiteY1" fmla="*/ 914400 h 1828800"/>
              <a:gd name="connsiteX2" fmla="*/ 2743200 w 2743200"/>
              <a:gd name="connsiteY2" fmla="*/ 1828800 h 1828800"/>
              <a:gd name="connsiteX3" fmla="*/ 1828800 w 2743200"/>
              <a:gd name="connsiteY3" fmla="*/ 1828800 h 1828800"/>
              <a:gd name="connsiteX4" fmla="*/ 914400 w 2743200"/>
              <a:gd name="connsiteY4" fmla="*/ 1828800 h 1828800"/>
              <a:gd name="connsiteX5" fmla="*/ 0 w 2743200"/>
              <a:gd name="connsiteY5" fmla="*/ 1828800 h 1828800"/>
              <a:gd name="connsiteX6" fmla="*/ 0 w 2743200"/>
              <a:gd name="connsiteY6" fmla="*/ 914400 h 1828800"/>
              <a:gd name="connsiteX7" fmla="*/ 0 w 2743200"/>
              <a:gd name="connsiteY7" fmla="*/ 0 h 1828800"/>
              <a:gd name="connsiteX8" fmla="*/ 914400 w 2743200"/>
              <a:gd name="connsiteY8" fmla="*/ 914400 h 1828800"/>
              <a:gd name="connsiteX9" fmla="*/ 1828800 w 2743200"/>
              <a:gd name="connsiteY9" fmla="*/ 0 h 1828800"/>
              <a:gd name="connsiteX0" fmla="*/ 1828800 w 2743200"/>
              <a:gd name="connsiteY0" fmla="*/ 0 h 1828800"/>
              <a:gd name="connsiteX1" fmla="*/ 2743200 w 2743200"/>
              <a:gd name="connsiteY1" fmla="*/ 1828800 h 1828800"/>
              <a:gd name="connsiteX2" fmla="*/ 1828800 w 2743200"/>
              <a:gd name="connsiteY2" fmla="*/ 1828800 h 1828800"/>
              <a:gd name="connsiteX3" fmla="*/ 914400 w 2743200"/>
              <a:gd name="connsiteY3" fmla="*/ 1828800 h 1828800"/>
              <a:gd name="connsiteX4" fmla="*/ 0 w 2743200"/>
              <a:gd name="connsiteY4" fmla="*/ 1828800 h 1828800"/>
              <a:gd name="connsiteX5" fmla="*/ 0 w 2743200"/>
              <a:gd name="connsiteY5" fmla="*/ 914400 h 1828800"/>
              <a:gd name="connsiteX6" fmla="*/ 0 w 2743200"/>
              <a:gd name="connsiteY6" fmla="*/ 0 h 1828800"/>
              <a:gd name="connsiteX7" fmla="*/ 914400 w 2743200"/>
              <a:gd name="connsiteY7" fmla="*/ 914400 h 1828800"/>
              <a:gd name="connsiteX8" fmla="*/ 1828800 w 2743200"/>
              <a:gd name="connsiteY8" fmla="*/ 0 h 1828800"/>
              <a:gd name="connsiteX0" fmla="*/ 1828800 w 1828800"/>
              <a:gd name="connsiteY0" fmla="*/ 0 h 1828800"/>
              <a:gd name="connsiteX1" fmla="*/ 1828800 w 1828800"/>
              <a:gd name="connsiteY1" fmla="*/ 1828800 h 1828800"/>
              <a:gd name="connsiteX2" fmla="*/ 9144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914400 h 1828800"/>
              <a:gd name="connsiteX5" fmla="*/ 0 w 1828800"/>
              <a:gd name="connsiteY5" fmla="*/ 0 h 1828800"/>
              <a:gd name="connsiteX6" fmla="*/ 914400 w 1828800"/>
              <a:gd name="connsiteY6" fmla="*/ 914400 h 1828800"/>
              <a:gd name="connsiteX7" fmla="*/ 1828800 w 1828800"/>
              <a:gd name="connsiteY7" fmla="*/ 0 h 1828800"/>
              <a:gd name="connsiteX0" fmla="*/ 1828800 w 1828800"/>
              <a:gd name="connsiteY0" fmla="*/ 0 h 1828800"/>
              <a:gd name="connsiteX1" fmla="*/ 9144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914400 h 1828800"/>
              <a:gd name="connsiteX4" fmla="*/ 0 w 1828800"/>
              <a:gd name="connsiteY4" fmla="*/ 0 h 1828800"/>
              <a:gd name="connsiteX5" fmla="*/ 914400 w 1828800"/>
              <a:gd name="connsiteY5" fmla="*/ 914400 h 1828800"/>
              <a:gd name="connsiteX6" fmla="*/ 1828800 w 1828800"/>
              <a:gd name="connsiteY6" fmla="*/ 0 h 1828800"/>
              <a:gd name="connsiteX0" fmla="*/ 1828800 w 1828800"/>
              <a:gd name="connsiteY0" fmla="*/ 0 h 1828800"/>
              <a:gd name="connsiteX1" fmla="*/ 0 w 1828800"/>
              <a:gd name="connsiteY1" fmla="*/ 1828800 h 1828800"/>
              <a:gd name="connsiteX2" fmla="*/ 0 w 1828800"/>
              <a:gd name="connsiteY2" fmla="*/ 914400 h 1828800"/>
              <a:gd name="connsiteX3" fmla="*/ 0 w 1828800"/>
              <a:gd name="connsiteY3" fmla="*/ 0 h 1828800"/>
              <a:gd name="connsiteX4" fmla="*/ 914400 w 1828800"/>
              <a:gd name="connsiteY4" fmla="*/ 914400 h 1828800"/>
              <a:gd name="connsiteX5" fmla="*/ 1828800 w 1828800"/>
              <a:gd name="connsiteY5" fmla="*/ 0 h 1828800"/>
              <a:gd name="connsiteX0" fmla="*/ 1828800 w 1828800"/>
              <a:gd name="connsiteY0" fmla="*/ 0 h 914400"/>
              <a:gd name="connsiteX1" fmla="*/ 0 w 1828800"/>
              <a:gd name="connsiteY1" fmla="*/ 914400 h 914400"/>
              <a:gd name="connsiteX2" fmla="*/ 0 w 1828800"/>
              <a:gd name="connsiteY2" fmla="*/ 0 h 914400"/>
              <a:gd name="connsiteX3" fmla="*/ 914400 w 1828800"/>
              <a:gd name="connsiteY3" fmla="*/ 914400 h 914400"/>
              <a:gd name="connsiteX4" fmla="*/ 1828800 w 1828800"/>
              <a:gd name="connsiteY4" fmla="*/ 0 h 914400"/>
              <a:gd name="connsiteX0" fmla="*/ 1828800 w 1828800"/>
              <a:gd name="connsiteY0" fmla="*/ 0 h 914400"/>
              <a:gd name="connsiteX1" fmla="*/ 0 w 1828800"/>
              <a:gd name="connsiteY1" fmla="*/ 0 h 914400"/>
              <a:gd name="connsiteX2" fmla="*/ 914400 w 1828800"/>
              <a:gd name="connsiteY2" fmla="*/ 914400 h 914400"/>
              <a:gd name="connsiteX3" fmla="*/ 1828800 w 1828800"/>
              <a:gd name="connsiteY3" fmla="*/ 0 h 914400"/>
              <a:gd name="connsiteX0" fmla="*/ 914400 w 914400"/>
              <a:gd name="connsiteY0" fmla="*/ 0 h 914400"/>
              <a:gd name="connsiteX1" fmla="*/ 0 w 914400"/>
              <a:gd name="connsiteY1" fmla="*/ 914400 h 914400"/>
              <a:gd name="connsiteX2" fmla="*/ 914400 w 914400"/>
              <a:gd name="connsiteY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  <a:cubicBezTo>
                  <a:pt x="304800" y="914400"/>
                  <a:pt x="609600" y="609600"/>
                  <a:pt x="914400" y="0"/>
                </a:cubicBezTo>
                <a:close/>
              </a:path>
            </a:pathLst>
          </a:custGeom>
          <a:solidFill>
            <a:srgbClr val="92D050">
              <a:alpha val="50196"/>
            </a:srgbClr>
          </a:solidFill>
          <a:ln cap="rnd">
            <a:solidFill>
              <a:srgbClr val="042433"/>
            </a:solidFill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604114-11CF-EF8F-1BBD-4B99A6C7A8D1}"/>
              </a:ext>
            </a:extLst>
          </p:cNvPr>
          <p:cNvSpPr/>
          <p:nvPr/>
        </p:nvSpPr>
        <p:spPr>
          <a:xfrm>
            <a:off x="9332671" y="5562645"/>
            <a:ext cx="1067269" cy="1067269"/>
          </a:xfrm>
          <a:prstGeom prst="rect">
            <a:avLst/>
          </a:prstGeom>
          <a:ln cap="rnd"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⁷√</a:t>
            </a:r>
            <a:r>
              <a:rPr lang="en-US" i="1" dirty="0" smtClean="0"/>
              <a:t>k</a:t>
            </a:r>
            <a:endParaRPr lang="en-US" i="1" dirty="0"/>
          </a:p>
        </p:txBody>
      </p:sp>
      <p:sp>
        <p:nvSpPr>
          <p:cNvPr id="32" name="Rectangle 31"/>
          <p:cNvSpPr/>
          <p:nvPr/>
        </p:nvSpPr>
        <p:spPr>
          <a:xfrm>
            <a:off x="10306658" y="4615395"/>
            <a:ext cx="766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dirty="0" smtClean="0"/>
              <a:t>√</a:t>
            </a:r>
            <a:r>
              <a:rPr lang="en-US" i="1" dirty="0"/>
              <a:t>x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78129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 smtClean="0"/>
              <a:t> = </a:t>
            </a:r>
            <a:r>
              <a:rPr lang="en-US" i="1" dirty="0"/>
              <a:t>x</a:t>
            </a:r>
            <a:r>
              <a:rPr lang="en-US" baseline="30000" dirty="0" smtClean="0"/>
              <a:t>3</a:t>
            </a:r>
            <a:r>
              <a:rPr lang="en-US" dirty="0" smtClean="0"/>
              <a:t> / </a:t>
            </a:r>
            <a:r>
              <a:rPr lang="en-US" i="1" dirty="0" smtClean="0"/>
              <a:t>k</a:t>
            </a:r>
            <a:r>
              <a:rPr lang="en-US" dirty="0" smtClean="0"/>
              <a:t>          </a:t>
            </a:r>
            <a:r>
              <a:rPr lang="en-US" i="1" dirty="0" smtClean="0"/>
              <a:t>x</a:t>
            </a:r>
            <a:r>
              <a:rPr lang="en-US" baseline="30000" dirty="0"/>
              <a:t>2</a:t>
            </a:r>
            <a:r>
              <a:rPr lang="en-US" dirty="0" smtClean="0"/>
              <a:t> = </a:t>
            </a:r>
            <a:r>
              <a:rPr lang="en-US" i="1" dirty="0" smtClean="0"/>
              <a:t>y</a:t>
            </a:r>
            <a:r>
              <a:rPr lang="en-US" baseline="30000" dirty="0"/>
              <a:t>3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Given the intersection is positive for </a:t>
            </a:r>
            <a:r>
              <a:rPr lang="en-US" i="1" dirty="0" smtClean="0"/>
              <a:t>x</a:t>
            </a:r>
            <a:r>
              <a:rPr lang="en-US" dirty="0" smtClean="0"/>
              <a:t> and </a:t>
            </a:r>
            <a:r>
              <a:rPr lang="en-US" i="1" dirty="0" smtClean="0"/>
              <a:t>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² = </a:t>
            </a:r>
            <a:r>
              <a:rPr lang="en-US" i="1" dirty="0" smtClean="0"/>
              <a:t>y</a:t>
            </a:r>
            <a:r>
              <a:rPr lang="en-US" dirty="0" smtClean="0"/>
              <a:t>³     →     </a:t>
            </a:r>
            <a:r>
              <a:rPr lang="en-US" i="1" dirty="0" smtClean="0"/>
              <a:t>x</a:t>
            </a:r>
            <a:r>
              <a:rPr lang="en-US" dirty="0" smtClean="0"/>
              <a:t> = </a:t>
            </a:r>
            <a:r>
              <a:rPr lang="en-US" i="1" dirty="0" smtClean="0"/>
              <a:t>y</a:t>
            </a:r>
            <a:r>
              <a:rPr lang="en-US" baseline="30000" dirty="0" smtClean="0"/>
              <a:t>3/2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Substitute into the other equation.</a:t>
            </a:r>
          </a:p>
          <a:p>
            <a:pPr marL="0" indent="0">
              <a:buNone/>
            </a:pPr>
            <a:r>
              <a:rPr lang="en-US" i="1" dirty="0" smtClean="0"/>
              <a:t>y </a:t>
            </a:r>
            <a:r>
              <a:rPr lang="en-US" dirty="0" smtClean="0"/>
              <a:t>= (</a:t>
            </a:r>
            <a:r>
              <a:rPr lang="en-US" i="1" dirty="0" smtClean="0"/>
              <a:t>y</a:t>
            </a:r>
            <a:r>
              <a:rPr lang="en-US" baseline="30000" dirty="0" smtClean="0"/>
              <a:t>3/2</a:t>
            </a:r>
            <a:r>
              <a:rPr lang="en-US" dirty="0" smtClean="0"/>
              <a:t>)</a:t>
            </a:r>
            <a:r>
              <a:rPr lang="en-US" baseline="30000" dirty="0" smtClean="0"/>
              <a:t>3</a:t>
            </a:r>
            <a:r>
              <a:rPr lang="en-US" dirty="0" smtClean="0"/>
              <a:t> / </a:t>
            </a:r>
            <a:r>
              <a:rPr lang="en-US" i="1" dirty="0" smtClean="0"/>
              <a:t>k</a:t>
            </a:r>
            <a:r>
              <a:rPr lang="en-US" dirty="0" smtClean="0"/>
              <a:t>     →     </a:t>
            </a:r>
            <a:r>
              <a:rPr lang="en-US" i="1" dirty="0" smtClean="0"/>
              <a:t>y</a:t>
            </a:r>
            <a:r>
              <a:rPr lang="en-US" dirty="0" smtClean="0"/>
              <a:t> = </a:t>
            </a:r>
            <a:r>
              <a:rPr lang="en-US" i="1" dirty="0" smtClean="0"/>
              <a:t>y</a:t>
            </a:r>
            <a:r>
              <a:rPr lang="en-US" baseline="30000" dirty="0" smtClean="0"/>
              <a:t>9/2</a:t>
            </a:r>
            <a:r>
              <a:rPr lang="en-US" dirty="0"/>
              <a:t> </a:t>
            </a:r>
            <a:r>
              <a:rPr lang="en-US" dirty="0" smtClean="0"/>
              <a:t>/ </a:t>
            </a:r>
            <a:r>
              <a:rPr lang="en-US" i="1" dirty="0" smtClean="0"/>
              <a:t>k</a:t>
            </a:r>
            <a:r>
              <a:rPr lang="en-US" dirty="0" smtClean="0"/>
              <a:t>     →     </a:t>
            </a:r>
            <a:r>
              <a:rPr lang="en-US" i="1" dirty="0" smtClean="0"/>
              <a:t>k</a:t>
            </a:r>
            <a:r>
              <a:rPr lang="en-US" dirty="0" smtClean="0"/>
              <a:t> = </a:t>
            </a:r>
            <a:r>
              <a:rPr lang="en-US" i="1" dirty="0" smtClean="0"/>
              <a:t>y</a:t>
            </a:r>
            <a:r>
              <a:rPr lang="en-US" baseline="30000" dirty="0" smtClean="0"/>
              <a:t>7/2</a:t>
            </a:r>
            <a:r>
              <a:rPr lang="en-US" dirty="0" smtClean="0"/>
              <a:t>     →     </a:t>
            </a:r>
            <a:r>
              <a:rPr lang="en-US" i="1" dirty="0" smtClean="0"/>
              <a:t>y</a:t>
            </a:r>
            <a:r>
              <a:rPr lang="en-US" dirty="0" smtClean="0"/>
              <a:t> = </a:t>
            </a:r>
            <a:r>
              <a:rPr lang="en-US" i="1" dirty="0" smtClean="0"/>
              <a:t>k</a:t>
            </a:r>
            <a:r>
              <a:rPr lang="en-US" baseline="30000" dirty="0" smtClean="0"/>
              <a:t>2/7</a:t>
            </a:r>
            <a:endParaRPr lang="en-US" i="1" dirty="0" smtClean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 smtClean="0"/>
              <a:t>Once square rooted, you get the septic root of </a:t>
            </a:r>
            <a:r>
              <a:rPr lang="en-US" i="1" dirty="0" smtClean="0"/>
              <a:t>k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√(</a:t>
            </a:r>
            <a:r>
              <a:rPr lang="en-US" i="1" dirty="0" smtClean="0"/>
              <a:t>k</a:t>
            </a:r>
            <a:r>
              <a:rPr lang="en-US" baseline="30000" dirty="0" smtClean="0"/>
              <a:t>2/7</a:t>
            </a:r>
            <a:r>
              <a:rPr lang="en-US" dirty="0" smtClean="0"/>
              <a:t>) = ⁷√</a:t>
            </a:r>
            <a:r>
              <a:rPr lang="en-US" i="1" dirty="0" smtClean="0"/>
              <a:t>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Constructability </a:t>
            </a:r>
            <a:r>
              <a:rPr lang="en-US"/>
              <a:t>of </a:t>
            </a:r>
            <a:r>
              <a:rPr lang="en-US" smtClean="0"/>
              <a:t>Septic </a:t>
            </a:r>
            <a:r>
              <a:rPr lang="en-US" dirty="0" smtClean="0"/>
              <a:t>Root </a:t>
            </a:r>
            <a:r>
              <a:rPr lang="en-US" dirty="0"/>
              <a:t>– Reasoning</a:t>
            </a:r>
          </a:p>
        </p:txBody>
      </p:sp>
    </p:spTree>
    <p:extLst>
      <p:ext uri="{BB962C8B-B14F-4D97-AF65-F5344CB8AC3E}">
        <p14:creationId xmlns:p14="http://schemas.microsoft.com/office/powerpoint/2010/main" val="2511480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9760</TotalTime>
  <Words>5022</Words>
  <Application>Microsoft Office PowerPoint</Application>
  <PresentationFormat>Widescreen</PresentationFormat>
  <Paragraphs>515</Paragraphs>
  <Slides>69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Aptos</vt:lpstr>
      <vt:lpstr>Aptos Display</vt:lpstr>
      <vt:lpstr>Arial</vt:lpstr>
      <vt:lpstr>Calibri</vt:lpstr>
      <vt:lpstr>Wingdings</vt:lpstr>
      <vt:lpstr>Office Theme</vt:lpstr>
      <vt:lpstr>On Constructible Numbers in PowerPoint</vt:lpstr>
      <vt:lpstr>The Rules of the Game</vt:lpstr>
      <vt:lpstr>Definition of Constructability</vt:lpstr>
      <vt:lpstr>Constructability of Addition</vt:lpstr>
      <vt:lpstr>Constructability of Subtraction</vt:lpstr>
      <vt:lpstr>Constructability of Multiplication</vt:lpstr>
      <vt:lpstr>Constructability of Division</vt:lpstr>
      <vt:lpstr>Field Properties</vt:lpstr>
      <vt:lpstr>Constructability of Square Roots</vt:lpstr>
      <vt:lpstr>Constructability of Square Roots</vt:lpstr>
      <vt:lpstr>Constructability of Square Roots – Reasoning</vt:lpstr>
      <vt:lpstr>Constructability of Square Roots – Reasoning</vt:lpstr>
      <vt:lpstr>Constructability of Square Roots – Reasoning</vt:lpstr>
      <vt:lpstr>Constructability of Square Roots – Reasoning</vt:lpstr>
      <vt:lpstr>Constructability of Square Roots – Implication</vt:lpstr>
      <vt:lpstr>Constructability of Cube Roots</vt:lpstr>
      <vt:lpstr>Constructability of Cube Roots</vt:lpstr>
      <vt:lpstr>Constructability of Cube Roots</vt:lpstr>
      <vt:lpstr>Constructability of Cube Roots</vt:lpstr>
      <vt:lpstr>Constructability of Cube Roots</vt:lpstr>
      <vt:lpstr>Constructability of Cube Roots – Reasoning</vt:lpstr>
      <vt:lpstr>Constructability of Cube Roots – Reasoning</vt:lpstr>
      <vt:lpstr>Constructability of Cube Roots – Reasoning</vt:lpstr>
      <vt:lpstr>Constructability of Cube Roots – Reasoning</vt:lpstr>
      <vt:lpstr>Constructability of Cube Roots – Reasoning</vt:lpstr>
      <vt:lpstr>Constructability of Cube Roots – Reasoning</vt:lpstr>
      <vt:lpstr>Constructability of Cube Roots – Reasoning</vt:lpstr>
      <vt:lpstr>Constructability of Cube Roots – Implication</vt:lpstr>
      <vt:lpstr>Constructability of Trigonometric Functions of Rational Angles</vt:lpstr>
      <vt:lpstr>Constructability of Trigonometric Functions of Rational Angles</vt:lpstr>
      <vt:lpstr>Constructability of Trigonometric Functions of Rational Angles</vt:lpstr>
      <vt:lpstr>Constructability of Trigonometric Functions of Rational Angles</vt:lpstr>
      <vt:lpstr>Constructability of Trigonometric Functions of Rational Angles</vt:lpstr>
      <vt:lpstr>Constructability of Trigonometric Functions of Rational Angles – Reasoning</vt:lpstr>
      <vt:lpstr>Constructability of Trigonometric Functions of Rational Angles – Reasoning</vt:lpstr>
      <vt:lpstr>Constructability of Arbitrary Bézier Curves</vt:lpstr>
      <vt:lpstr>Constructability of Arbitrary Bézier Curves</vt:lpstr>
      <vt:lpstr>Constructability of Arbitrary Bézier Curves</vt:lpstr>
      <vt:lpstr>Constructability of Arbitrary Bézier Curves</vt:lpstr>
      <vt:lpstr>Constructability of Arbitrary Bézier Curves</vt:lpstr>
      <vt:lpstr>Constructability of Arbitrary Bézier Curves – Reasoning</vt:lpstr>
      <vt:lpstr>Constructability of Arbitrary Bézier Curves – Reasoning</vt:lpstr>
      <vt:lpstr>Constructability of Arbitrary Bézier Curves – Reasoning</vt:lpstr>
      <vt:lpstr>Constructability of Arbitrary Bézier Curves – Reasoning</vt:lpstr>
      <vt:lpstr>Constructability of Arbitrary Bézier Curves – Reasoning</vt:lpstr>
      <vt:lpstr>Constructability of Arbitrary Bézier Curves – Reasoning</vt:lpstr>
      <vt:lpstr>Constructability of Arbitrary Bézier Curves – Reasoning</vt:lpstr>
      <vt:lpstr>Constructability of Arbitrary Bézier Curves – Reasoning</vt:lpstr>
      <vt:lpstr>Constructability of Arbitrary Bézier Curves – Reasoning</vt:lpstr>
      <vt:lpstr>Constructability of Arbitrary Bézier Curves – Reasoning</vt:lpstr>
      <vt:lpstr>Constructability of Arbitrary Bézier Curves – Reasoning</vt:lpstr>
      <vt:lpstr>Constructability of Parabola</vt:lpstr>
      <vt:lpstr>Constructability of Parabola</vt:lpstr>
      <vt:lpstr>Constructability of Parabola – Reasoning</vt:lpstr>
      <vt:lpstr>Constructability of Parabola – Reasoning</vt:lpstr>
      <vt:lpstr>Constructability of Parabola – Reasoning</vt:lpstr>
      <vt:lpstr>Constructability of Parabola – Implication</vt:lpstr>
      <vt:lpstr>Constructability of y = x³ Curve</vt:lpstr>
      <vt:lpstr>Constructability of y = x³ Curve </vt:lpstr>
      <vt:lpstr>Constructability of y = x³ Curve – Reasoning</vt:lpstr>
      <vt:lpstr>Constructability of y = x³ Curve – Reasoning</vt:lpstr>
      <vt:lpstr>Constructability of y = x³ Curve – Reasoning</vt:lpstr>
      <vt:lpstr>Constructability of y = x³ Curve – Implication</vt:lpstr>
      <vt:lpstr>Constructability of Quintic Root</vt:lpstr>
      <vt:lpstr>Constructability of Quintic Root – Reasoning</vt:lpstr>
      <vt:lpstr>Constructability of Septic Root</vt:lpstr>
      <vt:lpstr>Constructability of Septic Root</vt:lpstr>
      <vt:lpstr>Constructability of Septic Root</vt:lpstr>
      <vt:lpstr>Constructability of Septic Root – Reasoning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Constructible Numbers in PowerPoint</dc:title>
  <dc:creator>Logan Goldberg</dc:creator>
  <cp:lastModifiedBy>Aaron</cp:lastModifiedBy>
  <cp:revision>342</cp:revision>
  <dcterms:created xsi:type="dcterms:W3CDTF">2025-11-19T17:21:33Z</dcterms:created>
  <dcterms:modified xsi:type="dcterms:W3CDTF">2025-12-01T08:25:35Z</dcterms:modified>
</cp:coreProperties>
</file>